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874" y="13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002892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[표지] 팀명·팀원·담당 역할·발표일은 확정 후 직접 입력하세요. 한 문장 소개: 교환받은 레거시 검수 데이터를 표준화·정제·검증한 뒤, 그 데이터로 검수 운영 개선의 근거를 만든 프로젝트입니다. (약 30초)</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각 단계 아래에는 산출물 이름 하나씩만 표시했습니다. 구현은 'Medallion 구조를 적용한 MySQL 구현'으로 설명합니다. 실제 Delta Lake 사용 증거가 없으므로 Delta Lake라고 말하지 마세요. (1~5번 합계 약 6분 중 약 1분)</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335,000행을 검수원·카테고리·표준 사전과 연결하는 과정에서 나온 문제를 설명합니다: 날짜 형식(예: 20240218113115), 상품명 별칭·오타, ID의 공백·보이지 않는 문자, 마스터 참조 불일치, 중복·이전 개정본 혼재. 변경 로그 건수와 원본 오류 행 수는 다릅니다. 초기 결측·중복률은 프로파일링 결과 사진으로 확인하세요. 오른쪽 두 프레임에는 실제 데이터 샘플과 품질 진단 결과 사진을 넣으세요(가짜 표를 만들지 않음).</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표준 사전으로 판단 기준을 만들었습니다. 현재 코드·별칭 사전은 32행입니다. 타입·길이와 PK·FK 구현은 실제 명세·DDL 사진으로 제시하세요(화면에 임의의 표를 만들지 않았습니다). 오른쪽 프레임에는 표준 사전 사진과 TO-BE ERD 사진을 넣으세요.</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Bronze는 원본 보존, Silver는 표준화·분리, Gold는 분석 집계입니다. 대사식: 335,000 = 정상 271,787 + 격리 33,854 + 제외·보관 29,359. 제외·보관은 동일 중복 9,598행과 이전 개정본 19,761행이며 모두 오류라서 지운 것이 아닙니다. 품질 점검은 14개 통과, 1개 미검증, 1개 상대팀 기준 차이를 기록했습니다. 검증 범위(미검증 1개)를 숨기지 않고 공개합니다. 아래 프레임에는 실제 SQL·Pandas 검증 결과 사진을 넣으세요.</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여기부터는 발표를 위한 가정 상황입니다. 실제 회사의 의뢰나 검증된 운영 개선 실적처럼 소개하지 마세요. 의사결정 질문: 무엇을 점검하고, 어떤 근거로 개선 순서를 정할 것인가? 구체적인 과제 1·2·3은 다음 슬라이드부터 공개합니다(과제명·결론은 이 슬라이드에 넣지 않았습니다).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위험 규모: 일반 검수에서 외주야간검수팀의 오판정은 633건, 산식 기준 배상액은 59.20억 원입니다(2022.01~2026.08, 최초 개정본 최종 상태 243,454건). 배상액은 거래가 × 3배의 산식 금액이며 실제 지급액이 아닙니다. 상품별로도 여러 상품에서 외주팀 오판정 비중이 상대적으로 높으며, 상세는 부록 1(히트맵)을 참고하세요.</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특징: 시작일 기준 10분 미만 비중은 외주팀 93.65%, 다른 부서 28.78%입니다. 상자그림은 완료일 기준 별도 표본이므로 기준이 다름을 말해 주세요. 짧은 시간이 오류의 원인이라고 단정하지 않습니다. 요약: 633건 · 59.20억 원 · 93.65%.</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스니커즈 1팀은 2차 4,804건 중 3,753건(78.12%), 2팀은 3,733건 중 2,903건(77.77%)이 오판정으로 확인됐습니다. CLAIM_FAKE_PASS = 가품을 정품으로 통과시킨 오판정 결과 코드이며, 2차 기록에 있으면 재검수에서 확인된 결과입니다(2차 판정 자체가 틀렸다는 뜻이 아님). 2차 검수 자체의 오류와 재검수에서 발견한 최초 오판정을 구분하세요.</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1차·2차 비중은 부서별로 거의 같아(약 92% 대 8%) 큰 건수만으로 검수 능력 저하를 단정하지 않습니다. 물량·인원 차이를 함께 고려하세요. 왼쪽은 검수 대상별 최신 상태, 오른쪽은 실제 검수 작업량 기준입니다. 등록 인원은 실근무 인원이 아닙니다. 직급 구성은 부록 2·3 참고. 1·2차 연결 기록 19,761건은 전 건 검수원 ID가 동일해 실제 재검수 담당자가 바뀌었는지 확인할 수 없습니다.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8개 팀 모두 같은 19종 상품을 검수하고 구성비도 비슷합니다. 클레임재검수팀도 일반 검수를 수행하며 같은 상품을 취급합니다. 현재 자료에서는 품목별 역할 분리와 독립 재검수 구조가 뚜렷하지 않아 전문화 검토 근거가 됩니다. 단 부서는 현재 소속 기준이고, 여러 상품을 다룬다는 사실만으로 개인 전문성 부족을 확정하지 않습니다. 상품별 대상 건수·구성비 히트맵은 부록 5·6.</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과제에 각각 대응하는 제안입니다. 모두 제안이며 효과나 절감액이 이미 검증된 것처럼 말하지 마세요. 전문 셀을 시범 운영하고, 품질·대기시간을 비교한 뒤, 확대하는 순서를 제안합니다. (6~9번 약 5분, 10~13번 약 4분 중 약 1분)</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Gold 모델별로 관리 지표와 필요 데이터를 정리했습니다. '현재 집계 가능'과 '추가 수집 후 산출'을 구분해 표시했습니다. 역량·근무표·실제 재검수자·검수 당시 소속이 필요한 지표는 추가 데이터를 확보한 뒤에만 산출할 수 있습니다. ※ 발표 전 확인: 각 모델의 실제 구현 여부는 팀의 실제 작업 결과와 대조해 표의 상태를 수정하세요.</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성과: 표준화·정제·건수 대사·품질 점검·운영 분석. 한계: 일부 규칙 미검증, 현재 소속 기준, 실제 담당자·확정 정답 부족. 다음 단계: 이력·역량·근무 데이터 확보, Gold 확장, 개선안 시범 운영. 마지막 문장을 읽으며 마무리하세요. 시간 배분(15분): 1~5번 약 6분, 6~9번 약 5분, 10~13번 약 4분. 14번 질의응답은 별도 운영. 보조 그래프와 상세 ERD는 부록에 있습니다.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기술별 역할을 한 줄씩 소개합니다. Medallion은 설계 구조이며 기술 목록에 넣지 않았습니다. 사용하지 않은 Django나 실제 구축하지 않은 Delta Lake는 넣지 않았습니다. ※ 발표 전 팀의 실제 코드·실행 환경과 대조해 최종 기술명을 확정하세요. 실행 화면을 쓰려면 아래 프레임에 사진을 넣고, 버전·코드 화면은 임의로 만들지 마세요.</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질문과 답변 근거 (화면에는 표시하지 않음):
1) 재검수 표본의 편향: 재검수(2차)는 모든 검수가 아니라 재검수 대상으로 선택된 기록이므로 전체 정확도·실제 손실로 확대 해석하지 않는다. 1·2차 연결 19,761건은 전 건 검수원 ID가 동일해 실제 재검수 담당자가 바뀌었는지는 확인할 수 없다.
2) 현재 소속 기준의 한계: 부서·직급은 현재 마스터 기준이라 검수 당시 이력과 다를 수 있다.
3) 격리 규칙: 335,000 = 정상 271,787 + 격리 33,854 + 제외·보관 29,359. 제외·보관은 동일 중복 9,598 + 이전 개정본 19,761이며 오류 삭제가 아니다. 품질 점검 14개 통과·1개 미검증·1개 상대팀 기준 차이.
4) 실제 Delta Lake 사용 여부와 Gold 구현 범위: 실제 Delta Lake 사용 증거가 없으면 'Medallion 구조를 적용한 MySQL 구현'으로 답한다. 신규 Gold 관리 모델과 조직 개편은 제안이다.
상세 자료는 부록 참고.</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[부록] 가로축: 부서 / 세로축: 상품 / 색: 오판정률(%). 외주야간검수팀 열이 대부분의 상품에서 높게 나타난다. 일반 검수, 2022.01~2026.08 최초 개정본 최종 상태 기준. 과제 1(7번)의 보조 근거.</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[부록] 가로축: 인원(명) / 세로축: 부서 / 색: 직급. 등록 인원 기준이며 실근무 인원이 아니다. 부서·직급은 현재 마스터 기준. 과제 2(8번)의 보조 근거.</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[부록] 가로축: 구성비(%) / 세로축: 부서 / 색: 직급. 부서·직급은 현재 마스터 기준이며 검수 당시 이력과 다를 수 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[부록] 가로축: 부서 / 세로축: 상품 / 색: 검수 대상 건수. 부서는 현재 소속 기준. 과제 3(9번)의 보조 근거.</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[부록] 가로축: 부서 / 세로축: 상품 / 색: 팀 내 상품 비중(%). 부서는 현재 소속 기준. 8개 팀 모두 같은 19종을 검수하나 이것만으로 개인 전문성 부족을 확정하지 않는다.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83DDE-41B0-9638-D873-C7A52290E0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4FAFD8-12D3-9419-A7DC-F6AC74A4DB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29B52B-891C-5EF8-B4A2-B7C602503A33}"/>
              </a:ext>
            </a:extLst>
          </p:cNvPr>
          <p:cNvSpPr>
            <a:spLocks noGrp="1"/>
          </p:cNvSpPr>
          <p:nvPr>
            <p:ph type="body" idx="1"/>
          </p:nvPr>
        </p:nvSpPr>
        <p:spPr/>
        <p:txBody>
          <a:bodyPr/>
          <a:lstStyle/>
          <a:p>
            <a:r>
              <a:rPr lang="en-US" dirty="0"/>
              <a:t>[부록] 가로축: 부서 / 세로축: 상품 / 색: 팀 내 상품 비중(%). 부서는 현재 소속 기준. 8개 팀 모두 같은 19종을 검수하나 이것만으로 개인 전문성 부족을 확정하지 않는다.</a:t>
            </a:r>
          </a:p>
        </p:txBody>
      </p:sp>
      <p:sp>
        <p:nvSpPr>
          <p:cNvPr id="4" name="Slide Number Placeholder 3">
            <a:extLst>
              <a:ext uri="{FF2B5EF4-FFF2-40B4-BE49-F238E27FC236}">
                <a16:creationId xmlns:a16="http://schemas.microsoft.com/office/drawing/2014/main" id="{CF4AC61D-2CAE-FB97-CF03-470BE2560879}"/>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5631776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846320"/>
            <a:ext cx="4572000" cy="228600"/>
          </a:xfrm>
          <a:prstGeom prst="rect">
            <a:avLst/>
          </a:prstGeom>
          <a:noFill/>
          <a:ln/>
        </p:spPr>
        <p:txBody>
          <a:bodyPr wrap="square" lIns="0" tIns="0" rIns="0" bIns="0" rtlCol="0" anchor="ctr"/>
          <a:lstStyle/>
          <a:p>
            <a:pPr marL="0" indent="0">
              <a:buNone/>
            </a:pPr>
            <a:r>
              <a:rPr lang="en-US" sz="900" dirty="0">
                <a:solidFill>
                  <a:srgbClr val="5F6F6B"/>
                </a:solidFill>
                <a:latin typeface="Malgun Gothic" pitchFamily="34" charset="0"/>
                <a:ea typeface="Malgun Gothic" pitchFamily="34" charset="-122"/>
                <a:cs typeface="Malgun Gothic" pitchFamily="34" charset="-120"/>
              </a:rPr>
              <a:t>MLO 2차 프로젝트  |  KREAM 발표자료</a:t>
            </a:r>
            <a:endParaRPr lang="en-US" sz="9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F6F6B"/>
                </a:solidFill>
                <a:latin typeface="Malgun Gothic"/>
                <a:ea typeface="Malgun Gothic"/>
                <a:cs typeface="Malgun Gothic"/>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2433A"/>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F6F6B"/>
                </a:solidFill>
                <a:latin typeface="Malgun Gothic"/>
                <a:ea typeface="Malgun Gothic"/>
                <a:cs typeface="Malgun Gothic"/>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과정"/>
          <p:cNvSpPr txBox="1"/>
          <p:nvPr/>
        </p:nvSpPr>
        <p:spPr>
          <a:xfrm>
            <a:off x="640080" y="548640"/>
            <a:ext cx="7315200" cy="320040"/>
          </a:xfrm>
          <a:prstGeom prst="rect">
            <a:avLst/>
          </a:prstGeom>
          <a:noFill/>
          <a:ln/>
        </p:spPr>
        <p:txBody>
          <a:bodyPr wrap="square" lIns="0" tIns="0" rIns="0" bIns="0" rtlCol="0" anchor="ctr"/>
          <a:lstStyle/>
          <a:p>
            <a:pPr marL="0" indent="0">
              <a:buNone/>
            </a:pPr>
            <a:r>
              <a:rPr lang="en-US" sz="1400" dirty="0">
                <a:solidFill>
                  <a:srgbClr val="B5D3C5"/>
                </a:solidFill>
                <a:latin typeface="Malgun Gothic" pitchFamily="34" charset="0"/>
                <a:ea typeface="Malgun Gothic" pitchFamily="34" charset="-122"/>
                <a:cs typeface="Malgun Gothic" pitchFamily="34" charset="-120"/>
              </a:rPr>
              <a:t>MLO 2차 프로젝트  |  KREAM</a:t>
            </a:r>
            <a:endParaRPr lang="en-US" sz="1400" dirty="0"/>
          </a:p>
        </p:txBody>
      </p:sp>
      <p:sp>
        <p:nvSpPr>
          <p:cNvPr id="3" name="프로젝트명"/>
          <p:cNvSpPr txBox="1"/>
          <p:nvPr/>
        </p:nvSpPr>
        <p:spPr>
          <a:xfrm>
            <a:off x="640080" y="1234440"/>
            <a:ext cx="7863840" cy="1554480"/>
          </a:xfrm>
          <a:prstGeom prst="rect">
            <a:avLst/>
          </a:prstGeom>
          <a:noFill/>
          <a:ln/>
        </p:spPr>
        <p:txBody>
          <a:bodyPr wrap="square" lIns="0" tIns="0" rIns="0" bIns="0" rtlCol="0" anchor="ctr"/>
          <a:lstStyle/>
          <a:p>
            <a:pPr marL="0" indent="0">
              <a:buNone/>
            </a:pPr>
            <a:r>
              <a:rPr lang="en-US" sz="4000" b="1" dirty="0">
                <a:solidFill>
                  <a:srgbClr val="FFFFFF"/>
                </a:solidFill>
                <a:latin typeface="Malgun Gothic" pitchFamily="34" charset="0"/>
                <a:ea typeface="Malgun Gothic" pitchFamily="34" charset="-122"/>
                <a:cs typeface="Malgun Gothic" pitchFamily="34" charset="-120"/>
              </a:rPr>
              <a:t>레거시 검수 데이터 표준화와</a:t>
            </a:r>
            <a:endParaRPr lang="en-US" sz="4000" dirty="0"/>
          </a:p>
          <a:p>
            <a:pPr marL="0" indent="0">
              <a:buNone/>
            </a:pPr>
            <a:r>
              <a:rPr lang="en-US" sz="4000" b="1" dirty="0">
                <a:solidFill>
                  <a:srgbClr val="FFFFFF"/>
                </a:solidFill>
                <a:latin typeface="Malgun Gothic" pitchFamily="34" charset="0"/>
                <a:ea typeface="Malgun Gothic" pitchFamily="34" charset="-122"/>
                <a:cs typeface="Malgun Gothic" pitchFamily="34" charset="-120"/>
              </a:rPr>
              <a:t>운영 개선 분석</a:t>
            </a:r>
            <a:endParaRPr lang="en-US" sz="4000" dirty="0"/>
          </a:p>
        </p:txBody>
      </p:sp>
      <p:sp>
        <p:nvSpPr>
          <p:cNvPr id="4" name="목적 한 문장"/>
          <p:cNvSpPr txBox="1"/>
          <p:nvPr/>
        </p:nvSpPr>
        <p:spPr>
          <a:xfrm>
            <a:off x="640080" y="2880360"/>
            <a:ext cx="7863840" cy="457200"/>
          </a:xfrm>
          <a:prstGeom prst="rect">
            <a:avLst/>
          </a:prstGeom>
          <a:noFill/>
          <a:ln/>
        </p:spPr>
        <p:txBody>
          <a:bodyPr wrap="square" lIns="0" tIns="0" rIns="0" bIns="0" rtlCol="0" anchor="ctr"/>
          <a:lstStyle/>
          <a:p>
            <a:pPr marL="0" indent="0">
              <a:buNone/>
            </a:pPr>
            <a:r>
              <a:rPr lang="en-US" sz="1600" dirty="0">
                <a:solidFill>
                  <a:srgbClr val="B5D3C5"/>
                </a:solidFill>
                <a:latin typeface="Malgun Gothic" pitchFamily="34" charset="0"/>
                <a:ea typeface="Malgun Gothic" pitchFamily="34" charset="-122"/>
                <a:cs typeface="Malgun Gothic" pitchFamily="34" charset="-120"/>
              </a:rPr>
              <a:t>수령 데이터 → 정제·검증 → 운영 분석으로, 검수 운영 개선의 근거를 만든다</a:t>
            </a:r>
            <a:endParaRPr lang="en-US" sz="1600" dirty="0"/>
          </a:p>
        </p:txBody>
      </p:sp>
      <p:sp>
        <p:nvSpPr>
          <p:cNvPr id="5" name="팀 정보 자리"/>
          <p:cNvSpPr txBox="1"/>
          <p:nvPr/>
        </p:nvSpPr>
        <p:spPr>
          <a:xfrm>
            <a:off x="640080" y="4069080"/>
            <a:ext cx="7863840" cy="365760"/>
          </a:xfrm>
          <a:prstGeom prst="rect">
            <a:avLst/>
          </a:prstGeom>
          <a:noFill/>
          <a:ln/>
        </p:spPr>
        <p:txBody>
          <a:bodyPr wrap="square" lIns="0" tIns="0" rIns="0" bIns="0" rtlCol="0" anchor="ctr"/>
          <a:lstStyle/>
          <a:p>
            <a:pPr marL="0" indent="0">
              <a:buNone/>
            </a:pPr>
            <a:r>
              <a:rPr lang="en-US" sz="1300" dirty="0" err="1">
                <a:solidFill>
                  <a:srgbClr val="FFFFFF"/>
                </a:solidFill>
                <a:latin typeface="Malgun Gothic" pitchFamily="34" charset="0"/>
                <a:ea typeface="Malgun Gothic" pitchFamily="34" charset="-122"/>
                <a:cs typeface="Malgun Gothic" pitchFamily="34" charset="-120"/>
              </a:rPr>
              <a:t>팀원</a:t>
            </a:r>
            <a:r>
              <a:rPr lang="en-US" sz="1300" dirty="0">
                <a:solidFill>
                  <a:srgbClr val="FFFFFF"/>
                </a:solidFill>
                <a:latin typeface="Malgun Gothic" pitchFamily="34" charset="0"/>
                <a:ea typeface="Malgun Gothic" pitchFamily="34" charset="-122"/>
                <a:cs typeface="Malgun Gothic" pitchFamily="34" charset="-120"/>
              </a:rPr>
              <a:t> : </a:t>
            </a:r>
            <a:r>
              <a:rPr lang="ko-KR" altLang="en-US" sz="1300" dirty="0" err="1">
                <a:solidFill>
                  <a:srgbClr val="FFFFFF"/>
                </a:solidFill>
                <a:latin typeface="Malgun Gothic" pitchFamily="34" charset="0"/>
                <a:ea typeface="Malgun Gothic" pitchFamily="34" charset="-122"/>
                <a:cs typeface="Malgun Gothic" pitchFamily="34" charset="-120"/>
              </a:rPr>
              <a:t>신경호</a:t>
            </a:r>
            <a:r>
              <a:rPr lang="en-US" altLang="ko-KR" sz="1300" dirty="0">
                <a:solidFill>
                  <a:srgbClr val="FFFFFF"/>
                </a:solidFill>
                <a:latin typeface="Malgun Gothic" pitchFamily="34" charset="0"/>
                <a:ea typeface="Malgun Gothic" pitchFamily="34" charset="-122"/>
                <a:cs typeface="Malgun Gothic" pitchFamily="34" charset="-120"/>
              </a:rPr>
              <a:t>, </a:t>
            </a:r>
            <a:r>
              <a:rPr lang="ko-KR" altLang="en-US" sz="1300" dirty="0">
                <a:solidFill>
                  <a:srgbClr val="FFFFFF"/>
                </a:solidFill>
                <a:latin typeface="Malgun Gothic" pitchFamily="34" charset="0"/>
                <a:ea typeface="Malgun Gothic" pitchFamily="34" charset="-122"/>
                <a:cs typeface="Malgun Gothic" pitchFamily="34" charset="-120"/>
              </a:rPr>
              <a:t>장기욱</a:t>
            </a:r>
            <a:r>
              <a:rPr lang="en-US" altLang="ko-KR" sz="1300" dirty="0">
                <a:solidFill>
                  <a:srgbClr val="FFFFFF"/>
                </a:solidFill>
                <a:latin typeface="Malgun Gothic" pitchFamily="34" charset="0"/>
                <a:ea typeface="Malgun Gothic" pitchFamily="34" charset="-122"/>
                <a:cs typeface="Malgun Gothic" pitchFamily="34" charset="-120"/>
              </a:rPr>
              <a:t>, </a:t>
            </a:r>
            <a:r>
              <a:rPr lang="ko-KR" altLang="en-US" sz="1300" dirty="0">
                <a:solidFill>
                  <a:srgbClr val="FFFFFF"/>
                </a:solidFill>
                <a:latin typeface="Malgun Gothic" pitchFamily="34" charset="0"/>
                <a:ea typeface="Malgun Gothic" pitchFamily="34" charset="-122"/>
                <a:cs typeface="Malgun Gothic" pitchFamily="34" charset="-120"/>
              </a:rPr>
              <a:t>유성원</a:t>
            </a:r>
            <a:r>
              <a:rPr lang="en-US" sz="1300" dirty="0">
                <a:solidFill>
                  <a:srgbClr val="FFFFFF"/>
                </a:solidFill>
                <a:latin typeface="Malgun Gothic" pitchFamily="34" charset="0"/>
                <a:ea typeface="Malgun Gothic" pitchFamily="34" charset="-122"/>
                <a:cs typeface="Malgun Gothic" pitchFamily="34" charset="-120"/>
              </a:rPr>
              <a:t>                         </a:t>
            </a:r>
            <a:r>
              <a:rPr lang="en-US" sz="1300" dirty="0" err="1">
                <a:solidFill>
                  <a:srgbClr val="FFFFFF"/>
                </a:solidFill>
                <a:latin typeface="Malgun Gothic" pitchFamily="34" charset="0"/>
                <a:ea typeface="Malgun Gothic" pitchFamily="34" charset="-122"/>
                <a:cs typeface="Malgun Gothic" pitchFamily="34" charset="-120"/>
              </a:rPr>
              <a:t>발표일</a:t>
            </a:r>
            <a:r>
              <a:rPr lang="en-US" sz="1300" dirty="0">
                <a:solidFill>
                  <a:srgbClr val="FFFFFF"/>
                </a:solidFill>
                <a:latin typeface="Malgun Gothic" pitchFamily="34" charset="0"/>
                <a:ea typeface="Malgun Gothic" pitchFamily="34" charset="-122"/>
                <a:cs typeface="Malgun Gothic" pitchFamily="34" charset="-120"/>
              </a:rPr>
              <a:t> : 2026-10-19</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번호 원"/>
          <p:cNvSpPr/>
          <p:nvPr/>
        </p:nvSpPr>
        <p:spPr>
          <a:xfrm>
            <a:off x="457200" y="347472"/>
            <a:ext cx="457200" cy="457200"/>
          </a:xfrm>
          <a:prstGeom prst="ellipse">
            <a:avLst/>
          </a:prstGeom>
          <a:solidFill>
            <a:srgbClr val="1B7566"/>
          </a:solidFill>
          <a:ln w="12700">
            <a:solidFill>
              <a:srgbClr val="1B7566"/>
            </a:solidFill>
            <a:prstDash val="solid"/>
          </a:ln>
        </p:spPr>
        <p:txBody>
          <a:bodyPr/>
          <a:lstStyle/>
          <a:p>
            <a:endParaRPr lang="ko-KR" altLang="en-US"/>
          </a:p>
        </p:txBody>
      </p:sp>
      <p:sp>
        <p:nvSpPr>
          <p:cNvPr id="3" name="번호"/>
          <p:cNvSpPr txBox="1"/>
          <p:nvPr/>
        </p:nvSpPr>
        <p:spPr>
          <a:xfrm>
            <a:off x="457200" y="34747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2</a:t>
            </a:r>
            <a:endParaRPr lang="en-US" sz="1400" dirty="0"/>
          </a:p>
        </p:txBody>
      </p:sp>
      <p:sp>
        <p:nvSpPr>
          <p:cNvPr id="4" name="제목"/>
          <p:cNvSpPr txBox="1"/>
          <p:nvPr/>
        </p:nvSpPr>
        <p:spPr>
          <a:xfrm>
            <a:off x="1051560" y="274320"/>
            <a:ext cx="7635240" cy="594360"/>
          </a:xfrm>
          <a:prstGeom prst="rect">
            <a:avLst/>
          </a:prstGeom>
          <a:noFill/>
          <a:ln/>
        </p:spPr>
        <p:txBody>
          <a:bodyPr wrap="square" lIns="0" tIns="0" rIns="0" bIns="0" rtlCol="0" anchor="ctr"/>
          <a:lstStyle/>
          <a:p>
            <a:pPr marL="0" indent="0">
              <a:buNone/>
            </a:pPr>
            <a:r>
              <a:rPr lang="en-US" sz="2400" b="1" dirty="0">
                <a:solidFill>
                  <a:srgbClr val="12433A"/>
                </a:solidFill>
                <a:latin typeface="Malgun Gothic" pitchFamily="34" charset="0"/>
                <a:ea typeface="Malgun Gothic" pitchFamily="34" charset="-122"/>
                <a:cs typeface="Malgun Gothic" pitchFamily="34" charset="-120"/>
              </a:rPr>
              <a:t>전체 수행 흐름</a:t>
            </a:r>
            <a:endParaRPr lang="en-US" sz="2400" dirty="0"/>
          </a:p>
        </p:txBody>
      </p:sp>
      <p:sp>
        <p:nvSpPr>
          <p:cNvPr id="5" name="핵심 메시지"/>
          <p:cNvSpPr txBox="1"/>
          <p:nvPr/>
        </p:nvSpPr>
        <p:spPr>
          <a:xfrm>
            <a:off x="457200" y="896112"/>
            <a:ext cx="8229600" cy="365760"/>
          </a:xfrm>
          <a:prstGeom prst="rect">
            <a:avLst/>
          </a:prstGeom>
          <a:noFill/>
          <a:ln/>
        </p:spPr>
        <p:txBody>
          <a:bodyPr wrap="square" lIns="0" tIns="0" rIns="0" bIns="0" rtlCol="0" anchor="ctr"/>
          <a:lstStyle/>
          <a:p>
            <a:pPr marL="0" indent="0">
              <a:buNone/>
            </a:pPr>
            <a:r>
              <a:rPr lang="en-US" sz="1400" dirty="0">
                <a:solidFill>
                  <a:srgbClr val="5F6F6B"/>
                </a:solidFill>
                <a:latin typeface="Malgun Gothic" pitchFamily="34" charset="0"/>
                <a:ea typeface="Malgun Gothic" pitchFamily="34" charset="-122"/>
                <a:cs typeface="Malgun Gothic" pitchFamily="34" charset="-120"/>
              </a:rPr>
              <a:t>데이터 교환부터 Gold 분석까지 하나의 흐름으로 진행했다</a:t>
            </a:r>
            <a:endParaRPr lang="en-US" sz="1400" dirty="0"/>
          </a:p>
        </p:txBody>
      </p:sp>
      <p:sp>
        <p:nvSpPr>
          <p:cNvPr id="6" name="단계 1"/>
          <p:cNvSpPr/>
          <p:nvPr/>
        </p:nvSpPr>
        <p:spPr>
          <a:xfrm>
            <a:off x="457200" y="1737360"/>
            <a:ext cx="1261872" cy="868680"/>
          </a:xfrm>
          <a:prstGeom prst="homePlate">
            <a:avLst/>
          </a:prstGeom>
          <a:solidFill>
            <a:srgbClr val="1B7566"/>
          </a:solidFill>
          <a:ln w="12700">
            <a:solidFill>
              <a:srgbClr val="1B7566"/>
            </a:solidFill>
            <a:prstDash val="solid"/>
          </a:ln>
        </p:spPr>
        <p:txBody>
          <a:bodyPr/>
          <a:lstStyle/>
          <a:p>
            <a:endParaRPr lang="ko-KR" altLang="en-US"/>
          </a:p>
        </p:txBody>
      </p:sp>
      <p:sp>
        <p:nvSpPr>
          <p:cNvPr id="7" name="단계명"/>
          <p:cNvSpPr txBox="1"/>
          <p:nvPr/>
        </p:nvSpPr>
        <p:spPr>
          <a:xfrm>
            <a:off x="502920" y="1737360"/>
            <a:ext cx="987552" cy="868680"/>
          </a:xfrm>
          <a:prstGeom prst="rect">
            <a:avLst/>
          </a:prstGeom>
          <a:noFill/>
          <a:ln/>
        </p:spPr>
        <p:txBody>
          <a:bodyPr wrap="square" lIns="0" tIns="0" rIns="0" bIns="0" rtlCol="0" anchor="ctr"/>
          <a:lstStyle/>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데이터 교환</a:t>
            </a:r>
            <a:endParaRPr lang="en-US" sz="1200" dirty="0"/>
          </a:p>
        </p:txBody>
      </p:sp>
      <p:sp>
        <p:nvSpPr>
          <p:cNvPr id="8" name="Text 6"/>
          <p:cNvSpPr txBox="1"/>
          <p:nvPr/>
        </p:nvSpPr>
        <p:spPr>
          <a:xfrm>
            <a:off x="457200" y="2834640"/>
            <a:ext cx="1261872" cy="228600"/>
          </a:xfrm>
          <a:prstGeom prst="rect">
            <a:avLst/>
          </a:prstGeom>
          <a:noFill/>
          <a:ln/>
        </p:spPr>
        <p:txBody>
          <a:bodyPr wrap="square" lIns="0" tIns="0" rIns="0" bIns="0" rtlCol="0" anchor="ctr"/>
          <a:lstStyle/>
          <a:p>
            <a:pPr marL="0" indent="0" algn="ctr">
              <a:buNone/>
            </a:pPr>
            <a:r>
              <a:rPr lang="en-US" sz="1000" dirty="0">
                <a:solidFill>
                  <a:srgbClr val="5F6F6B"/>
                </a:solidFill>
                <a:latin typeface="Malgun Gothic" pitchFamily="34" charset="0"/>
                <a:ea typeface="Malgun Gothic" pitchFamily="34" charset="-122"/>
                <a:cs typeface="Malgun Gothic" pitchFamily="34" charset="-120"/>
              </a:rPr>
              <a:t>산출물</a:t>
            </a:r>
            <a:endParaRPr lang="en-US" sz="1000" dirty="0"/>
          </a:p>
        </p:txBody>
      </p:sp>
      <p:sp>
        <p:nvSpPr>
          <p:cNvPr id="9" name="산출물 카드"/>
          <p:cNvSpPr/>
          <p:nvPr/>
        </p:nvSpPr>
        <p:spPr>
          <a:xfrm>
            <a:off x="457200" y="3090672"/>
            <a:ext cx="1261872" cy="685800"/>
          </a:xfrm>
          <a:prstGeom prst="roundRect">
            <a:avLst>
              <a:gd name="adj" fmla="val 10667"/>
            </a:avLst>
          </a:prstGeom>
          <a:solidFill>
            <a:srgbClr val="E8F2EE"/>
          </a:solidFill>
          <a:ln w="12700">
            <a:solidFill>
              <a:srgbClr val="E8F2EE"/>
            </a:solidFill>
            <a:prstDash val="solid"/>
          </a:ln>
        </p:spPr>
        <p:txBody>
          <a:bodyPr/>
          <a:lstStyle/>
          <a:p>
            <a:endParaRPr lang="ko-KR" altLang="en-US"/>
          </a:p>
        </p:txBody>
      </p:sp>
      <p:sp>
        <p:nvSpPr>
          <p:cNvPr id="10" name="산출물명"/>
          <p:cNvSpPr txBox="1"/>
          <p:nvPr/>
        </p:nvSpPr>
        <p:spPr>
          <a:xfrm>
            <a:off x="502920" y="3090672"/>
            <a:ext cx="1170432" cy="685800"/>
          </a:xfrm>
          <a:prstGeom prst="rect">
            <a:avLst/>
          </a:prstGeom>
          <a:noFill/>
          <a:ln/>
        </p:spPr>
        <p:txBody>
          <a:bodyPr wrap="square" lIns="0" tIns="0" rIns="0" bIns="0" rtlCol="0" anchor="ctr"/>
          <a:lstStyle/>
          <a:p>
            <a:pPr marL="0" indent="0" algn="ctr">
              <a:buNone/>
            </a:pPr>
            <a:r>
              <a:rPr lang="en-US" sz="1200" dirty="0">
                <a:solidFill>
                  <a:srgbClr val="1F2D2A"/>
                </a:solidFill>
                <a:latin typeface="Malgun Gothic" pitchFamily="34" charset="0"/>
                <a:ea typeface="Malgun Gothic" pitchFamily="34" charset="-122"/>
                <a:cs typeface="Malgun Gothic" pitchFamily="34" charset="-120"/>
              </a:rPr>
              <a:t>명세서</a:t>
            </a:r>
            <a:endParaRPr lang="en-US" sz="1200" dirty="0"/>
          </a:p>
        </p:txBody>
      </p:sp>
      <p:sp>
        <p:nvSpPr>
          <p:cNvPr id="11" name="단계 2"/>
          <p:cNvSpPr/>
          <p:nvPr/>
        </p:nvSpPr>
        <p:spPr>
          <a:xfrm>
            <a:off x="1850746" y="1737360"/>
            <a:ext cx="1261872" cy="868680"/>
          </a:xfrm>
          <a:prstGeom prst="homePlate">
            <a:avLst/>
          </a:prstGeom>
          <a:solidFill>
            <a:srgbClr val="1B7566"/>
          </a:solidFill>
          <a:ln w="12700">
            <a:solidFill>
              <a:srgbClr val="1B7566"/>
            </a:solidFill>
            <a:prstDash val="solid"/>
          </a:ln>
        </p:spPr>
        <p:txBody>
          <a:bodyPr/>
          <a:lstStyle/>
          <a:p>
            <a:endParaRPr lang="ko-KR" altLang="en-US"/>
          </a:p>
        </p:txBody>
      </p:sp>
      <p:sp>
        <p:nvSpPr>
          <p:cNvPr id="12" name="단계명"/>
          <p:cNvSpPr txBox="1"/>
          <p:nvPr/>
        </p:nvSpPr>
        <p:spPr>
          <a:xfrm>
            <a:off x="1896466" y="1737360"/>
            <a:ext cx="987552" cy="868680"/>
          </a:xfrm>
          <a:prstGeom prst="rect">
            <a:avLst/>
          </a:prstGeom>
          <a:noFill/>
          <a:ln/>
        </p:spPr>
        <p:txBody>
          <a:bodyPr wrap="square" lIns="0" tIns="0" rIns="0" bIns="0" rtlCol="0" anchor="ctr"/>
          <a:lstStyle/>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품질 진단</a:t>
            </a:r>
            <a:endParaRPr lang="en-US" sz="1200" dirty="0"/>
          </a:p>
        </p:txBody>
      </p:sp>
      <p:sp>
        <p:nvSpPr>
          <p:cNvPr id="13" name="Text 11"/>
          <p:cNvSpPr txBox="1"/>
          <p:nvPr/>
        </p:nvSpPr>
        <p:spPr>
          <a:xfrm>
            <a:off x="1850746" y="2834640"/>
            <a:ext cx="1261872" cy="228600"/>
          </a:xfrm>
          <a:prstGeom prst="rect">
            <a:avLst/>
          </a:prstGeom>
          <a:noFill/>
          <a:ln/>
        </p:spPr>
        <p:txBody>
          <a:bodyPr wrap="square" lIns="0" tIns="0" rIns="0" bIns="0" rtlCol="0" anchor="ctr"/>
          <a:lstStyle/>
          <a:p>
            <a:pPr marL="0" indent="0" algn="ctr">
              <a:buNone/>
            </a:pPr>
            <a:r>
              <a:rPr lang="en-US" sz="1000" dirty="0">
                <a:solidFill>
                  <a:srgbClr val="5F6F6B"/>
                </a:solidFill>
                <a:latin typeface="Malgun Gothic" pitchFamily="34" charset="0"/>
                <a:ea typeface="Malgun Gothic" pitchFamily="34" charset="-122"/>
                <a:cs typeface="Malgun Gothic" pitchFamily="34" charset="-120"/>
              </a:rPr>
              <a:t>산출물</a:t>
            </a:r>
            <a:endParaRPr lang="en-US" sz="1000" dirty="0"/>
          </a:p>
        </p:txBody>
      </p:sp>
      <p:sp>
        <p:nvSpPr>
          <p:cNvPr id="14" name="산출물 카드"/>
          <p:cNvSpPr/>
          <p:nvPr/>
        </p:nvSpPr>
        <p:spPr>
          <a:xfrm>
            <a:off x="1850746" y="3090672"/>
            <a:ext cx="1261872" cy="685800"/>
          </a:xfrm>
          <a:prstGeom prst="roundRect">
            <a:avLst>
              <a:gd name="adj" fmla="val 10667"/>
            </a:avLst>
          </a:prstGeom>
          <a:solidFill>
            <a:srgbClr val="E8F2EE"/>
          </a:solidFill>
          <a:ln w="12700">
            <a:solidFill>
              <a:srgbClr val="E8F2EE"/>
            </a:solidFill>
            <a:prstDash val="solid"/>
          </a:ln>
        </p:spPr>
        <p:txBody>
          <a:bodyPr/>
          <a:lstStyle/>
          <a:p>
            <a:endParaRPr lang="ko-KR" altLang="en-US"/>
          </a:p>
        </p:txBody>
      </p:sp>
      <p:sp>
        <p:nvSpPr>
          <p:cNvPr id="15" name="산출물명"/>
          <p:cNvSpPr txBox="1"/>
          <p:nvPr/>
        </p:nvSpPr>
        <p:spPr>
          <a:xfrm>
            <a:off x="1896466" y="3090672"/>
            <a:ext cx="1170432" cy="685800"/>
          </a:xfrm>
          <a:prstGeom prst="rect">
            <a:avLst/>
          </a:prstGeom>
          <a:noFill/>
          <a:ln/>
        </p:spPr>
        <p:txBody>
          <a:bodyPr wrap="square" lIns="0" tIns="0" rIns="0" bIns="0" rtlCol="0" anchor="ctr"/>
          <a:lstStyle/>
          <a:p>
            <a:pPr marL="0" indent="0" algn="ctr">
              <a:buNone/>
            </a:pPr>
            <a:r>
              <a:rPr lang="en-US" sz="1200" dirty="0">
                <a:solidFill>
                  <a:srgbClr val="1F2D2A"/>
                </a:solidFill>
                <a:latin typeface="Malgun Gothic" pitchFamily="34" charset="0"/>
                <a:ea typeface="Malgun Gothic" pitchFamily="34" charset="-122"/>
                <a:cs typeface="Malgun Gothic" pitchFamily="34" charset="-120"/>
              </a:rPr>
              <a:t>진단 결과</a:t>
            </a:r>
            <a:endParaRPr lang="en-US" sz="1200" dirty="0"/>
          </a:p>
        </p:txBody>
      </p:sp>
      <p:sp>
        <p:nvSpPr>
          <p:cNvPr id="16" name="단계 3"/>
          <p:cNvSpPr/>
          <p:nvPr/>
        </p:nvSpPr>
        <p:spPr>
          <a:xfrm>
            <a:off x="3244291" y="1737360"/>
            <a:ext cx="1261872" cy="868680"/>
          </a:xfrm>
          <a:prstGeom prst="homePlate">
            <a:avLst/>
          </a:prstGeom>
          <a:solidFill>
            <a:srgbClr val="1B7566"/>
          </a:solidFill>
          <a:ln w="12700">
            <a:solidFill>
              <a:srgbClr val="1B7566"/>
            </a:solidFill>
            <a:prstDash val="solid"/>
          </a:ln>
        </p:spPr>
        <p:txBody>
          <a:bodyPr/>
          <a:lstStyle/>
          <a:p>
            <a:endParaRPr lang="ko-KR" altLang="en-US"/>
          </a:p>
        </p:txBody>
      </p:sp>
      <p:sp>
        <p:nvSpPr>
          <p:cNvPr id="17" name="단계명"/>
          <p:cNvSpPr txBox="1"/>
          <p:nvPr/>
        </p:nvSpPr>
        <p:spPr>
          <a:xfrm>
            <a:off x="3290011" y="1737360"/>
            <a:ext cx="987552" cy="868680"/>
          </a:xfrm>
          <a:prstGeom prst="rect">
            <a:avLst/>
          </a:prstGeom>
          <a:noFill/>
          <a:ln/>
        </p:spPr>
        <p:txBody>
          <a:bodyPr wrap="square" lIns="0" tIns="0" rIns="0" bIns="0" rtlCol="0" anchor="ctr"/>
          <a:lstStyle/>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표준화·</a:t>
            </a:r>
            <a:endParaRPr lang="en-US" sz="1200" dirty="0"/>
          </a:p>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모델링</a:t>
            </a:r>
            <a:endParaRPr lang="en-US" sz="1200" dirty="0"/>
          </a:p>
        </p:txBody>
      </p:sp>
      <p:sp>
        <p:nvSpPr>
          <p:cNvPr id="18" name="Text 16"/>
          <p:cNvSpPr txBox="1"/>
          <p:nvPr/>
        </p:nvSpPr>
        <p:spPr>
          <a:xfrm>
            <a:off x="3244291" y="2834640"/>
            <a:ext cx="1261872" cy="228600"/>
          </a:xfrm>
          <a:prstGeom prst="rect">
            <a:avLst/>
          </a:prstGeom>
          <a:noFill/>
          <a:ln/>
        </p:spPr>
        <p:txBody>
          <a:bodyPr wrap="square" lIns="0" tIns="0" rIns="0" bIns="0" rtlCol="0" anchor="ctr"/>
          <a:lstStyle/>
          <a:p>
            <a:pPr marL="0" indent="0" algn="ctr">
              <a:buNone/>
            </a:pPr>
            <a:r>
              <a:rPr lang="en-US" sz="1000" dirty="0">
                <a:solidFill>
                  <a:srgbClr val="5F6F6B"/>
                </a:solidFill>
                <a:latin typeface="Malgun Gothic" pitchFamily="34" charset="0"/>
                <a:ea typeface="Malgun Gothic" pitchFamily="34" charset="-122"/>
                <a:cs typeface="Malgun Gothic" pitchFamily="34" charset="-120"/>
              </a:rPr>
              <a:t>산출물</a:t>
            </a:r>
            <a:endParaRPr lang="en-US" sz="1000" dirty="0"/>
          </a:p>
        </p:txBody>
      </p:sp>
      <p:sp>
        <p:nvSpPr>
          <p:cNvPr id="19" name="산출물 카드"/>
          <p:cNvSpPr/>
          <p:nvPr/>
        </p:nvSpPr>
        <p:spPr>
          <a:xfrm>
            <a:off x="3244291" y="3090672"/>
            <a:ext cx="1261872" cy="685800"/>
          </a:xfrm>
          <a:prstGeom prst="roundRect">
            <a:avLst>
              <a:gd name="adj" fmla="val 10667"/>
            </a:avLst>
          </a:prstGeom>
          <a:solidFill>
            <a:srgbClr val="E8F2EE"/>
          </a:solidFill>
          <a:ln w="12700">
            <a:solidFill>
              <a:srgbClr val="E8F2EE"/>
            </a:solidFill>
            <a:prstDash val="solid"/>
          </a:ln>
        </p:spPr>
        <p:txBody>
          <a:bodyPr/>
          <a:lstStyle/>
          <a:p>
            <a:endParaRPr lang="ko-KR" altLang="en-US"/>
          </a:p>
        </p:txBody>
      </p:sp>
      <p:sp>
        <p:nvSpPr>
          <p:cNvPr id="20" name="산출물명"/>
          <p:cNvSpPr txBox="1"/>
          <p:nvPr/>
        </p:nvSpPr>
        <p:spPr>
          <a:xfrm>
            <a:off x="3290011" y="3090672"/>
            <a:ext cx="1170432" cy="685800"/>
          </a:xfrm>
          <a:prstGeom prst="rect">
            <a:avLst/>
          </a:prstGeom>
          <a:noFill/>
          <a:ln/>
        </p:spPr>
        <p:txBody>
          <a:bodyPr wrap="square" lIns="0" tIns="0" rIns="0" bIns="0" rtlCol="0" anchor="ctr"/>
          <a:lstStyle/>
          <a:p>
            <a:pPr marL="0" indent="0" algn="ctr">
              <a:buNone/>
            </a:pPr>
            <a:r>
              <a:rPr lang="en-US" sz="1200" dirty="0">
                <a:solidFill>
                  <a:srgbClr val="1F2D2A"/>
                </a:solidFill>
                <a:latin typeface="Malgun Gothic" pitchFamily="34" charset="0"/>
                <a:ea typeface="Malgun Gothic" pitchFamily="34" charset="-122"/>
                <a:cs typeface="Malgun Gothic" pitchFamily="34" charset="-120"/>
              </a:rPr>
              <a:t>표준 사전 · ERD</a:t>
            </a:r>
            <a:endParaRPr lang="en-US" sz="1200" dirty="0"/>
          </a:p>
        </p:txBody>
      </p:sp>
      <p:sp>
        <p:nvSpPr>
          <p:cNvPr id="21" name="단계 4"/>
          <p:cNvSpPr/>
          <p:nvPr/>
        </p:nvSpPr>
        <p:spPr>
          <a:xfrm>
            <a:off x="4637837" y="1737360"/>
            <a:ext cx="1261872" cy="868680"/>
          </a:xfrm>
          <a:prstGeom prst="homePlate">
            <a:avLst/>
          </a:prstGeom>
          <a:solidFill>
            <a:srgbClr val="1B7566"/>
          </a:solidFill>
          <a:ln w="12700">
            <a:solidFill>
              <a:srgbClr val="1B7566"/>
            </a:solidFill>
            <a:prstDash val="solid"/>
          </a:ln>
        </p:spPr>
        <p:txBody>
          <a:bodyPr/>
          <a:lstStyle/>
          <a:p>
            <a:endParaRPr lang="ko-KR" altLang="en-US"/>
          </a:p>
        </p:txBody>
      </p:sp>
      <p:sp>
        <p:nvSpPr>
          <p:cNvPr id="22" name="단계명"/>
          <p:cNvSpPr txBox="1"/>
          <p:nvPr/>
        </p:nvSpPr>
        <p:spPr>
          <a:xfrm>
            <a:off x="4683557" y="1737360"/>
            <a:ext cx="987552" cy="868680"/>
          </a:xfrm>
          <a:prstGeom prst="rect">
            <a:avLst/>
          </a:prstGeom>
          <a:noFill/>
          <a:ln/>
        </p:spPr>
        <p:txBody>
          <a:bodyPr wrap="square" lIns="0" tIns="0" rIns="0" bIns="0" rtlCol="0" anchor="ctr"/>
          <a:lstStyle/>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정제·적재</a:t>
            </a:r>
            <a:endParaRPr lang="en-US" sz="1200" dirty="0"/>
          </a:p>
        </p:txBody>
      </p:sp>
      <p:sp>
        <p:nvSpPr>
          <p:cNvPr id="23" name="Text 21"/>
          <p:cNvSpPr txBox="1"/>
          <p:nvPr/>
        </p:nvSpPr>
        <p:spPr>
          <a:xfrm>
            <a:off x="4637837" y="2834640"/>
            <a:ext cx="1261872" cy="228600"/>
          </a:xfrm>
          <a:prstGeom prst="rect">
            <a:avLst/>
          </a:prstGeom>
          <a:noFill/>
          <a:ln/>
        </p:spPr>
        <p:txBody>
          <a:bodyPr wrap="square" lIns="0" tIns="0" rIns="0" bIns="0" rtlCol="0" anchor="ctr"/>
          <a:lstStyle/>
          <a:p>
            <a:pPr marL="0" indent="0" algn="ctr">
              <a:buNone/>
            </a:pPr>
            <a:r>
              <a:rPr lang="en-US" sz="1000" dirty="0">
                <a:solidFill>
                  <a:srgbClr val="5F6F6B"/>
                </a:solidFill>
                <a:latin typeface="Malgun Gothic" pitchFamily="34" charset="0"/>
                <a:ea typeface="Malgun Gothic" pitchFamily="34" charset="-122"/>
                <a:cs typeface="Malgun Gothic" pitchFamily="34" charset="-120"/>
              </a:rPr>
              <a:t>산출물</a:t>
            </a:r>
            <a:endParaRPr lang="en-US" sz="1000" dirty="0"/>
          </a:p>
        </p:txBody>
      </p:sp>
      <p:sp>
        <p:nvSpPr>
          <p:cNvPr id="24" name="산출물 카드"/>
          <p:cNvSpPr/>
          <p:nvPr/>
        </p:nvSpPr>
        <p:spPr>
          <a:xfrm>
            <a:off x="4637837" y="3090672"/>
            <a:ext cx="1261872" cy="685800"/>
          </a:xfrm>
          <a:prstGeom prst="roundRect">
            <a:avLst>
              <a:gd name="adj" fmla="val 10667"/>
            </a:avLst>
          </a:prstGeom>
          <a:solidFill>
            <a:srgbClr val="E8F2EE"/>
          </a:solidFill>
          <a:ln w="12700">
            <a:solidFill>
              <a:srgbClr val="E8F2EE"/>
            </a:solidFill>
            <a:prstDash val="solid"/>
          </a:ln>
        </p:spPr>
        <p:txBody>
          <a:bodyPr/>
          <a:lstStyle/>
          <a:p>
            <a:endParaRPr lang="ko-KR" altLang="en-US"/>
          </a:p>
        </p:txBody>
      </p:sp>
      <p:sp>
        <p:nvSpPr>
          <p:cNvPr id="25" name="산출물명"/>
          <p:cNvSpPr txBox="1"/>
          <p:nvPr/>
        </p:nvSpPr>
        <p:spPr>
          <a:xfrm>
            <a:off x="4683557" y="3090672"/>
            <a:ext cx="1170432" cy="685800"/>
          </a:xfrm>
          <a:prstGeom prst="rect">
            <a:avLst/>
          </a:prstGeom>
          <a:noFill/>
          <a:ln/>
        </p:spPr>
        <p:txBody>
          <a:bodyPr wrap="square" lIns="0" tIns="0" rIns="0" bIns="0" rtlCol="0" anchor="ctr"/>
          <a:lstStyle/>
          <a:p>
            <a:pPr marL="0" indent="0" algn="ctr">
              <a:buNone/>
            </a:pPr>
            <a:r>
              <a:rPr lang="en-US" sz="1200" dirty="0">
                <a:solidFill>
                  <a:srgbClr val="1F2D2A"/>
                </a:solidFill>
                <a:latin typeface="Malgun Gothic" pitchFamily="34" charset="0"/>
                <a:ea typeface="Malgun Gothic" pitchFamily="34" charset="-122"/>
                <a:cs typeface="Malgun Gothic" pitchFamily="34" charset="-120"/>
              </a:rPr>
              <a:t>정제·적재 결과</a:t>
            </a:r>
            <a:endParaRPr lang="en-US" sz="1200" dirty="0"/>
          </a:p>
        </p:txBody>
      </p:sp>
      <p:sp>
        <p:nvSpPr>
          <p:cNvPr id="26" name="단계 5"/>
          <p:cNvSpPr/>
          <p:nvPr/>
        </p:nvSpPr>
        <p:spPr>
          <a:xfrm>
            <a:off x="6031382" y="1737360"/>
            <a:ext cx="1261872" cy="868680"/>
          </a:xfrm>
          <a:prstGeom prst="homePlate">
            <a:avLst/>
          </a:prstGeom>
          <a:solidFill>
            <a:srgbClr val="1B7566"/>
          </a:solidFill>
          <a:ln w="12700">
            <a:solidFill>
              <a:srgbClr val="1B7566"/>
            </a:solidFill>
            <a:prstDash val="solid"/>
          </a:ln>
        </p:spPr>
        <p:txBody>
          <a:bodyPr/>
          <a:lstStyle/>
          <a:p>
            <a:endParaRPr lang="ko-KR" altLang="en-US"/>
          </a:p>
        </p:txBody>
      </p:sp>
      <p:sp>
        <p:nvSpPr>
          <p:cNvPr id="27" name="단계명"/>
          <p:cNvSpPr txBox="1"/>
          <p:nvPr/>
        </p:nvSpPr>
        <p:spPr>
          <a:xfrm>
            <a:off x="6077102" y="1737360"/>
            <a:ext cx="987552" cy="868680"/>
          </a:xfrm>
          <a:prstGeom prst="rect">
            <a:avLst/>
          </a:prstGeom>
          <a:noFill/>
          <a:ln/>
        </p:spPr>
        <p:txBody>
          <a:bodyPr wrap="square" lIns="0" tIns="0" rIns="0" bIns="0" rtlCol="0" anchor="ctr"/>
          <a:lstStyle/>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검증</a:t>
            </a:r>
            <a:endParaRPr lang="en-US" sz="1200" dirty="0"/>
          </a:p>
        </p:txBody>
      </p:sp>
      <p:sp>
        <p:nvSpPr>
          <p:cNvPr id="28" name="Text 26"/>
          <p:cNvSpPr txBox="1"/>
          <p:nvPr/>
        </p:nvSpPr>
        <p:spPr>
          <a:xfrm>
            <a:off x="6031382" y="2834640"/>
            <a:ext cx="1261872" cy="228600"/>
          </a:xfrm>
          <a:prstGeom prst="rect">
            <a:avLst/>
          </a:prstGeom>
          <a:noFill/>
          <a:ln/>
        </p:spPr>
        <p:txBody>
          <a:bodyPr wrap="square" lIns="0" tIns="0" rIns="0" bIns="0" rtlCol="0" anchor="ctr"/>
          <a:lstStyle/>
          <a:p>
            <a:pPr marL="0" indent="0" algn="ctr">
              <a:buNone/>
            </a:pPr>
            <a:r>
              <a:rPr lang="en-US" sz="1000" dirty="0">
                <a:solidFill>
                  <a:srgbClr val="5F6F6B"/>
                </a:solidFill>
                <a:latin typeface="Malgun Gothic" pitchFamily="34" charset="0"/>
                <a:ea typeface="Malgun Gothic" pitchFamily="34" charset="-122"/>
                <a:cs typeface="Malgun Gothic" pitchFamily="34" charset="-120"/>
              </a:rPr>
              <a:t>산출물</a:t>
            </a:r>
            <a:endParaRPr lang="en-US" sz="1000" dirty="0"/>
          </a:p>
        </p:txBody>
      </p:sp>
      <p:sp>
        <p:nvSpPr>
          <p:cNvPr id="29" name="산출물 카드"/>
          <p:cNvSpPr/>
          <p:nvPr/>
        </p:nvSpPr>
        <p:spPr>
          <a:xfrm>
            <a:off x="6031382" y="3090672"/>
            <a:ext cx="1261872" cy="685800"/>
          </a:xfrm>
          <a:prstGeom prst="roundRect">
            <a:avLst>
              <a:gd name="adj" fmla="val 10667"/>
            </a:avLst>
          </a:prstGeom>
          <a:solidFill>
            <a:srgbClr val="E8F2EE"/>
          </a:solidFill>
          <a:ln w="12700">
            <a:solidFill>
              <a:srgbClr val="E8F2EE"/>
            </a:solidFill>
            <a:prstDash val="solid"/>
          </a:ln>
        </p:spPr>
        <p:txBody>
          <a:bodyPr/>
          <a:lstStyle/>
          <a:p>
            <a:endParaRPr lang="ko-KR" altLang="en-US"/>
          </a:p>
        </p:txBody>
      </p:sp>
      <p:sp>
        <p:nvSpPr>
          <p:cNvPr id="30" name="산출물명"/>
          <p:cNvSpPr txBox="1"/>
          <p:nvPr/>
        </p:nvSpPr>
        <p:spPr>
          <a:xfrm>
            <a:off x="6077102" y="3090672"/>
            <a:ext cx="1170432" cy="685800"/>
          </a:xfrm>
          <a:prstGeom prst="rect">
            <a:avLst/>
          </a:prstGeom>
          <a:noFill/>
          <a:ln/>
        </p:spPr>
        <p:txBody>
          <a:bodyPr wrap="square" lIns="0" tIns="0" rIns="0" bIns="0" rtlCol="0" anchor="ctr"/>
          <a:lstStyle/>
          <a:p>
            <a:pPr marL="0" indent="0" algn="ctr">
              <a:buNone/>
            </a:pPr>
            <a:r>
              <a:rPr lang="en-US" sz="1200" dirty="0">
                <a:solidFill>
                  <a:srgbClr val="1F2D2A"/>
                </a:solidFill>
                <a:latin typeface="Malgun Gothic" pitchFamily="34" charset="0"/>
                <a:ea typeface="Malgun Gothic" pitchFamily="34" charset="-122"/>
                <a:cs typeface="Malgun Gothic" pitchFamily="34" charset="-120"/>
              </a:rPr>
              <a:t>검증 결과</a:t>
            </a:r>
            <a:endParaRPr lang="en-US" sz="1200" dirty="0"/>
          </a:p>
        </p:txBody>
      </p:sp>
      <p:sp>
        <p:nvSpPr>
          <p:cNvPr id="31" name="단계 6"/>
          <p:cNvSpPr/>
          <p:nvPr/>
        </p:nvSpPr>
        <p:spPr>
          <a:xfrm>
            <a:off x="7424928" y="1737360"/>
            <a:ext cx="1261872" cy="868680"/>
          </a:xfrm>
          <a:prstGeom prst="homePlate">
            <a:avLst/>
          </a:prstGeom>
          <a:solidFill>
            <a:srgbClr val="12433A"/>
          </a:solidFill>
          <a:ln w="12700">
            <a:solidFill>
              <a:srgbClr val="12433A"/>
            </a:solidFill>
            <a:prstDash val="solid"/>
          </a:ln>
        </p:spPr>
        <p:txBody>
          <a:bodyPr/>
          <a:lstStyle/>
          <a:p>
            <a:endParaRPr lang="ko-KR" altLang="en-US"/>
          </a:p>
        </p:txBody>
      </p:sp>
      <p:sp>
        <p:nvSpPr>
          <p:cNvPr id="32" name="단계명"/>
          <p:cNvSpPr txBox="1"/>
          <p:nvPr/>
        </p:nvSpPr>
        <p:spPr>
          <a:xfrm>
            <a:off x="7470648" y="1737360"/>
            <a:ext cx="987552" cy="868680"/>
          </a:xfrm>
          <a:prstGeom prst="rect">
            <a:avLst/>
          </a:prstGeom>
          <a:noFill/>
          <a:ln/>
        </p:spPr>
        <p:txBody>
          <a:bodyPr wrap="square" lIns="0" tIns="0" rIns="0" bIns="0" rtlCol="0" anchor="ctr"/>
          <a:lstStyle/>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Gold 분석</a:t>
            </a:r>
            <a:endParaRPr lang="en-US" sz="1200" dirty="0"/>
          </a:p>
        </p:txBody>
      </p:sp>
      <p:sp>
        <p:nvSpPr>
          <p:cNvPr id="33" name="Text 31"/>
          <p:cNvSpPr txBox="1"/>
          <p:nvPr/>
        </p:nvSpPr>
        <p:spPr>
          <a:xfrm>
            <a:off x="7424928" y="2834640"/>
            <a:ext cx="1261872" cy="228600"/>
          </a:xfrm>
          <a:prstGeom prst="rect">
            <a:avLst/>
          </a:prstGeom>
          <a:noFill/>
          <a:ln/>
        </p:spPr>
        <p:txBody>
          <a:bodyPr wrap="square" lIns="0" tIns="0" rIns="0" bIns="0" rtlCol="0" anchor="ctr"/>
          <a:lstStyle/>
          <a:p>
            <a:pPr marL="0" indent="0" algn="ctr">
              <a:buNone/>
            </a:pPr>
            <a:r>
              <a:rPr lang="en-US" sz="1000" dirty="0">
                <a:solidFill>
                  <a:srgbClr val="5F6F6B"/>
                </a:solidFill>
                <a:latin typeface="Malgun Gothic" pitchFamily="34" charset="0"/>
                <a:ea typeface="Malgun Gothic" pitchFamily="34" charset="-122"/>
                <a:cs typeface="Malgun Gothic" pitchFamily="34" charset="-120"/>
              </a:rPr>
              <a:t>산출물</a:t>
            </a:r>
            <a:endParaRPr lang="en-US" sz="1000" dirty="0"/>
          </a:p>
        </p:txBody>
      </p:sp>
      <p:sp>
        <p:nvSpPr>
          <p:cNvPr id="34" name="산출물 카드"/>
          <p:cNvSpPr/>
          <p:nvPr/>
        </p:nvSpPr>
        <p:spPr>
          <a:xfrm>
            <a:off x="7424928" y="3090672"/>
            <a:ext cx="1261872" cy="685800"/>
          </a:xfrm>
          <a:prstGeom prst="roundRect">
            <a:avLst>
              <a:gd name="adj" fmla="val 10667"/>
            </a:avLst>
          </a:prstGeom>
          <a:solidFill>
            <a:srgbClr val="E8F2EE"/>
          </a:solidFill>
          <a:ln w="12700">
            <a:solidFill>
              <a:srgbClr val="E8F2EE"/>
            </a:solidFill>
            <a:prstDash val="solid"/>
          </a:ln>
        </p:spPr>
        <p:txBody>
          <a:bodyPr/>
          <a:lstStyle/>
          <a:p>
            <a:endParaRPr lang="ko-KR" altLang="en-US"/>
          </a:p>
        </p:txBody>
      </p:sp>
      <p:sp>
        <p:nvSpPr>
          <p:cNvPr id="35" name="산출물명"/>
          <p:cNvSpPr txBox="1"/>
          <p:nvPr/>
        </p:nvSpPr>
        <p:spPr>
          <a:xfrm>
            <a:off x="7470648" y="3090672"/>
            <a:ext cx="1170432" cy="685800"/>
          </a:xfrm>
          <a:prstGeom prst="rect">
            <a:avLst/>
          </a:prstGeom>
          <a:noFill/>
          <a:ln/>
        </p:spPr>
        <p:txBody>
          <a:bodyPr wrap="square" lIns="0" tIns="0" rIns="0" bIns="0" rtlCol="0" anchor="ctr"/>
          <a:lstStyle/>
          <a:p>
            <a:pPr marL="0" indent="0" algn="ctr">
              <a:buNone/>
            </a:pPr>
            <a:r>
              <a:rPr lang="en-US" sz="1200" dirty="0">
                <a:solidFill>
                  <a:srgbClr val="1F2D2A"/>
                </a:solidFill>
                <a:latin typeface="Malgun Gothic" pitchFamily="34" charset="0"/>
                <a:ea typeface="Malgun Gothic" pitchFamily="34" charset="-122"/>
                <a:cs typeface="Malgun Gothic" pitchFamily="34" charset="-120"/>
              </a:rPr>
              <a:t>분석 집계</a:t>
            </a:r>
            <a:endParaRPr lang="en-US" sz="1200" dirty="0"/>
          </a:p>
        </p:txBody>
      </p:sp>
      <p:sp>
        <p:nvSpPr>
          <p:cNvPr id="36" name="구현 표현"/>
          <p:cNvSpPr txBox="1"/>
          <p:nvPr/>
        </p:nvSpPr>
        <p:spPr>
          <a:xfrm>
            <a:off x="457200" y="4160520"/>
            <a:ext cx="8229600" cy="365760"/>
          </a:xfrm>
          <a:prstGeom prst="rect">
            <a:avLst/>
          </a:prstGeom>
          <a:noFill/>
          <a:ln/>
        </p:spPr>
        <p:txBody>
          <a:bodyPr wrap="square" lIns="0" tIns="0" rIns="0" bIns="0" rtlCol="0" anchor="ctr"/>
          <a:lstStyle/>
          <a:p>
            <a:pPr marL="0" indent="0">
              <a:buNone/>
            </a:pPr>
            <a:r>
              <a:rPr lang="en-US" sz="1400" b="1" dirty="0">
                <a:solidFill>
                  <a:srgbClr val="12433A"/>
                </a:solidFill>
                <a:latin typeface="Malgun Gothic" pitchFamily="34" charset="0"/>
                <a:ea typeface="Malgun Gothic" pitchFamily="34" charset="-122"/>
                <a:cs typeface="Malgun Gothic" pitchFamily="34" charset="-120"/>
              </a:rPr>
              <a:t>Medallion 구조(Bronze → Silver → Gold)를 적용한 MySQL 구현</a:t>
            </a:r>
            <a:endParaRPr lang="en-US" sz="1400" dirty="0"/>
          </a:p>
        </p:txBody>
      </p:sp>
      <p:sp>
        <p:nvSpPr>
          <p:cNvPr id="37"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F6F6B"/>
                </a:solidFill>
                <a:latin typeface="Malgun Gothic"/>
                <a:ea typeface="Malgun Gothic"/>
                <a:cs typeface="Malgun Gothic"/>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9" name="그림 28">
            <a:extLst>
              <a:ext uri="{FF2B5EF4-FFF2-40B4-BE49-F238E27FC236}">
                <a16:creationId xmlns:a16="http://schemas.microsoft.com/office/drawing/2014/main" id="{D981C8C2-A0DF-9136-34DF-142A3B35AC81}"/>
              </a:ext>
            </a:extLst>
          </p:cNvPr>
          <p:cNvPicPr>
            <a:picLocks noChangeAspect="1"/>
          </p:cNvPicPr>
          <p:nvPr/>
        </p:nvPicPr>
        <p:blipFill>
          <a:blip r:embed="rId3"/>
          <a:stretch>
            <a:fillRect/>
          </a:stretch>
        </p:blipFill>
        <p:spPr>
          <a:xfrm>
            <a:off x="4663439" y="3010742"/>
            <a:ext cx="4031827" cy="1747126"/>
          </a:xfrm>
          <a:prstGeom prst="rect">
            <a:avLst/>
          </a:prstGeom>
        </p:spPr>
      </p:pic>
      <p:pic>
        <p:nvPicPr>
          <p:cNvPr id="27" name="그림 26">
            <a:extLst>
              <a:ext uri="{FF2B5EF4-FFF2-40B4-BE49-F238E27FC236}">
                <a16:creationId xmlns:a16="http://schemas.microsoft.com/office/drawing/2014/main" id="{410F71B3-A36A-D16A-1C3D-0F18B9A3C5A9}"/>
              </a:ext>
            </a:extLst>
          </p:cNvPr>
          <p:cNvPicPr>
            <a:picLocks noChangeAspect="1"/>
          </p:cNvPicPr>
          <p:nvPr/>
        </p:nvPicPr>
        <p:blipFill>
          <a:blip r:embed="rId4"/>
          <a:stretch>
            <a:fillRect/>
          </a:stretch>
        </p:blipFill>
        <p:spPr>
          <a:xfrm>
            <a:off x="4663439" y="1378370"/>
            <a:ext cx="4031827" cy="1564640"/>
          </a:xfrm>
          <a:prstGeom prst="rect">
            <a:avLst/>
          </a:prstGeom>
        </p:spPr>
      </p:pic>
      <p:sp>
        <p:nvSpPr>
          <p:cNvPr id="2" name="번호 원"/>
          <p:cNvSpPr/>
          <p:nvPr/>
        </p:nvSpPr>
        <p:spPr>
          <a:xfrm>
            <a:off x="457200" y="347472"/>
            <a:ext cx="457200" cy="457200"/>
          </a:xfrm>
          <a:prstGeom prst="ellipse">
            <a:avLst/>
          </a:prstGeom>
          <a:solidFill>
            <a:srgbClr val="1B7566"/>
          </a:solidFill>
          <a:ln w="12700">
            <a:solidFill>
              <a:srgbClr val="1B7566"/>
            </a:solidFill>
            <a:prstDash val="solid"/>
          </a:ln>
        </p:spPr>
        <p:txBody>
          <a:bodyPr/>
          <a:lstStyle/>
          <a:p>
            <a:endParaRPr lang="ko-KR" altLang="en-US"/>
          </a:p>
        </p:txBody>
      </p:sp>
      <p:sp>
        <p:nvSpPr>
          <p:cNvPr id="3" name="번호"/>
          <p:cNvSpPr txBox="1"/>
          <p:nvPr/>
        </p:nvSpPr>
        <p:spPr>
          <a:xfrm>
            <a:off x="457200" y="34747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3</a:t>
            </a:r>
            <a:endParaRPr lang="en-US" sz="1400" dirty="0"/>
          </a:p>
        </p:txBody>
      </p:sp>
      <p:sp>
        <p:nvSpPr>
          <p:cNvPr id="4" name="제목"/>
          <p:cNvSpPr txBox="1"/>
          <p:nvPr/>
        </p:nvSpPr>
        <p:spPr>
          <a:xfrm>
            <a:off x="1051560" y="274320"/>
            <a:ext cx="7635240" cy="594360"/>
          </a:xfrm>
          <a:prstGeom prst="rect">
            <a:avLst/>
          </a:prstGeom>
          <a:noFill/>
          <a:ln/>
        </p:spPr>
        <p:txBody>
          <a:bodyPr wrap="square" lIns="0" tIns="0" rIns="0" bIns="0" rtlCol="0" anchor="ctr"/>
          <a:lstStyle/>
          <a:p>
            <a:pPr marL="0" indent="0">
              <a:buNone/>
            </a:pPr>
            <a:r>
              <a:rPr lang="en-US" sz="2400" b="1" dirty="0">
                <a:solidFill>
                  <a:srgbClr val="12433A"/>
                </a:solidFill>
                <a:latin typeface="Malgun Gothic" pitchFamily="34" charset="0"/>
                <a:ea typeface="Malgun Gothic" pitchFamily="34" charset="-122"/>
                <a:cs typeface="Malgun Gothic" pitchFamily="34" charset="-120"/>
              </a:rPr>
              <a:t>데이터 구성과 품질 문제</a:t>
            </a:r>
            <a:endParaRPr lang="en-US" sz="2400" dirty="0"/>
          </a:p>
        </p:txBody>
      </p:sp>
      <p:sp>
        <p:nvSpPr>
          <p:cNvPr id="5" name="핵심 메시지"/>
          <p:cNvSpPr txBox="1"/>
          <p:nvPr/>
        </p:nvSpPr>
        <p:spPr>
          <a:xfrm>
            <a:off x="457200" y="896112"/>
            <a:ext cx="8229600" cy="365760"/>
          </a:xfrm>
          <a:prstGeom prst="rect">
            <a:avLst/>
          </a:prstGeom>
          <a:noFill/>
          <a:ln/>
        </p:spPr>
        <p:txBody>
          <a:bodyPr wrap="square" lIns="0" tIns="0" rIns="0" bIns="0" rtlCol="0" anchor="ctr"/>
          <a:lstStyle/>
          <a:p>
            <a:pPr marL="0" indent="0">
              <a:buNone/>
            </a:pPr>
            <a:r>
              <a:rPr lang="en-US" sz="1400" dirty="0">
                <a:solidFill>
                  <a:srgbClr val="5F6F6B"/>
                </a:solidFill>
                <a:latin typeface="Malgun Gothic" pitchFamily="34" charset="0"/>
                <a:ea typeface="Malgun Gothic" pitchFamily="34" charset="-122"/>
                <a:cs typeface="Malgun Gothic" pitchFamily="34" charset="-120"/>
              </a:rPr>
              <a:t>검수 기록의 표현·참조·중복 문제를 함께 해결해야 했다</a:t>
            </a:r>
            <a:endParaRPr lang="en-US" sz="1400" dirty="0"/>
          </a:p>
        </p:txBody>
      </p:sp>
      <p:sp>
        <p:nvSpPr>
          <p:cNvPr id="6" name="Shape 4"/>
          <p:cNvSpPr/>
          <p:nvPr/>
        </p:nvSpPr>
        <p:spPr>
          <a:xfrm>
            <a:off x="2423160" y="2011680"/>
            <a:ext cx="0" cy="155448"/>
          </a:xfrm>
          <a:prstGeom prst="line">
            <a:avLst/>
          </a:prstGeom>
          <a:noFill/>
          <a:ln w="19050">
            <a:solidFill>
              <a:srgbClr val="1B7566"/>
            </a:solidFill>
            <a:prstDash val="solid"/>
          </a:ln>
        </p:spPr>
        <p:txBody>
          <a:bodyPr/>
          <a:lstStyle/>
          <a:p>
            <a:endParaRPr lang="ko-KR" altLang="en-US"/>
          </a:p>
        </p:txBody>
      </p:sp>
      <p:sp>
        <p:nvSpPr>
          <p:cNvPr id="7" name="Shape 5"/>
          <p:cNvSpPr/>
          <p:nvPr/>
        </p:nvSpPr>
        <p:spPr>
          <a:xfrm>
            <a:off x="1097280" y="2167128"/>
            <a:ext cx="2651760" cy="0"/>
          </a:xfrm>
          <a:prstGeom prst="line">
            <a:avLst/>
          </a:prstGeom>
          <a:noFill/>
          <a:ln w="19050">
            <a:solidFill>
              <a:srgbClr val="1B7566"/>
            </a:solidFill>
            <a:prstDash val="solid"/>
          </a:ln>
        </p:spPr>
        <p:txBody>
          <a:bodyPr/>
          <a:lstStyle/>
          <a:p>
            <a:endParaRPr lang="ko-KR" altLang="en-US"/>
          </a:p>
        </p:txBody>
      </p:sp>
      <p:sp>
        <p:nvSpPr>
          <p:cNvPr id="8" name="Shape 6"/>
          <p:cNvSpPr/>
          <p:nvPr/>
        </p:nvSpPr>
        <p:spPr>
          <a:xfrm>
            <a:off x="1097280" y="2167128"/>
            <a:ext cx="0" cy="164592"/>
          </a:xfrm>
          <a:prstGeom prst="line">
            <a:avLst/>
          </a:prstGeom>
          <a:noFill/>
          <a:ln w="19050">
            <a:solidFill>
              <a:srgbClr val="1B7566"/>
            </a:solidFill>
            <a:prstDash val="solid"/>
          </a:ln>
        </p:spPr>
        <p:txBody>
          <a:bodyPr/>
          <a:lstStyle/>
          <a:p>
            <a:endParaRPr lang="ko-KR" altLang="en-US"/>
          </a:p>
        </p:txBody>
      </p:sp>
      <p:sp>
        <p:nvSpPr>
          <p:cNvPr id="9" name="Shape 7"/>
          <p:cNvSpPr/>
          <p:nvPr/>
        </p:nvSpPr>
        <p:spPr>
          <a:xfrm>
            <a:off x="2423160" y="2167128"/>
            <a:ext cx="0" cy="164592"/>
          </a:xfrm>
          <a:prstGeom prst="line">
            <a:avLst/>
          </a:prstGeom>
          <a:noFill/>
          <a:ln w="19050">
            <a:solidFill>
              <a:srgbClr val="1B7566"/>
            </a:solidFill>
            <a:prstDash val="solid"/>
          </a:ln>
        </p:spPr>
        <p:txBody>
          <a:bodyPr/>
          <a:lstStyle/>
          <a:p>
            <a:endParaRPr lang="ko-KR" altLang="en-US"/>
          </a:p>
        </p:txBody>
      </p:sp>
      <p:sp>
        <p:nvSpPr>
          <p:cNvPr id="10" name="Shape 8"/>
          <p:cNvSpPr/>
          <p:nvPr/>
        </p:nvSpPr>
        <p:spPr>
          <a:xfrm>
            <a:off x="3749040" y="2167128"/>
            <a:ext cx="0" cy="164592"/>
          </a:xfrm>
          <a:prstGeom prst="line">
            <a:avLst/>
          </a:prstGeom>
          <a:noFill/>
          <a:ln w="19050">
            <a:solidFill>
              <a:srgbClr val="1B7566"/>
            </a:solidFill>
            <a:prstDash val="solid"/>
          </a:ln>
        </p:spPr>
        <p:txBody>
          <a:bodyPr/>
          <a:lstStyle/>
          <a:p>
            <a:endParaRPr lang="ko-KR" altLang="en-US"/>
          </a:p>
        </p:txBody>
      </p:sp>
      <p:sp>
        <p:nvSpPr>
          <p:cNvPr id="11" name="카드"/>
          <p:cNvSpPr/>
          <p:nvPr/>
        </p:nvSpPr>
        <p:spPr>
          <a:xfrm>
            <a:off x="1325880" y="1463040"/>
            <a:ext cx="2194560" cy="548640"/>
          </a:xfrm>
          <a:prstGeom prst="roundRect">
            <a:avLst>
              <a:gd name="adj" fmla="val 13333"/>
            </a:avLst>
          </a:prstGeom>
          <a:solidFill>
            <a:srgbClr val="1B7566"/>
          </a:solidFill>
          <a:ln w="12700">
            <a:solidFill>
              <a:srgbClr val="1B7566"/>
            </a:solidFill>
            <a:prstDash val="solid"/>
          </a:ln>
        </p:spPr>
        <p:txBody>
          <a:bodyPr/>
          <a:lstStyle/>
          <a:p>
            <a:endParaRPr lang="ko-KR" altLang="en-US"/>
          </a:p>
        </p:txBody>
      </p:sp>
      <p:sp>
        <p:nvSpPr>
          <p:cNvPr id="12" name="카드 텍스트"/>
          <p:cNvSpPr txBox="1"/>
          <p:nvPr/>
        </p:nvSpPr>
        <p:spPr>
          <a:xfrm>
            <a:off x="1463040" y="1463040"/>
            <a:ext cx="1920240" cy="548640"/>
          </a:xfrm>
          <a:prstGeom prst="rect">
            <a:avLst/>
          </a:prstGeom>
          <a:noFill/>
          <a:ln/>
        </p:spPr>
        <p:txBody>
          <a:bodyPr wrap="square" lIns="0" tIns="0" rIns="0" bIns="0" rtlCol="0" anchor="ctr"/>
          <a:lstStyle/>
          <a:p>
            <a:pPr marL="0" indent="0" algn="ctr">
              <a:spcAft>
                <a:spcPts val="300"/>
              </a:spcAft>
              <a:buNone/>
            </a:pPr>
            <a:r>
              <a:rPr lang="en-US" sz="1300" b="1" dirty="0">
                <a:solidFill>
                  <a:srgbClr val="FFFFFF"/>
                </a:solidFill>
                <a:latin typeface="Malgun Gothic" pitchFamily="34" charset="0"/>
                <a:ea typeface="Malgun Gothic" pitchFamily="34" charset="-122"/>
                <a:cs typeface="Malgun Gothic" pitchFamily="34" charset="-120"/>
              </a:rPr>
              <a:t>검수 기록 335,000행</a:t>
            </a:r>
            <a:endParaRPr lang="en-US" sz="1300" dirty="0"/>
          </a:p>
        </p:txBody>
      </p:sp>
      <p:sp>
        <p:nvSpPr>
          <p:cNvPr id="13" name="카드"/>
          <p:cNvSpPr/>
          <p:nvPr/>
        </p:nvSpPr>
        <p:spPr>
          <a:xfrm>
            <a:off x="457200" y="2331720"/>
            <a:ext cx="1280160" cy="457200"/>
          </a:xfrm>
          <a:prstGeom prst="roundRect">
            <a:avLst>
              <a:gd name="adj" fmla="val 16000"/>
            </a:avLst>
          </a:prstGeom>
          <a:solidFill>
            <a:srgbClr val="E8F2EE"/>
          </a:solidFill>
          <a:ln w="12700">
            <a:solidFill>
              <a:srgbClr val="E8F2EE"/>
            </a:solidFill>
            <a:prstDash val="solid"/>
          </a:ln>
        </p:spPr>
        <p:txBody>
          <a:bodyPr/>
          <a:lstStyle/>
          <a:p>
            <a:endParaRPr lang="ko-KR" altLang="en-US"/>
          </a:p>
        </p:txBody>
      </p:sp>
      <p:sp>
        <p:nvSpPr>
          <p:cNvPr id="14" name="카드 텍스트"/>
          <p:cNvSpPr txBox="1"/>
          <p:nvPr/>
        </p:nvSpPr>
        <p:spPr>
          <a:xfrm>
            <a:off x="594360" y="2331720"/>
            <a:ext cx="1005840" cy="457200"/>
          </a:xfrm>
          <a:prstGeom prst="rect">
            <a:avLst/>
          </a:prstGeom>
          <a:noFill/>
          <a:ln/>
        </p:spPr>
        <p:txBody>
          <a:bodyPr wrap="square" lIns="0" tIns="0" rIns="0" bIns="0" rtlCol="0" anchor="ctr"/>
          <a:lstStyle/>
          <a:p>
            <a:pPr marL="0" indent="0" algn="ctr">
              <a:spcAft>
                <a:spcPts val="300"/>
              </a:spcAft>
              <a:buNone/>
            </a:pPr>
            <a:r>
              <a:rPr lang="en-US" sz="1200" b="1" dirty="0">
                <a:solidFill>
                  <a:srgbClr val="12433A"/>
                </a:solidFill>
                <a:latin typeface="Malgun Gothic" pitchFamily="34" charset="0"/>
                <a:ea typeface="Malgun Gothic" pitchFamily="34" charset="-122"/>
                <a:cs typeface="Malgun Gothic" pitchFamily="34" charset="-120"/>
              </a:rPr>
              <a:t>검수원</a:t>
            </a:r>
            <a:endParaRPr lang="en-US" sz="1200" dirty="0"/>
          </a:p>
        </p:txBody>
      </p:sp>
      <p:sp>
        <p:nvSpPr>
          <p:cNvPr id="15" name="카드"/>
          <p:cNvSpPr/>
          <p:nvPr/>
        </p:nvSpPr>
        <p:spPr>
          <a:xfrm>
            <a:off x="1783080" y="2331720"/>
            <a:ext cx="1280160" cy="457200"/>
          </a:xfrm>
          <a:prstGeom prst="roundRect">
            <a:avLst>
              <a:gd name="adj" fmla="val 16000"/>
            </a:avLst>
          </a:prstGeom>
          <a:solidFill>
            <a:srgbClr val="E8F2EE"/>
          </a:solidFill>
          <a:ln w="12700">
            <a:solidFill>
              <a:srgbClr val="E8F2EE"/>
            </a:solidFill>
            <a:prstDash val="solid"/>
          </a:ln>
        </p:spPr>
        <p:txBody>
          <a:bodyPr/>
          <a:lstStyle/>
          <a:p>
            <a:endParaRPr lang="ko-KR" altLang="en-US"/>
          </a:p>
        </p:txBody>
      </p:sp>
      <p:sp>
        <p:nvSpPr>
          <p:cNvPr id="16" name="카드 텍스트"/>
          <p:cNvSpPr txBox="1"/>
          <p:nvPr/>
        </p:nvSpPr>
        <p:spPr>
          <a:xfrm>
            <a:off x="1920240" y="2331720"/>
            <a:ext cx="1005840" cy="457200"/>
          </a:xfrm>
          <a:prstGeom prst="rect">
            <a:avLst/>
          </a:prstGeom>
          <a:noFill/>
          <a:ln/>
        </p:spPr>
        <p:txBody>
          <a:bodyPr wrap="square" lIns="0" tIns="0" rIns="0" bIns="0" rtlCol="0" anchor="ctr"/>
          <a:lstStyle/>
          <a:p>
            <a:pPr marL="0" indent="0" algn="ctr">
              <a:spcAft>
                <a:spcPts val="300"/>
              </a:spcAft>
              <a:buNone/>
            </a:pPr>
            <a:r>
              <a:rPr lang="en-US" sz="1200" b="1" dirty="0">
                <a:solidFill>
                  <a:srgbClr val="12433A"/>
                </a:solidFill>
                <a:latin typeface="Malgun Gothic" pitchFamily="34" charset="0"/>
                <a:ea typeface="Malgun Gothic" pitchFamily="34" charset="-122"/>
                <a:cs typeface="Malgun Gothic" pitchFamily="34" charset="-120"/>
              </a:rPr>
              <a:t>카테고리</a:t>
            </a:r>
            <a:endParaRPr lang="en-US" sz="1200" dirty="0"/>
          </a:p>
        </p:txBody>
      </p:sp>
      <p:sp>
        <p:nvSpPr>
          <p:cNvPr id="17" name="카드"/>
          <p:cNvSpPr/>
          <p:nvPr/>
        </p:nvSpPr>
        <p:spPr>
          <a:xfrm>
            <a:off x="3108960" y="2331720"/>
            <a:ext cx="1280160" cy="457200"/>
          </a:xfrm>
          <a:prstGeom prst="roundRect">
            <a:avLst>
              <a:gd name="adj" fmla="val 16000"/>
            </a:avLst>
          </a:prstGeom>
          <a:solidFill>
            <a:srgbClr val="E8F2EE"/>
          </a:solidFill>
          <a:ln w="12700">
            <a:solidFill>
              <a:srgbClr val="E8F2EE"/>
            </a:solidFill>
            <a:prstDash val="solid"/>
          </a:ln>
        </p:spPr>
        <p:txBody>
          <a:bodyPr/>
          <a:lstStyle/>
          <a:p>
            <a:endParaRPr lang="ko-KR" altLang="en-US"/>
          </a:p>
        </p:txBody>
      </p:sp>
      <p:sp>
        <p:nvSpPr>
          <p:cNvPr id="18" name="카드 텍스트"/>
          <p:cNvSpPr txBox="1"/>
          <p:nvPr/>
        </p:nvSpPr>
        <p:spPr>
          <a:xfrm>
            <a:off x="3246120" y="2331720"/>
            <a:ext cx="1005840" cy="457200"/>
          </a:xfrm>
          <a:prstGeom prst="rect">
            <a:avLst/>
          </a:prstGeom>
          <a:noFill/>
          <a:ln/>
        </p:spPr>
        <p:txBody>
          <a:bodyPr wrap="square" lIns="0" tIns="0" rIns="0" bIns="0" rtlCol="0" anchor="ctr"/>
          <a:lstStyle/>
          <a:p>
            <a:pPr marL="0" indent="0" algn="ctr">
              <a:spcAft>
                <a:spcPts val="300"/>
              </a:spcAft>
              <a:buNone/>
            </a:pPr>
            <a:r>
              <a:rPr lang="en-US" sz="1200" b="1" dirty="0">
                <a:solidFill>
                  <a:srgbClr val="12433A"/>
                </a:solidFill>
                <a:latin typeface="Malgun Gothic" pitchFamily="34" charset="0"/>
                <a:ea typeface="Malgun Gothic" pitchFamily="34" charset="-122"/>
                <a:cs typeface="Malgun Gothic" pitchFamily="34" charset="-120"/>
              </a:rPr>
              <a:t>표준 사전</a:t>
            </a:r>
            <a:endParaRPr lang="en-US" sz="1200" dirty="0"/>
          </a:p>
        </p:txBody>
      </p:sp>
      <p:sp>
        <p:nvSpPr>
          <p:cNvPr id="19" name="본문"/>
          <p:cNvSpPr txBox="1"/>
          <p:nvPr/>
        </p:nvSpPr>
        <p:spPr>
          <a:xfrm>
            <a:off x="457200" y="3017520"/>
            <a:ext cx="3931920" cy="1371600"/>
          </a:xfrm>
          <a:prstGeom prst="rect">
            <a:avLst/>
          </a:prstGeom>
          <a:noFill/>
          <a:ln/>
        </p:spPr>
        <p:txBody>
          <a:bodyPr wrap="square" lIns="0" tIns="0" rIns="0" bIns="0" rtlCol="0" anchor="t"/>
          <a:lstStyle/>
          <a:p>
            <a:pPr marL="342900" indent="-342900">
              <a:lnSpc>
                <a:spcPct val="150000"/>
              </a:lnSpc>
              <a:spcAft>
                <a:spcPts val="600"/>
              </a:spcAft>
              <a:buSzPct val="100000"/>
              <a:buChar char="•"/>
            </a:pPr>
            <a:r>
              <a:rPr lang="en-US" sz="1200" dirty="0">
                <a:solidFill>
                  <a:srgbClr val="1F2D2A"/>
                </a:solidFill>
                <a:latin typeface="Malgun Gothic" pitchFamily="34" charset="0"/>
                <a:ea typeface="Malgun Gothic" pitchFamily="34" charset="-122"/>
                <a:cs typeface="Malgun Gothic" pitchFamily="34" charset="-120"/>
              </a:rPr>
              <a:t>실제 사례: 날짜 20240218113115, 상품명 별칭·오타, ID 공백·보이지 않는 문자</a:t>
            </a:r>
            <a:endParaRPr lang="en-US" sz="1200" dirty="0"/>
          </a:p>
          <a:p>
            <a:pPr marL="342900" indent="-342900">
              <a:lnSpc>
                <a:spcPct val="150000"/>
              </a:lnSpc>
              <a:spcAft>
                <a:spcPts val="600"/>
              </a:spcAft>
              <a:buSzPct val="100000"/>
              <a:buChar char="•"/>
            </a:pPr>
            <a:r>
              <a:rPr lang="en-US" sz="1200" dirty="0">
                <a:solidFill>
                  <a:srgbClr val="1F2D2A"/>
                </a:solidFill>
                <a:latin typeface="Malgun Gothic" pitchFamily="34" charset="0"/>
                <a:ea typeface="Malgun Gothic" pitchFamily="34" charset="-122"/>
                <a:cs typeface="Malgun Gothic" pitchFamily="34" charset="-120"/>
              </a:rPr>
              <a:t>마스터 참조 불일치와 중복·이전 개정본 혼재</a:t>
            </a:r>
            <a:endParaRPr lang="en-US" sz="1200" dirty="0"/>
          </a:p>
          <a:p>
            <a:pPr marL="342900" indent="-342900">
              <a:lnSpc>
                <a:spcPct val="150000"/>
              </a:lnSpc>
              <a:spcAft>
                <a:spcPts val="600"/>
              </a:spcAft>
              <a:buSzPct val="100000"/>
              <a:buChar char="•"/>
            </a:pPr>
            <a:r>
              <a:rPr lang="en-US" sz="1200" dirty="0">
                <a:solidFill>
                  <a:srgbClr val="1F2D2A"/>
                </a:solidFill>
                <a:latin typeface="Malgun Gothic" pitchFamily="34" charset="0"/>
                <a:ea typeface="Malgun Gothic" pitchFamily="34" charset="-122"/>
                <a:cs typeface="Malgun Gothic" pitchFamily="34" charset="-120"/>
              </a:rPr>
              <a:t>검수원·카테고리·표준 사전과 연결해 함께 해결</a:t>
            </a:r>
            <a:endParaRPr lang="en-US" sz="12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F6F6B"/>
                </a:solidFill>
                <a:latin typeface="Malgun Gothic"/>
                <a:ea typeface="Malgun Gothic"/>
                <a:cs typeface="Malgun Gothic"/>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번호 원"/>
          <p:cNvSpPr/>
          <p:nvPr/>
        </p:nvSpPr>
        <p:spPr>
          <a:xfrm>
            <a:off x="457200" y="347472"/>
            <a:ext cx="457200" cy="457200"/>
          </a:xfrm>
          <a:prstGeom prst="ellipse">
            <a:avLst/>
          </a:prstGeom>
          <a:solidFill>
            <a:srgbClr val="1B7566"/>
          </a:solidFill>
          <a:ln w="12700">
            <a:solidFill>
              <a:srgbClr val="1B7566"/>
            </a:solidFill>
            <a:prstDash val="solid"/>
          </a:ln>
        </p:spPr>
        <p:txBody>
          <a:bodyPr/>
          <a:lstStyle/>
          <a:p>
            <a:endParaRPr lang="ko-KR" altLang="en-US"/>
          </a:p>
        </p:txBody>
      </p:sp>
      <p:sp>
        <p:nvSpPr>
          <p:cNvPr id="3" name="번호"/>
          <p:cNvSpPr txBox="1"/>
          <p:nvPr/>
        </p:nvSpPr>
        <p:spPr>
          <a:xfrm>
            <a:off x="457200" y="34747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4</a:t>
            </a:r>
            <a:endParaRPr lang="en-US" sz="1400" dirty="0"/>
          </a:p>
        </p:txBody>
      </p:sp>
      <p:sp>
        <p:nvSpPr>
          <p:cNvPr id="4" name="제목"/>
          <p:cNvSpPr txBox="1"/>
          <p:nvPr/>
        </p:nvSpPr>
        <p:spPr>
          <a:xfrm>
            <a:off x="1051560" y="274320"/>
            <a:ext cx="7635240" cy="594360"/>
          </a:xfrm>
          <a:prstGeom prst="rect">
            <a:avLst/>
          </a:prstGeom>
          <a:noFill/>
          <a:ln/>
        </p:spPr>
        <p:txBody>
          <a:bodyPr wrap="square" lIns="0" tIns="0" rIns="0" bIns="0" rtlCol="0" anchor="ctr"/>
          <a:lstStyle/>
          <a:p>
            <a:pPr marL="0" indent="0">
              <a:buNone/>
            </a:pPr>
            <a:r>
              <a:rPr lang="en-US" sz="2400" b="1" dirty="0">
                <a:solidFill>
                  <a:srgbClr val="12433A"/>
                </a:solidFill>
                <a:latin typeface="Malgun Gothic" pitchFamily="34" charset="0"/>
                <a:ea typeface="Malgun Gothic" pitchFamily="34" charset="-122"/>
                <a:cs typeface="Malgun Gothic" pitchFamily="34" charset="-120"/>
              </a:rPr>
              <a:t>표준화 기준과 TO-BE 설계</a:t>
            </a:r>
            <a:endParaRPr lang="en-US" sz="2400" dirty="0"/>
          </a:p>
        </p:txBody>
      </p:sp>
      <p:sp>
        <p:nvSpPr>
          <p:cNvPr id="5" name="핵심 메시지"/>
          <p:cNvSpPr txBox="1"/>
          <p:nvPr/>
        </p:nvSpPr>
        <p:spPr>
          <a:xfrm>
            <a:off x="457200" y="896112"/>
            <a:ext cx="8229600" cy="365760"/>
          </a:xfrm>
          <a:prstGeom prst="rect">
            <a:avLst/>
          </a:prstGeom>
          <a:noFill/>
          <a:ln/>
        </p:spPr>
        <p:txBody>
          <a:bodyPr wrap="square" lIns="0" tIns="0" rIns="0" bIns="0" rtlCol="0" anchor="ctr"/>
          <a:lstStyle/>
          <a:p>
            <a:pPr marL="0" indent="0">
              <a:buNone/>
            </a:pPr>
            <a:r>
              <a:rPr lang="en-US" sz="1400" dirty="0">
                <a:solidFill>
                  <a:srgbClr val="5F6F6B"/>
                </a:solidFill>
                <a:latin typeface="Malgun Gothic" pitchFamily="34" charset="0"/>
                <a:ea typeface="Malgun Gothic" pitchFamily="34" charset="-122"/>
                <a:cs typeface="Malgun Gothic" pitchFamily="34" charset="-120"/>
              </a:rPr>
              <a:t>표준 사전으로 판단 기준을 만들고 현재 상태와 이력을 구분한다</a:t>
            </a:r>
            <a:endParaRPr lang="en-US" sz="1400" dirty="0"/>
          </a:p>
        </p:txBody>
      </p:sp>
      <p:sp>
        <p:nvSpPr>
          <p:cNvPr id="6" name="카드"/>
          <p:cNvSpPr/>
          <p:nvPr/>
        </p:nvSpPr>
        <p:spPr>
          <a:xfrm>
            <a:off x="457200" y="1463040"/>
            <a:ext cx="4023360" cy="1051560"/>
          </a:xfrm>
          <a:prstGeom prst="roundRect">
            <a:avLst>
              <a:gd name="adj" fmla="val 6957"/>
            </a:avLst>
          </a:prstGeom>
          <a:solidFill>
            <a:srgbClr val="E8F2EE"/>
          </a:solidFill>
          <a:ln w="12700">
            <a:solidFill>
              <a:srgbClr val="E8F2EE"/>
            </a:solidFill>
            <a:prstDash val="solid"/>
          </a:ln>
        </p:spPr>
        <p:txBody>
          <a:bodyPr/>
          <a:lstStyle/>
          <a:p>
            <a:endParaRPr lang="ko-KR" altLang="en-US"/>
          </a:p>
        </p:txBody>
      </p:sp>
      <p:sp>
        <p:nvSpPr>
          <p:cNvPr id="7" name="카드 텍스트"/>
          <p:cNvSpPr txBox="1"/>
          <p:nvPr/>
        </p:nvSpPr>
        <p:spPr>
          <a:xfrm>
            <a:off x="594360" y="1463040"/>
            <a:ext cx="3749040" cy="1051560"/>
          </a:xfrm>
          <a:prstGeom prst="rect">
            <a:avLst/>
          </a:prstGeom>
          <a:noFill/>
          <a:ln/>
        </p:spPr>
        <p:txBody>
          <a:bodyPr wrap="square" lIns="0" tIns="0" rIns="0" bIns="0" rtlCol="0" anchor="ctr"/>
          <a:lstStyle/>
          <a:p>
            <a:pPr marL="0" indent="0" algn="l">
              <a:spcAft>
                <a:spcPts val="300"/>
              </a:spcAft>
              <a:buNone/>
            </a:pPr>
            <a:r>
              <a:rPr lang="en-US" sz="1400" b="1" dirty="0">
                <a:solidFill>
                  <a:srgbClr val="12433A"/>
                </a:solidFill>
                <a:latin typeface="Malgun Gothic" pitchFamily="34" charset="0"/>
                <a:ea typeface="Malgun Gothic" pitchFamily="34" charset="-122"/>
                <a:cs typeface="Malgun Gothic" pitchFamily="34" charset="-120"/>
              </a:rPr>
              <a:t>별칭 통일</a:t>
            </a:r>
            <a:endParaRPr lang="en-US" sz="1400" dirty="0"/>
          </a:p>
          <a:p>
            <a:pPr>
              <a:spcAft>
                <a:spcPts val="300"/>
              </a:spcAft>
            </a:pPr>
            <a:r>
              <a:rPr lang="ko-KR" altLang="en-US" sz="1200" dirty="0">
                <a:solidFill>
                  <a:srgbClr val="1F2D2A"/>
                </a:solidFill>
                <a:latin typeface="Malgun Gothic" pitchFamily="34" charset="0"/>
                <a:ea typeface="Malgun Gothic" pitchFamily="34" charset="-122"/>
                <a:cs typeface="Malgun Gothic" pitchFamily="34" charset="-120"/>
              </a:rPr>
              <a:t>표준화</a:t>
            </a:r>
            <a:r>
              <a:rPr lang="en-US" altLang="ko-KR" sz="1200" dirty="0">
                <a:solidFill>
                  <a:srgbClr val="1F2D2A"/>
                </a:solidFill>
                <a:latin typeface="Malgun Gothic" pitchFamily="34" charset="0"/>
                <a:ea typeface="Malgun Gothic" pitchFamily="34" charset="-122"/>
                <a:cs typeface="Malgun Gothic" pitchFamily="34" charset="-120"/>
              </a:rPr>
              <a:t>: </a:t>
            </a:r>
            <a:r>
              <a:rPr lang="ko-KR" altLang="en-US" sz="1200" dirty="0">
                <a:solidFill>
                  <a:srgbClr val="1F2D2A"/>
                </a:solidFill>
                <a:latin typeface="Malgun Gothic" pitchFamily="34" charset="0"/>
                <a:ea typeface="Malgun Gothic" pitchFamily="34" charset="-122"/>
                <a:cs typeface="Malgun Gothic" pitchFamily="34" charset="-120"/>
              </a:rPr>
              <a:t>검수 </a:t>
            </a:r>
            <a:r>
              <a:rPr lang="en-US" altLang="ko-KR" sz="1200" dirty="0">
                <a:solidFill>
                  <a:srgbClr val="1F2D2A"/>
                </a:solidFill>
                <a:latin typeface="Malgun Gothic" pitchFamily="34" charset="0"/>
                <a:ea typeface="Malgun Gothic" pitchFamily="34" charset="-122"/>
                <a:cs typeface="Malgun Gothic" pitchFamily="34" charset="-120"/>
              </a:rPr>
              <a:t>ID</a:t>
            </a:r>
            <a:r>
              <a:rPr lang="ko-KR" altLang="en-US" sz="1200" dirty="0">
                <a:solidFill>
                  <a:srgbClr val="1F2D2A"/>
                </a:solidFill>
                <a:latin typeface="Malgun Gothic" pitchFamily="34" charset="0"/>
                <a:ea typeface="Malgun Gothic" pitchFamily="34" charset="-122"/>
                <a:cs typeface="Malgun Gothic" pitchFamily="34" charset="-120"/>
              </a:rPr>
              <a:t>의 공백</a:t>
            </a:r>
            <a:r>
              <a:rPr lang="en-US" altLang="ko-KR" sz="1200" dirty="0">
                <a:solidFill>
                  <a:srgbClr val="1F2D2A"/>
                </a:solidFill>
                <a:latin typeface="Malgun Gothic" pitchFamily="34" charset="0"/>
                <a:ea typeface="Malgun Gothic" pitchFamily="34" charset="-122"/>
                <a:cs typeface="Malgun Gothic" pitchFamily="34" charset="-120"/>
              </a:rPr>
              <a:t>·</a:t>
            </a:r>
            <a:r>
              <a:rPr lang="ko-KR" altLang="en-US" sz="1200" dirty="0">
                <a:solidFill>
                  <a:srgbClr val="1F2D2A"/>
                </a:solidFill>
                <a:latin typeface="Malgun Gothic" pitchFamily="34" charset="0"/>
                <a:ea typeface="Malgun Gothic" pitchFamily="34" charset="-122"/>
                <a:cs typeface="Malgun Gothic" pitchFamily="34" charset="-120"/>
              </a:rPr>
              <a:t>전각 표기를 정규화하고</a:t>
            </a:r>
            <a:r>
              <a:rPr lang="en-US" altLang="ko-KR" sz="1200" dirty="0">
                <a:solidFill>
                  <a:srgbClr val="1F2D2A"/>
                </a:solidFill>
                <a:latin typeface="Malgun Gothic" pitchFamily="34" charset="0"/>
                <a:ea typeface="Malgun Gothic" pitchFamily="34" charset="-122"/>
                <a:cs typeface="Malgun Gothic" pitchFamily="34" charset="-120"/>
              </a:rPr>
              <a:t>, </a:t>
            </a:r>
            <a:r>
              <a:rPr lang="ko-KR" altLang="en-US" sz="1200" dirty="0">
                <a:solidFill>
                  <a:srgbClr val="1F2D2A"/>
                </a:solidFill>
                <a:latin typeface="Malgun Gothic" pitchFamily="34" charset="0"/>
                <a:ea typeface="Malgun Gothic" pitchFamily="34" charset="-122"/>
                <a:cs typeface="Malgun Gothic" pitchFamily="34" charset="-120"/>
              </a:rPr>
              <a:t>유효 상품 코드와 표준 사전을 근거로 상품명을 복구</a:t>
            </a:r>
            <a:endParaRPr lang="en-US" sz="1400" dirty="0"/>
          </a:p>
        </p:txBody>
      </p:sp>
      <p:sp>
        <p:nvSpPr>
          <p:cNvPr id="8" name="카드"/>
          <p:cNvSpPr/>
          <p:nvPr/>
        </p:nvSpPr>
        <p:spPr>
          <a:xfrm>
            <a:off x="457200" y="2651760"/>
            <a:ext cx="4023360" cy="914400"/>
          </a:xfrm>
          <a:prstGeom prst="roundRect">
            <a:avLst>
              <a:gd name="adj" fmla="val 8000"/>
            </a:avLst>
          </a:prstGeom>
          <a:solidFill>
            <a:srgbClr val="E8F2EE"/>
          </a:solidFill>
          <a:ln w="12700">
            <a:solidFill>
              <a:srgbClr val="E8F2EE"/>
            </a:solidFill>
            <a:prstDash val="solid"/>
          </a:ln>
        </p:spPr>
        <p:txBody>
          <a:bodyPr/>
          <a:lstStyle/>
          <a:p>
            <a:endParaRPr lang="ko-KR" altLang="en-US"/>
          </a:p>
        </p:txBody>
      </p:sp>
      <p:sp>
        <p:nvSpPr>
          <p:cNvPr id="9" name="카드 텍스트"/>
          <p:cNvSpPr txBox="1"/>
          <p:nvPr/>
        </p:nvSpPr>
        <p:spPr>
          <a:xfrm>
            <a:off x="594360" y="2651760"/>
            <a:ext cx="3749040" cy="914400"/>
          </a:xfrm>
          <a:prstGeom prst="rect">
            <a:avLst/>
          </a:prstGeom>
          <a:noFill/>
          <a:ln/>
        </p:spPr>
        <p:txBody>
          <a:bodyPr wrap="square" lIns="0" tIns="0" rIns="0" bIns="0" rtlCol="0" anchor="ctr"/>
          <a:lstStyle/>
          <a:p>
            <a:pPr marL="0" indent="0" algn="l">
              <a:spcAft>
                <a:spcPts val="300"/>
              </a:spcAft>
              <a:buNone/>
            </a:pPr>
            <a:r>
              <a:rPr lang="en-US" sz="1400" b="1" dirty="0">
                <a:solidFill>
                  <a:srgbClr val="12433A"/>
                </a:solidFill>
                <a:latin typeface="Malgun Gothic" pitchFamily="34" charset="0"/>
                <a:ea typeface="Malgun Gothic" pitchFamily="34" charset="-122"/>
                <a:cs typeface="Malgun Gothic" pitchFamily="34" charset="-120"/>
              </a:rPr>
              <a:t>역할 분리</a:t>
            </a:r>
            <a:endParaRPr lang="en-US" sz="1400" dirty="0"/>
          </a:p>
          <a:p>
            <a:pPr marL="0" indent="0" algn="l">
              <a:spcAft>
                <a:spcPts val="300"/>
              </a:spcAft>
              <a:buNone/>
            </a:pPr>
            <a:r>
              <a:rPr lang="en-US" sz="1200" dirty="0">
                <a:solidFill>
                  <a:srgbClr val="1F2D2A"/>
                </a:solidFill>
                <a:latin typeface="Malgun Gothic" pitchFamily="34" charset="0"/>
                <a:ea typeface="Malgun Gothic" pitchFamily="34" charset="-122"/>
                <a:cs typeface="Malgun Gothic" pitchFamily="34" charset="-120"/>
              </a:rPr>
              <a:t>검수원·카테고리 기준 정보와 검수 기록을 분리</a:t>
            </a:r>
            <a:endParaRPr lang="en-US" sz="1400" dirty="0"/>
          </a:p>
        </p:txBody>
      </p:sp>
      <p:sp>
        <p:nvSpPr>
          <p:cNvPr id="10" name="카드"/>
          <p:cNvSpPr/>
          <p:nvPr/>
        </p:nvSpPr>
        <p:spPr>
          <a:xfrm>
            <a:off x="457200" y="3703320"/>
            <a:ext cx="4023360" cy="914400"/>
          </a:xfrm>
          <a:prstGeom prst="roundRect">
            <a:avLst>
              <a:gd name="adj" fmla="val 8000"/>
            </a:avLst>
          </a:prstGeom>
          <a:solidFill>
            <a:srgbClr val="E8F2EE"/>
          </a:solidFill>
          <a:ln w="12700">
            <a:solidFill>
              <a:srgbClr val="E8F2EE"/>
            </a:solidFill>
            <a:prstDash val="solid"/>
          </a:ln>
        </p:spPr>
        <p:txBody>
          <a:bodyPr/>
          <a:lstStyle/>
          <a:p>
            <a:endParaRPr lang="ko-KR" altLang="en-US"/>
          </a:p>
        </p:txBody>
      </p:sp>
      <p:sp>
        <p:nvSpPr>
          <p:cNvPr id="11" name="카드 텍스트"/>
          <p:cNvSpPr txBox="1"/>
          <p:nvPr/>
        </p:nvSpPr>
        <p:spPr>
          <a:xfrm>
            <a:off x="594360" y="3703320"/>
            <a:ext cx="3749040" cy="914400"/>
          </a:xfrm>
          <a:prstGeom prst="rect">
            <a:avLst/>
          </a:prstGeom>
          <a:noFill/>
          <a:ln/>
        </p:spPr>
        <p:txBody>
          <a:bodyPr wrap="square" lIns="0" tIns="0" rIns="0" bIns="0" rtlCol="0" anchor="ctr"/>
          <a:lstStyle/>
          <a:p>
            <a:pPr marL="0" indent="0" algn="l">
              <a:spcAft>
                <a:spcPts val="300"/>
              </a:spcAft>
              <a:buNone/>
            </a:pPr>
            <a:r>
              <a:rPr lang="en-US" sz="1400" b="1" dirty="0">
                <a:solidFill>
                  <a:srgbClr val="12433A"/>
                </a:solidFill>
                <a:latin typeface="Malgun Gothic" pitchFamily="34" charset="0"/>
                <a:ea typeface="Malgun Gothic" pitchFamily="34" charset="-122"/>
                <a:cs typeface="Malgun Gothic" pitchFamily="34" charset="-120"/>
              </a:rPr>
              <a:t>이력 추적</a:t>
            </a:r>
            <a:endParaRPr lang="en-US" sz="1400" dirty="0"/>
          </a:p>
          <a:p>
            <a:pPr marL="0" indent="0" algn="l">
              <a:spcAft>
                <a:spcPts val="300"/>
              </a:spcAft>
              <a:buNone/>
            </a:pPr>
            <a:r>
              <a:rPr lang="en-US" sz="1200" dirty="0">
                <a:solidFill>
                  <a:srgbClr val="1F2D2A"/>
                </a:solidFill>
                <a:latin typeface="Malgun Gothic" pitchFamily="34" charset="0"/>
                <a:ea typeface="Malgun Gothic" pitchFamily="34" charset="-122"/>
                <a:cs typeface="Malgun Gothic" pitchFamily="34" charset="-120"/>
              </a:rPr>
              <a:t>검수 ID·개정번호·원본 행 식별값으로 최신 상태와 이전 기록 추적</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F6F6B"/>
                </a:solidFill>
                <a:latin typeface="Malgun Gothic"/>
                <a:ea typeface="Malgun Gothic"/>
                <a:cs typeface="Malgun Gothic"/>
              </a:defRPr>
            </a:lvl1pPr>
          </a:lstStyle>
          <a:p>
            <a:pPr algn="r"/>
            <a:fld id="{F7021451-1387-4CA6-816F-3879F97B5CBC}" type="slidenum">
              <a:rPr lang="en-US" b="0"/>
              <a:t>4</a:t>
            </a:fld>
            <a:endParaRPr lang="en-US"/>
          </a:p>
        </p:txBody>
      </p:sp>
      <p:pic>
        <p:nvPicPr>
          <p:cNvPr id="17" name="그림 16">
            <a:extLst>
              <a:ext uri="{FF2B5EF4-FFF2-40B4-BE49-F238E27FC236}">
                <a16:creationId xmlns:a16="http://schemas.microsoft.com/office/drawing/2014/main" id="{C4D4F751-9EA9-7404-EB08-8E12C375E6E2}"/>
              </a:ext>
            </a:extLst>
          </p:cNvPr>
          <p:cNvPicPr>
            <a:picLocks noChangeAspect="1"/>
          </p:cNvPicPr>
          <p:nvPr/>
        </p:nvPicPr>
        <p:blipFill>
          <a:blip r:embed="rId3"/>
          <a:srcRect b="31789"/>
          <a:stretch>
            <a:fillRect/>
          </a:stretch>
        </p:blipFill>
        <p:spPr>
          <a:xfrm>
            <a:off x="4617719" y="1399032"/>
            <a:ext cx="4391935" cy="1353658"/>
          </a:xfrm>
          <a:prstGeom prst="rect">
            <a:avLst/>
          </a:prstGeom>
        </p:spPr>
      </p:pic>
      <p:pic>
        <p:nvPicPr>
          <p:cNvPr id="19" name="그림 18">
            <a:extLst>
              <a:ext uri="{FF2B5EF4-FFF2-40B4-BE49-F238E27FC236}">
                <a16:creationId xmlns:a16="http://schemas.microsoft.com/office/drawing/2014/main" id="{4CE2C292-6916-F4CC-220B-BA516D628FAF}"/>
              </a:ext>
            </a:extLst>
          </p:cNvPr>
          <p:cNvPicPr>
            <a:picLocks noChangeAspect="1"/>
          </p:cNvPicPr>
          <p:nvPr/>
        </p:nvPicPr>
        <p:blipFill>
          <a:blip r:embed="rId4"/>
          <a:srcRect b="14763"/>
          <a:stretch>
            <a:fillRect/>
          </a:stretch>
        </p:blipFill>
        <p:spPr>
          <a:xfrm>
            <a:off x="4615823" y="2925746"/>
            <a:ext cx="4393831" cy="165387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번호 원"/>
          <p:cNvSpPr/>
          <p:nvPr/>
        </p:nvSpPr>
        <p:spPr>
          <a:xfrm>
            <a:off x="457200" y="347472"/>
            <a:ext cx="457200" cy="457200"/>
          </a:xfrm>
          <a:prstGeom prst="ellipse">
            <a:avLst/>
          </a:prstGeom>
          <a:solidFill>
            <a:srgbClr val="1B7566"/>
          </a:solidFill>
          <a:ln w="12700">
            <a:solidFill>
              <a:srgbClr val="1B7566"/>
            </a:solidFill>
            <a:prstDash val="solid"/>
          </a:ln>
        </p:spPr>
        <p:txBody>
          <a:bodyPr/>
          <a:lstStyle/>
          <a:p>
            <a:endParaRPr lang="ko-KR" altLang="en-US"/>
          </a:p>
        </p:txBody>
      </p:sp>
      <p:sp>
        <p:nvSpPr>
          <p:cNvPr id="3" name="번호"/>
          <p:cNvSpPr txBox="1"/>
          <p:nvPr/>
        </p:nvSpPr>
        <p:spPr>
          <a:xfrm>
            <a:off x="457200" y="34747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5</a:t>
            </a:r>
            <a:endParaRPr lang="en-US" sz="1400" dirty="0"/>
          </a:p>
        </p:txBody>
      </p:sp>
      <p:sp>
        <p:nvSpPr>
          <p:cNvPr id="4" name="제목"/>
          <p:cNvSpPr txBox="1"/>
          <p:nvPr/>
        </p:nvSpPr>
        <p:spPr>
          <a:xfrm>
            <a:off x="1051560" y="274320"/>
            <a:ext cx="7635240" cy="594360"/>
          </a:xfrm>
          <a:prstGeom prst="rect">
            <a:avLst/>
          </a:prstGeom>
          <a:noFill/>
          <a:ln/>
        </p:spPr>
        <p:txBody>
          <a:bodyPr wrap="square" lIns="0" tIns="0" rIns="0" bIns="0" rtlCol="0" anchor="ctr"/>
          <a:lstStyle/>
          <a:p>
            <a:pPr marL="0" indent="0">
              <a:buNone/>
            </a:pPr>
            <a:r>
              <a:rPr lang="en-US" sz="2400" b="1" dirty="0">
                <a:solidFill>
                  <a:srgbClr val="12433A"/>
                </a:solidFill>
                <a:latin typeface="Malgun Gothic" pitchFamily="34" charset="0"/>
                <a:ea typeface="Malgun Gothic" pitchFamily="34" charset="-122"/>
                <a:cs typeface="Malgun Gothic" pitchFamily="34" charset="-120"/>
              </a:rPr>
              <a:t>레이어별 처리와 검증 결과</a:t>
            </a:r>
            <a:endParaRPr lang="en-US" sz="2400" dirty="0"/>
          </a:p>
        </p:txBody>
      </p:sp>
      <p:sp>
        <p:nvSpPr>
          <p:cNvPr id="5" name="핵심 메시지"/>
          <p:cNvSpPr txBox="1"/>
          <p:nvPr/>
        </p:nvSpPr>
        <p:spPr>
          <a:xfrm>
            <a:off x="457200" y="896112"/>
            <a:ext cx="8229600" cy="365760"/>
          </a:xfrm>
          <a:prstGeom prst="rect">
            <a:avLst/>
          </a:prstGeom>
          <a:noFill/>
          <a:ln/>
        </p:spPr>
        <p:txBody>
          <a:bodyPr wrap="square" lIns="0" tIns="0" rIns="0" bIns="0" rtlCol="0" anchor="ctr"/>
          <a:lstStyle/>
          <a:p>
            <a:pPr marL="0" indent="0">
              <a:buNone/>
            </a:pPr>
            <a:r>
              <a:rPr lang="en-US" sz="1400" dirty="0">
                <a:solidFill>
                  <a:srgbClr val="5F6F6B"/>
                </a:solidFill>
                <a:latin typeface="Malgun Gothic" pitchFamily="34" charset="0"/>
                <a:ea typeface="Malgun Gothic" pitchFamily="34" charset="-122"/>
                <a:cs typeface="Malgun Gothic" pitchFamily="34" charset="-120"/>
              </a:rPr>
              <a:t>모든 원본 행의 처리 결과를 대사하고 검증 범위를 공개한다</a:t>
            </a:r>
            <a:endParaRPr lang="en-US" sz="1400" dirty="0"/>
          </a:p>
        </p:txBody>
      </p:sp>
      <p:sp>
        <p:nvSpPr>
          <p:cNvPr id="6" name="카드"/>
          <p:cNvSpPr/>
          <p:nvPr/>
        </p:nvSpPr>
        <p:spPr>
          <a:xfrm>
            <a:off x="457200" y="1417320"/>
            <a:ext cx="2377440" cy="685800"/>
          </a:xfrm>
          <a:prstGeom prst="roundRect">
            <a:avLst>
              <a:gd name="adj" fmla="val 10667"/>
            </a:avLst>
          </a:prstGeom>
          <a:solidFill>
            <a:srgbClr val="1B7566"/>
          </a:solidFill>
          <a:ln w="12700">
            <a:solidFill>
              <a:srgbClr val="1B7566"/>
            </a:solidFill>
            <a:prstDash val="solid"/>
          </a:ln>
        </p:spPr>
        <p:txBody>
          <a:bodyPr/>
          <a:lstStyle/>
          <a:p>
            <a:endParaRPr lang="ko-KR" altLang="en-US"/>
          </a:p>
        </p:txBody>
      </p:sp>
      <p:sp>
        <p:nvSpPr>
          <p:cNvPr id="7" name="카드 텍스트"/>
          <p:cNvSpPr txBox="1"/>
          <p:nvPr/>
        </p:nvSpPr>
        <p:spPr>
          <a:xfrm>
            <a:off x="594360" y="1417320"/>
            <a:ext cx="2103120" cy="685800"/>
          </a:xfrm>
          <a:prstGeom prst="rect">
            <a:avLst/>
          </a:prstGeom>
          <a:noFill/>
          <a:ln/>
        </p:spPr>
        <p:txBody>
          <a:bodyPr wrap="square" lIns="0" tIns="0" rIns="0" bIns="0" rtlCol="0" anchor="ctr"/>
          <a:lstStyle/>
          <a:p>
            <a:pPr marL="0" indent="0" algn="l">
              <a:spcAft>
                <a:spcPts val="300"/>
              </a:spcAft>
              <a:buNone/>
            </a:pPr>
            <a:r>
              <a:rPr lang="en-US" sz="1400" b="1" dirty="0">
                <a:solidFill>
                  <a:srgbClr val="FFFFFF"/>
                </a:solidFill>
                <a:latin typeface="Malgun Gothic" pitchFamily="34" charset="0"/>
                <a:ea typeface="Malgun Gothic" pitchFamily="34" charset="-122"/>
                <a:cs typeface="Malgun Gothic" pitchFamily="34" charset="-120"/>
              </a:rPr>
              <a:t>Bronze</a:t>
            </a:r>
            <a:endParaRPr lang="en-US" sz="1400" dirty="0"/>
          </a:p>
          <a:p>
            <a:pPr marL="0" indent="0" algn="l">
              <a:spcAft>
                <a:spcPts val="300"/>
              </a:spcAft>
              <a:buNone/>
            </a:pPr>
            <a:r>
              <a:rPr lang="en-US" sz="1200" dirty="0">
                <a:solidFill>
                  <a:srgbClr val="FFFFFF"/>
                </a:solidFill>
                <a:latin typeface="Malgun Gothic" pitchFamily="34" charset="0"/>
                <a:ea typeface="Malgun Gothic" pitchFamily="34" charset="-122"/>
                <a:cs typeface="Malgun Gothic" pitchFamily="34" charset="-120"/>
              </a:rPr>
              <a:t>원본 보존</a:t>
            </a:r>
            <a:endParaRPr lang="en-US" sz="1400" dirty="0"/>
          </a:p>
        </p:txBody>
      </p:sp>
      <p:sp>
        <p:nvSpPr>
          <p:cNvPr id="8" name="화살표"/>
          <p:cNvSpPr/>
          <p:nvPr/>
        </p:nvSpPr>
        <p:spPr>
          <a:xfrm>
            <a:off x="2880360" y="1627632"/>
            <a:ext cx="365760" cy="274320"/>
          </a:xfrm>
          <a:prstGeom prst="rightArrow">
            <a:avLst/>
          </a:prstGeom>
          <a:solidFill>
            <a:srgbClr val="1B7566"/>
          </a:solidFill>
          <a:ln w="12700">
            <a:solidFill>
              <a:srgbClr val="1B7566"/>
            </a:solidFill>
            <a:prstDash val="solid"/>
          </a:ln>
        </p:spPr>
        <p:txBody>
          <a:bodyPr/>
          <a:lstStyle/>
          <a:p>
            <a:endParaRPr lang="ko-KR" altLang="en-US"/>
          </a:p>
        </p:txBody>
      </p:sp>
      <p:sp>
        <p:nvSpPr>
          <p:cNvPr id="9" name="카드"/>
          <p:cNvSpPr/>
          <p:nvPr/>
        </p:nvSpPr>
        <p:spPr>
          <a:xfrm>
            <a:off x="3291840" y="1417320"/>
            <a:ext cx="2377440" cy="685800"/>
          </a:xfrm>
          <a:prstGeom prst="roundRect">
            <a:avLst>
              <a:gd name="adj" fmla="val 10667"/>
            </a:avLst>
          </a:prstGeom>
          <a:solidFill>
            <a:srgbClr val="1B7566"/>
          </a:solidFill>
          <a:ln w="12700">
            <a:solidFill>
              <a:srgbClr val="1B7566"/>
            </a:solidFill>
            <a:prstDash val="solid"/>
          </a:ln>
        </p:spPr>
        <p:txBody>
          <a:bodyPr/>
          <a:lstStyle/>
          <a:p>
            <a:endParaRPr lang="ko-KR" altLang="en-US"/>
          </a:p>
        </p:txBody>
      </p:sp>
      <p:sp>
        <p:nvSpPr>
          <p:cNvPr id="10" name="카드 텍스트"/>
          <p:cNvSpPr txBox="1"/>
          <p:nvPr/>
        </p:nvSpPr>
        <p:spPr>
          <a:xfrm>
            <a:off x="3429000" y="1417320"/>
            <a:ext cx="2103120" cy="685800"/>
          </a:xfrm>
          <a:prstGeom prst="rect">
            <a:avLst/>
          </a:prstGeom>
          <a:noFill/>
          <a:ln/>
        </p:spPr>
        <p:txBody>
          <a:bodyPr wrap="square" lIns="0" tIns="0" rIns="0" bIns="0" rtlCol="0" anchor="ctr"/>
          <a:lstStyle/>
          <a:p>
            <a:pPr marL="0" indent="0" algn="l">
              <a:spcAft>
                <a:spcPts val="300"/>
              </a:spcAft>
              <a:buNone/>
            </a:pPr>
            <a:r>
              <a:rPr lang="en-US" sz="1400" b="1" dirty="0">
                <a:solidFill>
                  <a:srgbClr val="FFFFFF"/>
                </a:solidFill>
                <a:latin typeface="Malgun Gothic" pitchFamily="34" charset="0"/>
                <a:ea typeface="Malgun Gothic" pitchFamily="34" charset="-122"/>
                <a:cs typeface="Malgun Gothic" pitchFamily="34" charset="-120"/>
              </a:rPr>
              <a:t>Silver</a:t>
            </a:r>
            <a:endParaRPr lang="en-US" sz="1400" dirty="0"/>
          </a:p>
          <a:p>
            <a:pPr marL="0" indent="0" algn="l">
              <a:spcAft>
                <a:spcPts val="300"/>
              </a:spcAft>
              <a:buNone/>
            </a:pPr>
            <a:r>
              <a:rPr lang="en-US" sz="1200" dirty="0">
                <a:solidFill>
                  <a:srgbClr val="FFFFFF"/>
                </a:solidFill>
                <a:latin typeface="Malgun Gothic" pitchFamily="34" charset="0"/>
                <a:ea typeface="Malgun Gothic" pitchFamily="34" charset="-122"/>
                <a:cs typeface="Malgun Gothic" pitchFamily="34" charset="-120"/>
              </a:rPr>
              <a:t>표준화·분리</a:t>
            </a:r>
            <a:endParaRPr lang="en-US" sz="1400" dirty="0"/>
          </a:p>
        </p:txBody>
      </p:sp>
      <p:sp>
        <p:nvSpPr>
          <p:cNvPr id="11" name="화살표"/>
          <p:cNvSpPr/>
          <p:nvPr/>
        </p:nvSpPr>
        <p:spPr>
          <a:xfrm>
            <a:off x="5715000" y="1627632"/>
            <a:ext cx="365760" cy="274320"/>
          </a:xfrm>
          <a:prstGeom prst="rightArrow">
            <a:avLst/>
          </a:prstGeom>
          <a:solidFill>
            <a:srgbClr val="1B7566"/>
          </a:solidFill>
          <a:ln w="12700">
            <a:solidFill>
              <a:srgbClr val="1B7566"/>
            </a:solidFill>
            <a:prstDash val="solid"/>
          </a:ln>
        </p:spPr>
        <p:txBody>
          <a:bodyPr/>
          <a:lstStyle/>
          <a:p>
            <a:endParaRPr lang="ko-KR" altLang="en-US"/>
          </a:p>
        </p:txBody>
      </p:sp>
      <p:sp>
        <p:nvSpPr>
          <p:cNvPr id="12" name="카드"/>
          <p:cNvSpPr/>
          <p:nvPr/>
        </p:nvSpPr>
        <p:spPr>
          <a:xfrm>
            <a:off x="6126480" y="1417320"/>
            <a:ext cx="2377440" cy="685800"/>
          </a:xfrm>
          <a:prstGeom prst="roundRect">
            <a:avLst>
              <a:gd name="adj" fmla="val 10667"/>
            </a:avLst>
          </a:prstGeom>
          <a:solidFill>
            <a:srgbClr val="12433A"/>
          </a:solidFill>
          <a:ln w="12700">
            <a:solidFill>
              <a:srgbClr val="12433A"/>
            </a:solidFill>
            <a:prstDash val="solid"/>
          </a:ln>
        </p:spPr>
        <p:txBody>
          <a:bodyPr/>
          <a:lstStyle/>
          <a:p>
            <a:endParaRPr lang="ko-KR" altLang="en-US"/>
          </a:p>
        </p:txBody>
      </p:sp>
      <p:sp>
        <p:nvSpPr>
          <p:cNvPr id="13" name="카드 텍스트"/>
          <p:cNvSpPr txBox="1"/>
          <p:nvPr/>
        </p:nvSpPr>
        <p:spPr>
          <a:xfrm>
            <a:off x="6263640" y="1417320"/>
            <a:ext cx="2103120" cy="685800"/>
          </a:xfrm>
          <a:prstGeom prst="rect">
            <a:avLst/>
          </a:prstGeom>
          <a:noFill/>
          <a:ln/>
        </p:spPr>
        <p:txBody>
          <a:bodyPr wrap="square" lIns="0" tIns="0" rIns="0" bIns="0" rtlCol="0" anchor="ctr"/>
          <a:lstStyle/>
          <a:p>
            <a:pPr marL="0" indent="0" algn="l">
              <a:spcAft>
                <a:spcPts val="300"/>
              </a:spcAft>
              <a:buNone/>
            </a:pPr>
            <a:r>
              <a:rPr lang="en-US" sz="1400" b="1" dirty="0">
                <a:solidFill>
                  <a:srgbClr val="FFFFFF"/>
                </a:solidFill>
                <a:latin typeface="Malgun Gothic" pitchFamily="34" charset="0"/>
                <a:ea typeface="Malgun Gothic" pitchFamily="34" charset="-122"/>
                <a:cs typeface="Malgun Gothic" pitchFamily="34" charset="-120"/>
              </a:rPr>
              <a:t>Gold</a:t>
            </a:r>
            <a:endParaRPr lang="en-US" sz="1400" dirty="0"/>
          </a:p>
          <a:p>
            <a:pPr marL="0" indent="0" algn="l">
              <a:spcAft>
                <a:spcPts val="300"/>
              </a:spcAft>
              <a:buNone/>
            </a:pPr>
            <a:r>
              <a:rPr lang="en-US" sz="1200" dirty="0">
                <a:solidFill>
                  <a:srgbClr val="FFFFFF"/>
                </a:solidFill>
                <a:latin typeface="Malgun Gothic" pitchFamily="34" charset="0"/>
                <a:ea typeface="Malgun Gothic" pitchFamily="34" charset="-122"/>
                <a:cs typeface="Malgun Gothic" pitchFamily="34" charset="-120"/>
              </a:rPr>
              <a:t>분석 집계</a:t>
            </a:r>
            <a:endParaRPr lang="en-US" sz="1400" dirty="0"/>
          </a:p>
        </p:txBody>
      </p:sp>
      <p:sp>
        <p:nvSpPr>
          <p:cNvPr id="14" name="대사 카드"/>
          <p:cNvSpPr/>
          <p:nvPr/>
        </p:nvSpPr>
        <p:spPr>
          <a:xfrm>
            <a:off x="457200" y="2331720"/>
            <a:ext cx="1828800" cy="777240"/>
          </a:xfrm>
          <a:prstGeom prst="roundRect">
            <a:avLst>
              <a:gd name="adj" fmla="val 9412"/>
            </a:avLst>
          </a:prstGeom>
          <a:solidFill>
            <a:srgbClr val="E8F2EE"/>
          </a:solidFill>
          <a:ln w="12700">
            <a:solidFill>
              <a:srgbClr val="E8F2EE"/>
            </a:solidFill>
            <a:prstDash val="solid"/>
          </a:ln>
        </p:spPr>
        <p:txBody>
          <a:bodyPr/>
          <a:lstStyle/>
          <a:p>
            <a:endParaRPr lang="ko-KR" altLang="en-US"/>
          </a:p>
        </p:txBody>
      </p:sp>
      <p:sp>
        <p:nvSpPr>
          <p:cNvPr id="15" name="대사 수치"/>
          <p:cNvSpPr txBox="1"/>
          <p:nvPr/>
        </p:nvSpPr>
        <p:spPr>
          <a:xfrm>
            <a:off x="457200" y="2331720"/>
            <a:ext cx="1828800" cy="777240"/>
          </a:xfrm>
          <a:prstGeom prst="rect">
            <a:avLst/>
          </a:prstGeom>
          <a:noFill/>
          <a:ln/>
        </p:spPr>
        <p:txBody>
          <a:bodyPr wrap="square" lIns="0" tIns="0" rIns="0" bIns="0" rtlCol="0" anchor="ctr"/>
          <a:lstStyle/>
          <a:p>
            <a:pPr marL="0" indent="0" algn="ctr">
              <a:buNone/>
            </a:pPr>
            <a:r>
              <a:rPr lang="en-US" sz="2000" b="1" dirty="0">
                <a:solidFill>
                  <a:srgbClr val="12433A"/>
                </a:solidFill>
                <a:latin typeface="Malgun Gothic" pitchFamily="34" charset="0"/>
                <a:ea typeface="Malgun Gothic" pitchFamily="34" charset="-122"/>
                <a:cs typeface="Malgun Gothic" pitchFamily="34" charset="-120"/>
              </a:rPr>
              <a:t>335,000</a:t>
            </a:r>
            <a:endParaRPr lang="en-US" sz="2000" dirty="0"/>
          </a:p>
          <a:p>
            <a:pPr marL="0" indent="0" algn="ctr">
              <a:buNone/>
            </a:pPr>
            <a:r>
              <a:rPr lang="en-US" sz="1100" dirty="0">
                <a:solidFill>
                  <a:srgbClr val="1F2D2A"/>
                </a:solidFill>
                <a:latin typeface="Malgun Gothic" pitchFamily="34" charset="0"/>
                <a:ea typeface="Malgun Gothic" pitchFamily="34" charset="-122"/>
                <a:cs typeface="Malgun Gothic" pitchFamily="34" charset="-120"/>
              </a:rPr>
              <a:t>처리 대상</a:t>
            </a:r>
            <a:endParaRPr lang="en-US" sz="2000" dirty="0"/>
          </a:p>
        </p:txBody>
      </p:sp>
      <p:sp>
        <p:nvSpPr>
          <p:cNvPr id="16" name="연산 기호"/>
          <p:cNvSpPr txBox="1"/>
          <p:nvPr/>
        </p:nvSpPr>
        <p:spPr>
          <a:xfrm>
            <a:off x="2267712" y="2331720"/>
            <a:ext cx="493776" cy="777240"/>
          </a:xfrm>
          <a:prstGeom prst="rect">
            <a:avLst/>
          </a:prstGeom>
          <a:noFill/>
          <a:ln/>
        </p:spPr>
        <p:txBody>
          <a:bodyPr wrap="square" lIns="0" tIns="0" rIns="0" bIns="0" rtlCol="0" anchor="ctr"/>
          <a:lstStyle/>
          <a:p>
            <a:pPr marL="0" indent="0" algn="ctr">
              <a:buNone/>
            </a:pPr>
            <a:r>
              <a:rPr lang="en-US" sz="2000" b="1" dirty="0">
                <a:solidFill>
                  <a:srgbClr val="12433A"/>
                </a:solidFill>
                <a:latin typeface="Malgun Gothic" pitchFamily="34" charset="0"/>
                <a:ea typeface="Malgun Gothic" pitchFamily="34" charset="-122"/>
                <a:cs typeface="Malgun Gothic" pitchFamily="34" charset="-120"/>
              </a:rPr>
              <a:t>=</a:t>
            </a:r>
            <a:endParaRPr lang="en-US" sz="2000" dirty="0"/>
          </a:p>
        </p:txBody>
      </p:sp>
      <p:sp>
        <p:nvSpPr>
          <p:cNvPr id="17" name="대사 카드"/>
          <p:cNvSpPr/>
          <p:nvPr/>
        </p:nvSpPr>
        <p:spPr>
          <a:xfrm>
            <a:off x="2743200" y="2331720"/>
            <a:ext cx="1691640" cy="777240"/>
          </a:xfrm>
          <a:prstGeom prst="roundRect">
            <a:avLst>
              <a:gd name="adj" fmla="val 9412"/>
            </a:avLst>
          </a:prstGeom>
          <a:solidFill>
            <a:srgbClr val="E8F2EE"/>
          </a:solidFill>
          <a:ln w="12700">
            <a:solidFill>
              <a:srgbClr val="E8F2EE"/>
            </a:solidFill>
            <a:prstDash val="solid"/>
          </a:ln>
        </p:spPr>
        <p:txBody>
          <a:bodyPr/>
          <a:lstStyle/>
          <a:p>
            <a:endParaRPr lang="ko-KR" altLang="en-US"/>
          </a:p>
        </p:txBody>
      </p:sp>
      <p:sp>
        <p:nvSpPr>
          <p:cNvPr id="18" name="대사 수치"/>
          <p:cNvSpPr txBox="1"/>
          <p:nvPr/>
        </p:nvSpPr>
        <p:spPr>
          <a:xfrm>
            <a:off x="2743200" y="2331720"/>
            <a:ext cx="1691640" cy="777240"/>
          </a:xfrm>
          <a:prstGeom prst="rect">
            <a:avLst/>
          </a:prstGeom>
          <a:noFill/>
          <a:ln/>
        </p:spPr>
        <p:txBody>
          <a:bodyPr wrap="square" lIns="0" tIns="0" rIns="0" bIns="0" rtlCol="0" anchor="ctr"/>
          <a:lstStyle/>
          <a:p>
            <a:pPr marL="0" indent="0" algn="ctr">
              <a:buNone/>
            </a:pPr>
            <a:r>
              <a:rPr lang="en-US" sz="2000" b="1" dirty="0">
                <a:solidFill>
                  <a:srgbClr val="1B7566"/>
                </a:solidFill>
                <a:latin typeface="Malgun Gothic" pitchFamily="34" charset="0"/>
                <a:ea typeface="Malgun Gothic" pitchFamily="34" charset="-122"/>
                <a:cs typeface="Malgun Gothic" pitchFamily="34" charset="-120"/>
              </a:rPr>
              <a:t>271,787</a:t>
            </a:r>
            <a:endParaRPr lang="en-US" sz="2000" dirty="0"/>
          </a:p>
          <a:p>
            <a:pPr marL="0" indent="0" algn="ctr">
              <a:buNone/>
            </a:pPr>
            <a:r>
              <a:rPr lang="en-US" sz="1100" dirty="0">
                <a:solidFill>
                  <a:srgbClr val="1F2D2A"/>
                </a:solidFill>
                <a:latin typeface="Malgun Gothic" pitchFamily="34" charset="0"/>
                <a:ea typeface="Malgun Gothic" pitchFamily="34" charset="-122"/>
                <a:cs typeface="Malgun Gothic" pitchFamily="34" charset="-120"/>
              </a:rPr>
              <a:t>정상</a:t>
            </a:r>
            <a:endParaRPr lang="en-US" sz="2000" dirty="0"/>
          </a:p>
        </p:txBody>
      </p:sp>
      <p:sp>
        <p:nvSpPr>
          <p:cNvPr id="19" name="연산 기호"/>
          <p:cNvSpPr txBox="1"/>
          <p:nvPr/>
        </p:nvSpPr>
        <p:spPr>
          <a:xfrm>
            <a:off x="4416552" y="2331720"/>
            <a:ext cx="493776" cy="777240"/>
          </a:xfrm>
          <a:prstGeom prst="rect">
            <a:avLst/>
          </a:prstGeom>
          <a:noFill/>
          <a:ln/>
        </p:spPr>
        <p:txBody>
          <a:bodyPr wrap="square" lIns="0" tIns="0" rIns="0" bIns="0" rtlCol="0" anchor="ctr"/>
          <a:lstStyle/>
          <a:p>
            <a:pPr marL="0" indent="0" algn="ctr">
              <a:buNone/>
            </a:pPr>
            <a:r>
              <a:rPr lang="en-US" sz="2000" b="1" dirty="0">
                <a:solidFill>
                  <a:srgbClr val="12433A"/>
                </a:solidFill>
                <a:latin typeface="Malgun Gothic" pitchFamily="34" charset="0"/>
                <a:ea typeface="Malgun Gothic" pitchFamily="34" charset="-122"/>
                <a:cs typeface="Malgun Gothic" pitchFamily="34" charset="-120"/>
              </a:rPr>
              <a:t>+</a:t>
            </a:r>
            <a:endParaRPr lang="en-US" sz="2000" dirty="0"/>
          </a:p>
        </p:txBody>
      </p:sp>
      <p:sp>
        <p:nvSpPr>
          <p:cNvPr id="20" name="대사 카드"/>
          <p:cNvSpPr/>
          <p:nvPr/>
        </p:nvSpPr>
        <p:spPr>
          <a:xfrm>
            <a:off x="4892040" y="2331720"/>
            <a:ext cx="1417320" cy="777240"/>
          </a:xfrm>
          <a:prstGeom prst="roundRect">
            <a:avLst>
              <a:gd name="adj" fmla="val 9412"/>
            </a:avLst>
          </a:prstGeom>
          <a:solidFill>
            <a:srgbClr val="E8F2EE"/>
          </a:solidFill>
          <a:ln w="12700">
            <a:solidFill>
              <a:srgbClr val="E8F2EE"/>
            </a:solidFill>
            <a:prstDash val="solid"/>
          </a:ln>
        </p:spPr>
        <p:txBody>
          <a:bodyPr/>
          <a:lstStyle/>
          <a:p>
            <a:endParaRPr lang="ko-KR" altLang="en-US"/>
          </a:p>
        </p:txBody>
      </p:sp>
      <p:sp>
        <p:nvSpPr>
          <p:cNvPr id="21" name="대사 수치"/>
          <p:cNvSpPr txBox="1"/>
          <p:nvPr/>
        </p:nvSpPr>
        <p:spPr>
          <a:xfrm>
            <a:off x="4892040" y="2331720"/>
            <a:ext cx="1417320" cy="777240"/>
          </a:xfrm>
          <a:prstGeom prst="rect">
            <a:avLst/>
          </a:prstGeom>
          <a:noFill/>
          <a:ln/>
        </p:spPr>
        <p:txBody>
          <a:bodyPr wrap="square" lIns="0" tIns="0" rIns="0" bIns="0" rtlCol="0" anchor="ctr"/>
          <a:lstStyle/>
          <a:p>
            <a:pPr marL="0" indent="0" algn="ctr">
              <a:buNone/>
            </a:pPr>
            <a:r>
              <a:rPr lang="en-US" sz="2000" b="1" dirty="0">
                <a:solidFill>
                  <a:srgbClr val="1B7566"/>
                </a:solidFill>
                <a:latin typeface="Malgun Gothic" pitchFamily="34" charset="0"/>
                <a:ea typeface="Malgun Gothic" pitchFamily="34" charset="-122"/>
                <a:cs typeface="Malgun Gothic" pitchFamily="34" charset="-120"/>
              </a:rPr>
              <a:t>33,854</a:t>
            </a:r>
            <a:endParaRPr lang="en-US" sz="2000" dirty="0"/>
          </a:p>
          <a:p>
            <a:pPr marL="0" indent="0" algn="ctr">
              <a:buNone/>
            </a:pPr>
            <a:r>
              <a:rPr lang="en-US" sz="1100" dirty="0">
                <a:solidFill>
                  <a:srgbClr val="1F2D2A"/>
                </a:solidFill>
                <a:latin typeface="Malgun Gothic" pitchFamily="34" charset="0"/>
                <a:ea typeface="Malgun Gothic" pitchFamily="34" charset="-122"/>
                <a:cs typeface="Malgun Gothic" pitchFamily="34" charset="-120"/>
              </a:rPr>
              <a:t>격리</a:t>
            </a:r>
            <a:endParaRPr lang="en-US" sz="2000" dirty="0"/>
          </a:p>
        </p:txBody>
      </p:sp>
      <p:sp>
        <p:nvSpPr>
          <p:cNvPr id="22" name="연산 기호"/>
          <p:cNvSpPr txBox="1"/>
          <p:nvPr/>
        </p:nvSpPr>
        <p:spPr>
          <a:xfrm>
            <a:off x="6291072" y="2331720"/>
            <a:ext cx="493776" cy="777240"/>
          </a:xfrm>
          <a:prstGeom prst="rect">
            <a:avLst/>
          </a:prstGeom>
          <a:noFill/>
          <a:ln/>
        </p:spPr>
        <p:txBody>
          <a:bodyPr wrap="square" lIns="0" tIns="0" rIns="0" bIns="0" rtlCol="0" anchor="ctr"/>
          <a:lstStyle/>
          <a:p>
            <a:pPr marL="0" indent="0" algn="ctr">
              <a:buNone/>
            </a:pPr>
            <a:r>
              <a:rPr lang="en-US" sz="2000" b="1" dirty="0">
                <a:solidFill>
                  <a:srgbClr val="12433A"/>
                </a:solidFill>
                <a:latin typeface="Malgun Gothic" pitchFamily="34" charset="0"/>
                <a:ea typeface="Malgun Gothic" pitchFamily="34" charset="-122"/>
                <a:cs typeface="Malgun Gothic" pitchFamily="34" charset="-120"/>
              </a:rPr>
              <a:t>+</a:t>
            </a:r>
            <a:endParaRPr lang="en-US" sz="2000" dirty="0"/>
          </a:p>
        </p:txBody>
      </p:sp>
      <p:sp>
        <p:nvSpPr>
          <p:cNvPr id="23" name="대사 카드"/>
          <p:cNvSpPr/>
          <p:nvPr/>
        </p:nvSpPr>
        <p:spPr>
          <a:xfrm>
            <a:off x="6766560" y="2331720"/>
            <a:ext cx="1920240" cy="777240"/>
          </a:xfrm>
          <a:prstGeom prst="roundRect">
            <a:avLst>
              <a:gd name="adj" fmla="val 9412"/>
            </a:avLst>
          </a:prstGeom>
          <a:solidFill>
            <a:srgbClr val="E8F2EE"/>
          </a:solidFill>
          <a:ln w="12700">
            <a:solidFill>
              <a:srgbClr val="E8F2EE"/>
            </a:solidFill>
            <a:prstDash val="solid"/>
          </a:ln>
        </p:spPr>
        <p:txBody>
          <a:bodyPr/>
          <a:lstStyle/>
          <a:p>
            <a:endParaRPr lang="ko-KR" altLang="en-US"/>
          </a:p>
        </p:txBody>
      </p:sp>
      <p:sp>
        <p:nvSpPr>
          <p:cNvPr id="24" name="대사 수치"/>
          <p:cNvSpPr txBox="1"/>
          <p:nvPr/>
        </p:nvSpPr>
        <p:spPr>
          <a:xfrm>
            <a:off x="6766560" y="2331720"/>
            <a:ext cx="1920240" cy="777240"/>
          </a:xfrm>
          <a:prstGeom prst="rect">
            <a:avLst/>
          </a:prstGeom>
          <a:noFill/>
          <a:ln/>
        </p:spPr>
        <p:txBody>
          <a:bodyPr wrap="square" lIns="0" tIns="0" rIns="0" bIns="0" rtlCol="0" anchor="ctr"/>
          <a:lstStyle/>
          <a:p>
            <a:pPr marL="0" indent="0" algn="ctr">
              <a:buNone/>
            </a:pPr>
            <a:r>
              <a:rPr lang="en-US" sz="2000" b="1" dirty="0">
                <a:solidFill>
                  <a:srgbClr val="1B7566"/>
                </a:solidFill>
                <a:latin typeface="Malgun Gothic" pitchFamily="34" charset="0"/>
                <a:ea typeface="Malgun Gothic" pitchFamily="34" charset="-122"/>
                <a:cs typeface="Malgun Gothic" pitchFamily="34" charset="-120"/>
              </a:rPr>
              <a:t>29,359</a:t>
            </a:r>
            <a:endParaRPr lang="en-US" sz="2000" dirty="0"/>
          </a:p>
          <a:p>
            <a:pPr marL="0" indent="0" algn="ctr">
              <a:buNone/>
            </a:pPr>
            <a:r>
              <a:rPr lang="en-US" sz="1100" dirty="0">
                <a:solidFill>
                  <a:srgbClr val="1F2D2A"/>
                </a:solidFill>
                <a:latin typeface="Malgun Gothic" pitchFamily="34" charset="0"/>
                <a:ea typeface="Malgun Gothic" pitchFamily="34" charset="-122"/>
                <a:cs typeface="Malgun Gothic" pitchFamily="34" charset="-120"/>
              </a:rPr>
              <a:t>제외·보관</a:t>
            </a:r>
            <a:endParaRPr lang="en-US" sz="2000" dirty="0"/>
          </a:p>
        </p:txBody>
      </p:sp>
      <p:sp>
        <p:nvSpPr>
          <p:cNvPr id="25" name="본문"/>
          <p:cNvSpPr txBox="1"/>
          <p:nvPr/>
        </p:nvSpPr>
        <p:spPr>
          <a:xfrm>
            <a:off x="457200" y="3337560"/>
            <a:ext cx="4114800" cy="1371600"/>
          </a:xfrm>
          <a:prstGeom prst="rect">
            <a:avLst/>
          </a:prstGeom>
          <a:noFill/>
          <a:ln/>
        </p:spPr>
        <p:txBody>
          <a:bodyPr wrap="square" lIns="0" tIns="0" rIns="0" bIns="0" rtlCol="0" anchor="t"/>
          <a:lstStyle/>
          <a:p>
            <a:pPr marL="342900" indent="-342900">
              <a:lnSpc>
                <a:spcPct val="150000"/>
              </a:lnSpc>
              <a:spcAft>
                <a:spcPts val="600"/>
              </a:spcAft>
              <a:buSzPct val="100000"/>
              <a:buChar char="•"/>
            </a:pPr>
            <a:r>
              <a:rPr lang="en-US" sz="1300" dirty="0">
                <a:solidFill>
                  <a:srgbClr val="1F2D2A"/>
                </a:solidFill>
                <a:latin typeface="Malgun Gothic" pitchFamily="34" charset="0"/>
                <a:ea typeface="Malgun Gothic" pitchFamily="34" charset="-122"/>
                <a:cs typeface="Malgun Gothic" pitchFamily="34" charset="-120"/>
              </a:rPr>
              <a:t>제외·보관 29,359 = 동일 중복 9,598 + 이전 개정본 19,761 (전부 오류 삭제가 아님)</a:t>
            </a:r>
            <a:endParaRPr lang="en-US" sz="1300" dirty="0"/>
          </a:p>
          <a:p>
            <a:pPr marL="342900" indent="-342900">
              <a:lnSpc>
                <a:spcPct val="150000"/>
              </a:lnSpc>
              <a:spcAft>
                <a:spcPts val="600"/>
              </a:spcAft>
              <a:buSzPct val="100000"/>
              <a:buChar char="•"/>
            </a:pPr>
            <a:r>
              <a:rPr lang="en-US" sz="1300" dirty="0">
                <a:solidFill>
                  <a:srgbClr val="1F2D2A"/>
                </a:solidFill>
                <a:latin typeface="Malgun Gothic" pitchFamily="34" charset="0"/>
                <a:ea typeface="Malgun Gothic" pitchFamily="34" charset="-122"/>
                <a:cs typeface="Malgun Gothic" pitchFamily="34" charset="-120"/>
              </a:rPr>
              <a:t>품질 점검: 14개 통과 · 1개 미검증 · 1개 상대팀 기준 차이 기록</a:t>
            </a:r>
            <a:endParaRPr lang="en-US" sz="1300" dirty="0"/>
          </a:p>
        </p:txBody>
      </p:sp>
      <p:sp>
        <p:nvSpPr>
          <p:cNvPr id="28"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F6F6B"/>
                </a:solidFill>
                <a:latin typeface="Malgun Gothic"/>
                <a:ea typeface="Malgun Gothic"/>
                <a:cs typeface="Malgun Gothic"/>
              </a:defRPr>
            </a:lvl1pPr>
          </a:lstStyle>
          <a:p>
            <a:pPr algn="r"/>
            <a:fld id="{F7021451-1387-4CA6-816F-3879F97B5CBC}" type="slidenum">
              <a:rPr lang="en-US" b="0"/>
              <a:t>5</a:t>
            </a:fld>
            <a:endParaRPr lang="en-US"/>
          </a:p>
        </p:txBody>
      </p:sp>
      <p:pic>
        <p:nvPicPr>
          <p:cNvPr id="30" name="그림 29">
            <a:extLst>
              <a:ext uri="{FF2B5EF4-FFF2-40B4-BE49-F238E27FC236}">
                <a16:creationId xmlns:a16="http://schemas.microsoft.com/office/drawing/2014/main" id="{CB0B8FC2-33D9-AE8F-14BC-A1C0744094C4}"/>
              </a:ext>
            </a:extLst>
          </p:cNvPr>
          <p:cNvPicPr>
            <a:picLocks noChangeAspect="1"/>
          </p:cNvPicPr>
          <p:nvPr/>
        </p:nvPicPr>
        <p:blipFill>
          <a:blip r:embed="rId3"/>
          <a:stretch>
            <a:fillRect/>
          </a:stretch>
        </p:blipFill>
        <p:spPr>
          <a:xfrm>
            <a:off x="5095578" y="3291343"/>
            <a:ext cx="3378539" cy="146403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번호 원"/>
          <p:cNvSpPr/>
          <p:nvPr/>
        </p:nvSpPr>
        <p:spPr>
          <a:xfrm>
            <a:off x="457200" y="347472"/>
            <a:ext cx="457200" cy="457200"/>
          </a:xfrm>
          <a:prstGeom prst="ellipse">
            <a:avLst/>
          </a:prstGeom>
          <a:solidFill>
            <a:srgbClr val="1B7566"/>
          </a:solidFill>
          <a:ln w="12700">
            <a:solidFill>
              <a:srgbClr val="1B7566"/>
            </a:solidFill>
            <a:prstDash val="solid"/>
          </a:ln>
        </p:spPr>
        <p:txBody>
          <a:bodyPr/>
          <a:lstStyle/>
          <a:p>
            <a:endParaRPr lang="ko-KR" altLang="en-US"/>
          </a:p>
        </p:txBody>
      </p:sp>
      <p:sp>
        <p:nvSpPr>
          <p:cNvPr id="3" name="번호"/>
          <p:cNvSpPr txBox="1"/>
          <p:nvPr/>
        </p:nvSpPr>
        <p:spPr>
          <a:xfrm>
            <a:off x="457200" y="34747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6</a:t>
            </a:r>
            <a:endParaRPr lang="en-US" sz="1400" dirty="0"/>
          </a:p>
        </p:txBody>
      </p:sp>
      <p:sp>
        <p:nvSpPr>
          <p:cNvPr id="4" name="제목"/>
          <p:cNvSpPr txBox="1"/>
          <p:nvPr/>
        </p:nvSpPr>
        <p:spPr>
          <a:xfrm>
            <a:off x="1051560" y="274320"/>
            <a:ext cx="7635240" cy="594360"/>
          </a:xfrm>
          <a:prstGeom prst="rect">
            <a:avLst/>
          </a:prstGeom>
          <a:noFill/>
          <a:ln/>
        </p:spPr>
        <p:txBody>
          <a:bodyPr wrap="square" lIns="0" tIns="0" rIns="0" bIns="0" rtlCol="0" anchor="ctr"/>
          <a:lstStyle/>
          <a:p>
            <a:pPr marL="0" indent="0">
              <a:buNone/>
            </a:pPr>
            <a:r>
              <a:rPr lang="en-US" sz="2400" b="1" dirty="0">
                <a:solidFill>
                  <a:srgbClr val="12433A"/>
                </a:solidFill>
                <a:latin typeface="Malgun Gothic" pitchFamily="34" charset="0"/>
                <a:ea typeface="Malgun Gothic" pitchFamily="34" charset="-122"/>
                <a:cs typeface="Malgun Gothic" pitchFamily="34" charset="-120"/>
              </a:rPr>
              <a:t>컨설팅 상황과 우리의 역할</a:t>
            </a:r>
            <a:endParaRPr lang="en-US" sz="2400" dirty="0"/>
          </a:p>
        </p:txBody>
      </p:sp>
      <p:sp>
        <p:nvSpPr>
          <p:cNvPr id="5" name="핵심 메시지"/>
          <p:cNvSpPr txBox="1"/>
          <p:nvPr/>
        </p:nvSpPr>
        <p:spPr>
          <a:xfrm>
            <a:off x="457200" y="896112"/>
            <a:ext cx="8229600" cy="365760"/>
          </a:xfrm>
          <a:prstGeom prst="rect">
            <a:avLst/>
          </a:prstGeom>
          <a:noFill/>
          <a:ln/>
        </p:spPr>
        <p:txBody>
          <a:bodyPr wrap="square" lIns="0" tIns="0" rIns="0" bIns="0" rtlCol="0" anchor="ctr"/>
          <a:lstStyle/>
          <a:p>
            <a:pPr marL="0" indent="0">
              <a:buNone/>
            </a:pPr>
            <a:r>
              <a:rPr lang="en-US" sz="1400" dirty="0">
                <a:solidFill>
                  <a:srgbClr val="5F6F6B"/>
                </a:solidFill>
                <a:latin typeface="Malgun Gothic" pitchFamily="34" charset="0"/>
                <a:ea typeface="Malgun Gothic" pitchFamily="34" charset="-122"/>
                <a:cs typeface="Malgun Gothic" pitchFamily="34" charset="-120"/>
              </a:rPr>
              <a:t>우리는 검수 플랫폼의 운영 개선을 의뢰받은 데이터 컨설팅팀이다</a:t>
            </a:r>
            <a:endParaRPr lang="en-US" sz="1400" dirty="0"/>
          </a:p>
        </p:txBody>
      </p:sp>
      <p:sp>
        <p:nvSpPr>
          <p:cNvPr id="6" name="카드"/>
          <p:cNvSpPr/>
          <p:nvPr/>
        </p:nvSpPr>
        <p:spPr>
          <a:xfrm>
            <a:off x="457200" y="1463040"/>
            <a:ext cx="3931920" cy="1325880"/>
          </a:xfrm>
          <a:prstGeom prst="roundRect">
            <a:avLst>
              <a:gd name="adj" fmla="val 5517"/>
            </a:avLst>
          </a:prstGeom>
          <a:solidFill>
            <a:srgbClr val="E8F2EE"/>
          </a:solidFill>
          <a:ln w="12700">
            <a:solidFill>
              <a:srgbClr val="E8F2EE"/>
            </a:solidFill>
            <a:prstDash val="solid"/>
          </a:ln>
        </p:spPr>
        <p:txBody>
          <a:bodyPr/>
          <a:lstStyle/>
          <a:p>
            <a:endParaRPr lang="ko-KR" altLang="en-US"/>
          </a:p>
        </p:txBody>
      </p:sp>
      <p:sp>
        <p:nvSpPr>
          <p:cNvPr id="7" name="카드 텍스트"/>
          <p:cNvSpPr txBox="1"/>
          <p:nvPr/>
        </p:nvSpPr>
        <p:spPr>
          <a:xfrm>
            <a:off x="594360" y="1463040"/>
            <a:ext cx="3657600" cy="1325880"/>
          </a:xfrm>
          <a:prstGeom prst="rect">
            <a:avLst/>
          </a:prstGeom>
          <a:noFill/>
          <a:ln/>
        </p:spPr>
        <p:txBody>
          <a:bodyPr wrap="square" lIns="0" tIns="0" rIns="0" bIns="0" rtlCol="0" anchor="ctr"/>
          <a:lstStyle/>
          <a:p>
            <a:pPr marL="0" indent="0" algn="l">
              <a:spcAft>
                <a:spcPts val="300"/>
              </a:spcAft>
              <a:buNone/>
            </a:pPr>
            <a:r>
              <a:rPr lang="en-US" sz="1500" b="1" dirty="0">
                <a:solidFill>
                  <a:srgbClr val="12433A"/>
                </a:solidFill>
                <a:latin typeface="Malgun Gothic" pitchFamily="34" charset="0"/>
                <a:ea typeface="Malgun Gothic" pitchFamily="34" charset="-122"/>
                <a:cs typeface="Malgun Gothic" pitchFamily="34" charset="-120"/>
              </a:rPr>
              <a:t>경영진의 운영 개선 요청</a:t>
            </a:r>
            <a:endParaRPr lang="en-US" sz="1500" dirty="0"/>
          </a:p>
          <a:p>
            <a:pPr marL="0" indent="0" algn="l">
              <a:spcAft>
                <a:spcPts val="300"/>
              </a:spcAft>
              <a:buNone/>
            </a:pPr>
            <a:r>
              <a:rPr lang="en-US" sz="1300" dirty="0">
                <a:solidFill>
                  <a:srgbClr val="1F2D2A"/>
                </a:solidFill>
                <a:latin typeface="Malgun Gothic" pitchFamily="34" charset="0"/>
                <a:ea typeface="Malgun Gothic" pitchFamily="34" charset="-122"/>
                <a:cs typeface="Malgun Gothic" pitchFamily="34" charset="-120"/>
              </a:rPr>
              <a:t>“검수 운영 데이터를 근거로 </a:t>
            </a:r>
            <a:r>
              <a:rPr lang="en-US" sz="1300" dirty="0" err="1">
                <a:solidFill>
                  <a:srgbClr val="1F2D2A"/>
                </a:solidFill>
                <a:latin typeface="Malgun Gothic" pitchFamily="34" charset="0"/>
                <a:ea typeface="Malgun Gothic" pitchFamily="34" charset="-122"/>
                <a:cs typeface="Malgun Gothic" pitchFamily="34" charset="-120"/>
              </a:rPr>
              <a:t>개선</a:t>
            </a:r>
            <a:r>
              <a:rPr lang="en-US" sz="1300" dirty="0">
                <a:solidFill>
                  <a:srgbClr val="1F2D2A"/>
                </a:solidFill>
                <a:latin typeface="Malgun Gothic" pitchFamily="34" charset="0"/>
                <a:ea typeface="Malgun Gothic" pitchFamily="34" charset="-122"/>
                <a:cs typeface="Malgun Gothic" pitchFamily="34" charset="-120"/>
              </a:rPr>
              <a:t> </a:t>
            </a:r>
            <a:r>
              <a:rPr lang="en-US" sz="1300" dirty="0" err="1">
                <a:solidFill>
                  <a:srgbClr val="1F2D2A"/>
                </a:solidFill>
                <a:latin typeface="Malgun Gothic" pitchFamily="34" charset="0"/>
                <a:ea typeface="Malgun Gothic" pitchFamily="34" charset="-122"/>
                <a:cs typeface="Malgun Gothic" pitchFamily="34" charset="-120"/>
              </a:rPr>
              <a:t>우선순위를</a:t>
            </a:r>
            <a:r>
              <a:rPr lang="en-US" sz="1300" dirty="0">
                <a:solidFill>
                  <a:srgbClr val="1F2D2A"/>
                </a:solidFill>
                <a:latin typeface="Malgun Gothic" pitchFamily="34" charset="0"/>
                <a:ea typeface="Malgun Gothic" pitchFamily="34" charset="-122"/>
                <a:cs typeface="Malgun Gothic" pitchFamily="34" charset="-120"/>
              </a:rPr>
              <a:t> </a:t>
            </a:r>
          </a:p>
          <a:p>
            <a:pPr marL="0" indent="0" algn="l">
              <a:spcAft>
                <a:spcPts val="300"/>
              </a:spcAft>
              <a:buNone/>
            </a:pPr>
            <a:r>
              <a:rPr lang="en-US" sz="1300" dirty="0" err="1">
                <a:solidFill>
                  <a:srgbClr val="1F2D2A"/>
                </a:solidFill>
                <a:latin typeface="Malgun Gothic" pitchFamily="34" charset="0"/>
                <a:ea typeface="Malgun Gothic" pitchFamily="34" charset="-122"/>
                <a:cs typeface="Malgun Gothic" pitchFamily="34" charset="-120"/>
              </a:rPr>
              <a:t>제안해</a:t>
            </a:r>
            <a:r>
              <a:rPr lang="en-US" sz="1300" dirty="0">
                <a:solidFill>
                  <a:srgbClr val="1F2D2A"/>
                </a:solidFill>
                <a:latin typeface="Malgun Gothic" pitchFamily="34" charset="0"/>
                <a:ea typeface="Malgun Gothic" pitchFamily="34" charset="-122"/>
                <a:cs typeface="Malgun Gothic" pitchFamily="34" charset="-120"/>
              </a:rPr>
              <a:t> 주세요.”</a:t>
            </a:r>
            <a:endParaRPr lang="en-US" sz="1500" dirty="0"/>
          </a:p>
        </p:txBody>
      </p:sp>
      <p:sp>
        <p:nvSpPr>
          <p:cNvPr id="8" name="카드"/>
          <p:cNvSpPr/>
          <p:nvPr/>
        </p:nvSpPr>
        <p:spPr>
          <a:xfrm>
            <a:off x="4754880" y="1463040"/>
            <a:ext cx="3931920" cy="1325880"/>
          </a:xfrm>
          <a:prstGeom prst="roundRect">
            <a:avLst>
              <a:gd name="adj" fmla="val 5517"/>
            </a:avLst>
          </a:prstGeom>
          <a:solidFill>
            <a:srgbClr val="1B7566"/>
          </a:solidFill>
          <a:ln w="12700">
            <a:solidFill>
              <a:srgbClr val="1B7566"/>
            </a:solidFill>
            <a:prstDash val="solid"/>
          </a:ln>
        </p:spPr>
        <p:txBody>
          <a:bodyPr/>
          <a:lstStyle/>
          <a:p>
            <a:endParaRPr lang="ko-KR" altLang="en-US"/>
          </a:p>
        </p:txBody>
      </p:sp>
      <p:sp>
        <p:nvSpPr>
          <p:cNvPr id="9" name="카드 텍스트"/>
          <p:cNvSpPr txBox="1"/>
          <p:nvPr/>
        </p:nvSpPr>
        <p:spPr>
          <a:xfrm>
            <a:off x="4892040" y="1463040"/>
            <a:ext cx="3657600" cy="1325880"/>
          </a:xfrm>
          <a:prstGeom prst="rect">
            <a:avLst/>
          </a:prstGeom>
          <a:noFill/>
          <a:ln/>
        </p:spPr>
        <p:txBody>
          <a:bodyPr wrap="square" lIns="0" tIns="0" rIns="0" bIns="0" rtlCol="0" anchor="ctr"/>
          <a:lstStyle/>
          <a:p>
            <a:pPr marL="0" indent="0" algn="l">
              <a:spcAft>
                <a:spcPts val="300"/>
              </a:spcAft>
              <a:buNone/>
            </a:pPr>
            <a:r>
              <a:rPr lang="en-US" sz="1500" b="1" dirty="0">
                <a:solidFill>
                  <a:srgbClr val="FFFFFF"/>
                </a:solidFill>
                <a:latin typeface="Malgun Gothic" pitchFamily="34" charset="0"/>
                <a:ea typeface="Malgun Gothic" pitchFamily="34" charset="-122"/>
                <a:cs typeface="Malgun Gothic" pitchFamily="34" charset="-120"/>
              </a:rPr>
              <a:t>우리 = 데이터 컨설팅팀</a:t>
            </a:r>
            <a:endParaRPr lang="en-US" sz="1500" dirty="0"/>
          </a:p>
          <a:p>
            <a:pPr marL="0" indent="0" algn="l">
              <a:spcAft>
                <a:spcPts val="300"/>
              </a:spcAft>
              <a:buNone/>
            </a:pPr>
            <a:r>
              <a:rPr lang="en-US" sz="1300" dirty="0">
                <a:solidFill>
                  <a:srgbClr val="FFFFFF"/>
                </a:solidFill>
                <a:latin typeface="Malgun Gothic" pitchFamily="34" charset="0"/>
                <a:ea typeface="Malgun Gothic" pitchFamily="34" charset="-122"/>
                <a:cs typeface="Malgun Gothic" pitchFamily="34" charset="-120"/>
              </a:rPr>
              <a:t>검증된 데이터를 분석하고 </a:t>
            </a:r>
            <a:r>
              <a:rPr lang="en-US" sz="1300" dirty="0" err="1">
                <a:solidFill>
                  <a:srgbClr val="FFFFFF"/>
                </a:solidFill>
                <a:latin typeface="Malgun Gothic" pitchFamily="34" charset="0"/>
                <a:ea typeface="Malgun Gothic" pitchFamily="34" charset="-122"/>
                <a:cs typeface="Malgun Gothic" pitchFamily="34" charset="-120"/>
              </a:rPr>
              <a:t>실행</a:t>
            </a:r>
            <a:r>
              <a:rPr lang="en-US" sz="1300" dirty="0">
                <a:solidFill>
                  <a:srgbClr val="FFFFFF"/>
                </a:solidFill>
                <a:latin typeface="Malgun Gothic" pitchFamily="34" charset="0"/>
                <a:ea typeface="Malgun Gothic" pitchFamily="34" charset="-122"/>
                <a:cs typeface="Malgun Gothic" pitchFamily="34" charset="-120"/>
              </a:rPr>
              <a:t> </a:t>
            </a:r>
            <a:r>
              <a:rPr lang="en-US" sz="1300" dirty="0" err="1">
                <a:solidFill>
                  <a:srgbClr val="FFFFFF"/>
                </a:solidFill>
                <a:latin typeface="Malgun Gothic" pitchFamily="34" charset="0"/>
                <a:ea typeface="Malgun Gothic" pitchFamily="34" charset="-122"/>
                <a:cs typeface="Malgun Gothic" pitchFamily="34" charset="-120"/>
              </a:rPr>
              <a:t>가능한</a:t>
            </a:r>
            <a:endParaRPr lang="en-US" sz="1300" dirty="0">
              <a:solidFill>
                <a:srgbClr val="FFFFFF"/>
              </a:solidFill>
              <a:latin typeface="Malgun Gothic" pitchFamily="34" charset="0"/>
              <a:ea typeface="Malgun Gothic" pitchFamily="34" charset="-122"/>
              <a:cs typeface="Malgun Gothic" pitchFamily="34" charset="-120"/>
            </a:endParaRPr>
          </a:p>
          <a:p>
            <a:pPr marL="0" indent="0" algn="l">
              <a:spcAft>
                <a:spcPts val="300"/>
              </a:spcAft>
              <a:buNone/>
            </a:pPr>
            <a:r>
              <a:rPr lang="en-US" sz="1300" dirty="0" err="1">
                <a:solidFill>
                  <a:srgbClr val="FFFFFF"/>
                </a:solidFill>
                <a:latin typeface="Malgun Gothic" pitchFamily="34" charset="0"/>
                <a:ea typeface="Malgun Gothic" pitchFamily="34" charset="-122"/>
                <a:cs typeface="Malgun Gothic" pitchFamily="34" charset="-120"/>
              </a:rPr>
              <a:t>운영</a:t>
            </a:r>
            <a:r>
              <a:rPr lang="en-US" sz="1300" dirty="0">
                <a:solidFill>
                  <a:srgbClr val="FFFFFF"/>
                </a:solidFill>
                <a:latin typeface="Malgun Gothic" pitchFamily="34" charset="0"/>
                <a:ea typeface="Malgun Gothic" pitchFamily="34" charset="-122"/>
                <a:cs typeface="Malgun Gothic" pitchFamily="34" charset="-120"/>
              </a:rPr>
              <a:t> 개선안을 제시한다</a:t>
            </a:r>
            <a:endParaRPr lang="en-US" sz="1500" dirty="0"/>
          </a:p>
        </p:txBody>
      </p:sp>
      <p:sp>
        <p:nvSpPr>
          <p:cNvPr id="10" name="흐름 1"/>
          <p:cNvSpPr/>
          <p:nvPr/>
        </p:nvSpPr>
        <p:spPr>
          <a:xfrm>
            <a:off x="457200" y="3210724"/>
            <a:ext cx="2651760" cy="594360"/>
          </a:xfrm>
          <a:prstGeom prst="homePlate">
            <a:avLst/>
          </a:prstGeom>
          <a:solidFill>
            <a:srgbClr val="1B7566"/>
          </a:solidFill>
          <a:ln w="12700">
            <a:solidFill>
              <a:srgbClr val="1B7566"/>
            </a:solidFill>
            <a:prstDash val="solid"/>
          </a:ln>
        </p:spPr>
        <p:txBody>
          <a:bodyPr/>
          <a:lstStyle/>
          <a:p>
            <a:endParaRPr lang="ko-KR" altLang="en-US"/>
          </a:p>
        </p:txBody>
      </p:sp>
      <p:sp>
        <p:nvSpPr>
          <p:cNvPr id="11" name="Text 9"/>
          <p:cNvSpPr txBox="1"/>
          <p:nvPr/>
        </p:nvSpPr>
        <p:spPr>
          <a:xfrm>
            <a:off x="457200" y="3210724"/>
            <a:ext cx="2377440" cy="594360"/>
          </a:xfrm>
          <a:prstGeom prst="rect">
            <a:avLst/>
          </a:prstGeom>
          <a:no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데이터 확인</a:t>
            </a:r>
            <a:endParaRPr lang="en-US" sz="1400" dirty="0"/>
          </a:p>
        </p:txBody>
      </p:sp>
      <p:sp>
        <p:nvSpPr>
          <p:cNvPr id="12" name="흐름 2"/>
          <p:cNvSpPr/>
          <p:nvPr/>
        </p:nvSpPr>
        <p:spPr>
          <a:xfrm>
            <a:off x="3291840" y="3210724"/>
            <a:ext cx="2651760" cy="594360"/>
          </a:xfrm>
          <a:prstGeom prst="homePlate">
            <a:avLst/>
          </a:prstGeom>
          <a:solidFill>
            <a:srgbClr val="1B7566"/>
          </a:solidFill>
          <a:ln w="12700">
            <a:solidFill>
              <a:srgbClr val="1B7566"/>
            </a:solidFill>
            <a:prstDash val="solid"/>
          </a:ln>
        </p:spPr>
        <p:txBody>
          <a:bodyPr/>
          <a:lstStyle/>
          <a:p>
            <a:endParaRPr lang="ko-KR" altLang="en-US"/>
          </a:p>
        </p:txBody>
      </p:sp>
      <p:sp>
        <p:nvSpPr>
          <p:cNvPr id="13" name="Text 11"/>
          <p:cNvSpPr txBox="1"/>
          <p:nvPr/>
        </p:nvSpPr>
        <p:spPr>
          <a:xfrm>
            <a:off x="3291840" y="3210724"/>
            <a:ext cx="2377440" cy="594360"/>
          </a:xfrm>
          <a:prstGeom prst="rect">
            <a:avLst/>
          </a:prstGeom>
          <a:no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운영 진단</a:t>
            </a:r>
            <a:endParaRPr lang="en-US" sz="1400" dirty="0"/>
          </a:p>
        </p:txBody>
      </p:sp>
      <p:sp>
        <p:nvSpPr>
          <p:cNvPr id="14" name="흐름 3"/>
          <p:cNvSpPr/>
          <p:nvPr/>
        </p:nvSpPr>
        <p:spPr>
          <a:xfrm>
            <a:off x="6126480" y="3210724"/>
            <a:ext cx="2651760" cy="594360"/>
          </a:xfrm>
          <a:prstGeom prst="homePlate">
            <a:avLst/>
          </a:prstGeom>
          <a:solidFill>
            <a:srgbClr val="12433A"/>
          </a:solidFill>
          <a:ln w="12700">
            <a:solidFill>
              <a:srgbClr val="12433A"/>
            </a:solidFill>
            <a:prstDash val="solid"/>
          </a:ln>
        </p:spPr>
        <p:txBody>
          <a:bodyPr/>
          <a:lstStyle/>
          <a:p>
            <a:endParaRPr lang="ko-KR" altLang="en-US"/>
          </a:p>
        </p:txBody>
      </p:sp>
      <p:sp>
        <p:nvSpPr>
          <p:cNvPr id="15" name="Text 13"/>
          <p:cNvSpPr txBox="1"/>
          <p:nvPr/>
        </p:nvSpPr>
        <p:spPr>
          <a:xfrm>
            <a:off x="6126480" y="3210724"/>
            <a:ext cx="2377440" cy="594360"/>
          </a:xfrm>
          <a:prstGeom prst="rect">
            <a:avLst/>
          </a:prstGeom>
          <a:no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개선 제안</a:t>
            </a:r>
            <a:endParaRPr lang="en-US" sz="1400" dirty="0"/>
          </a:p>
        </p:txBody>
      </p:sp>
      <p:sp>
        <p:nvSpPr>
          <p:cNvPr id="16" name="의사결정 질문"/>
          <p:cNvSpPr txBox="1"/>
          <p:nvPr/>
        </p:nvSpPr>
        <p:spPr>
          <a:xfrm>
            <a:off x="457200" y="4058756"/>
            <a:ext cx="8229600" cy="365760"/>
          </a:xfrm>
          <a:prstGeom prst="rect">
            <a:avLst/>
          </a:prstGeom>
          <a:noFill/>
          <a:ln/>
        </p:spPr>
        <p:txBody>
          <a:bodyPr wrap="square" lIns="0" tIns="0" rIns="0" bIns="0" rtlCol="0" anchor="ctr"/>
          <a:lstStyle/>
          <a:p>
            <a:pPr marL="0" indent="0">
              <a:buNone/>
            </a:pPr>
            <a:r>
              <a:rPr lang="en-US" sz="1600" b="1" dirty="0">
                <a:solidFill>
                  <a:srgbClr val="12433A"/>
                </a:solidFill>
                <a:latin typeface="Malgun Gothic" pitchFamily="34" charset="0"/>
                <a:ea typeface="Malgun Gothic" pitchFamily="34" charset="-122"/>
                <a:cs typeface="Malgun Gothic" pitchFamily="34" charset="-120"/>
              </a:rPr>
              <a:t>무엇을 점검하고, 어떤 근거로 개선 순서를 정할 것인가?</a:t>
            </a:r>
            <a:endParaRPr lang="en-US" sz="16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F6F6B"/>
                </a:solidFill>
                <a:latin typeface="Malgun Gothic"/>
                <a:ea typeface="Malgun Gothic"/>
                <a:cs typeface="Malgun Gothic"/>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번호 원"/>
          <p:cNvSpPr/>
          <p:nvPr/>
        </p:nvSpPr>
        <p:spPr>
          <a:xfrm>
            <a:off x="457200" y="347472"/>
            <a:ext cx="457200" cy="457200"/>
          </a:xfrm>
          <a:prstGeom prst="ellipse">
            <a:avLst/>
          </a:prstGeom>
          <a:solidFill>
            <a:srgbClr val="1B7566"/>
          </a:solidFill>
          <a:ln w="12700">
            <a:solidFill>
              <a:srgbClr val="1B7566"/>
            </a:solidFill>
            <a:prstDash val="solid"/>
          </a:ln>
        </p:spPr>
        <p:txBody>
          <a:bodyPr/>
          <a:lstStyle/>
          <a:p>
            <a:endParaRPr lang="ko-KR" altLang="en-US"/>
          </a:p>
        </p:txBody>
      </p:sp>
      <p:sp>
        <p:nvSpPr>
          <p:cNvPr id="3" name="번호"/>
          <p:cNvSpPr txBox="1"/>
          <p:nvPr/>
        </p:nvSpPr>
        <p:spPr>
          <a:xfrm>
            <a:off x="457200" y="34747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7</a:t>
            </a:r>
            <a:endParaRPr lang="en-US" sz="1400" dirty="0"/>
          </a:p>
        </p:txBody>
      </p:sp>
      <p:sp>
        <p:nvSpPr>
          <p:cNvPr id="4" name="제목"/>
          <p:cNvSpPr txBox="1"/>
          <p:nvPr/>
        </p:nvSpPr>
        <p:spPr>
          <a:xfrm>
            <a:off x="1051560" y="274320"/>
            <a:ext cx="7635240" cy="594360"/>
          </a:xfrm>
          <a:prstGeom prst="rect">
            <a:avLst/>
          </a:prstGeom>
          <a:noFill/>
          <a:ln/>
        </p:spPr>
        <p:txBody>
          <a:bodyPr wrap="square" lIns="0" tIns="0" rIns="0" bIns="0" rtlCol="0" anchor="ctr"/>
          <a:lstStyle/>
          <a:p>
            <a:pPr marL="0" indent="0">
              <a:buNone/>
            </a:pPr>
            <a:r>
              <a:rPr lang="en-US" sz="2400" b="1" dirty="0">
                <a:solidFill>
                  <a:srgbClr val="12433A"/>
                </a:solidFill>
                <a:latin typeface="Malgun Gothic" pitchFamily="34" charset="0"/>
                <a:ea typeface="Malgun Gothic" pitchFamily="34" charset="-122"/>
                <a:cs typeface="Malgun Gothic" pitchFamily="34" charset="-120"/>
              </a:rPr>
              <a:t>과제 1  외주팀 품질 위험 (1/2)</a:t>
            </a:r>
            <a:endParaRPr lang="en-US" sz="2400" dirty="0"/>
          </a:p>
        </p:txBody>
      </p:sp>
      <p:sp>
        <p:nvSpPr>
          <p:cNvPr id="5" name="핵심 메시지"/>
          <p:cNvSpPr txBox="1"/>
          <p:nvPr/>
        </p:nvSpPr>
        <p:spPr>
          <a:xfrm>
            <a:off x="457200" y="896112"/>
            <a:ext cx="8229600" cy="365760"/>
          </a:xfrm>
          <a:prstGeom prst="rect">
            <a:avLst/>
          </a:prstGeom>
          <a:noFill/>
          <a:ln/>
        </p:spPr>
        <p:txBody>
          <a:bodyPr wrap="square" lIns="0" tIns="0" rIns="0" bIns="0" rtlCol="0" anchor="ctr"/>
          <a:lstStyle/>
          <a:p>
            <a:pPr marL="0" indent="0">
              <a:buNone/>
            </a:pPr>
            <a:r>
              <a:rPr lang="en-US" sz="1400" dirty="0">
                <a:solidFill>
                  <a:srgbClr val="5F6F6B"/>
                </a:solidFill>
                <a:latin typeface="Malgun Gothic" pitchFamily="34" charset="0"/>
                <a:ea typeface="Malgun Gothic" pitchFamily="34" charset="-122"/>
                <a:cs typeface="Malgun Gothic" pitchFamily="34" charset="-120"/>
              </a:rPr>
              <a:t>높은 위험 규모: 오판정 633건 · 산식 기준 배상액 59.20억 원</a:t>
            </a:r>
            <a:endParaRPr lang="en-US" sz="1400" dirty="0"/>
          </a:p>
        </p:txBody>
      </p:sp>
      <p:pic>
        <p:nvPicPr>
          <p:cNvPr id="6" name="일반 검수 부서별 위험 그래프" descr="일반 검수 부서별 위험 그래프"/>
          <p:cNvPicPr>
            <a:picLocks noChangeAspect="1"/>
          </p:cNvPicPr>
          <p:nvPr/>
        </p:nvPicPr>
        <p:blipFill>
          <a:blip r:embed="rId3"/>
          <a:stretch>
            <a:fillRect/>
          </a:stretch>
        </p:blipFill>
        <p:spPr>
          <a:xfrm>
            <a:off x="550355" y="1281636"/>
            <a:ext cx="8043291" cy="3543300"/>
          </a:xfrm>
          <a:prstGeom prst="rect">
            <a:avLst/>
          </a:prstGeom>
        </p:spPr>
      </p:pic>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F6F6B"/>
                </a:solidFill>
                <a:latin typeface="Malgun Gothic"/>
                <a:ea typeface="Malgun Gothic"/>
                <a:cs typeface="Malgun Gothic"/>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번호 원"/>
          <p:cNvSpPr/>
          <p:nvPr/>
        </p:nvSpPr>
        <p:spPr>
          <a:xfrm>
            <a:off x="457200" y="347472"/>
            <a:ext cx="457200" cy="457200"/>
          </a:xfrm>
          <a:prstGeom prst="ellipse">
            <a:avLst/>
          </a:prstGeom>
          <a:solidFill>
            <a:srgbClr val="1B7566"/>
          </a:solidFill>
          <a:ln w="12700">
            <a:solidFill>
              <a:srgbClr val="1B7566"/>
            </a:solidFill>
            <a:prstDash val="solid"/>
          </a:ln>
        </p:spPr>
        <p:txBody>
          <a:bodyPr/>
          <a:lstStyle/>
          <a:p>
            <a:endParaRPr lang="ko-KR" altLang="en-US"/>
          </a:p>
        </p:txBody>
      </p:sp>
      <p:sp>
        <p:nvSpPr>
          <p:cNvPr id="3" name="번호"/>
          <p:cNvSpPr txBox="1"/>
          <p:nvPr/>
        </p:nvSpPr>
        <p:spPr>
          <a:xfrm>
            <a:off x="457200" y="34747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7</a:t>
            </a:r>
            <a:endParaRPr lang="en-US" sz="1400" dirty="0"/>
          </a:p>
        </p:txBody>
      </p:sp>
      <p:sp>
        <p:nvSpPr>
          <p:cNvPr id="4" name="제목"/>
          <p:cNvSpPr txBox="1"/>
          <p:nvPr/>
        </p:nvSpPr>
        <p:spPr>
          <a:xfrm>
            <a:off x="1051560" y="274320"/>
            <a:ext cx="7635240" cy="594360"/>
          </a:xfrm>
          <a:prstGeom prst="rect">
            <a:avLst/>
          </a:prstGeom>
          <a:noFill/>
          <a:ln/>
        </p:spPr>
        <p:txBody>
          <a:bodyPr wrap="square" lIns="0" tIns="0" rIns="0" bIns="0" rtlCol="0" anchor="ctr"/>
          <a:lstStyle/>
          <a:p>
            <a:pPr marL="0" indent="0">
              <a:buNone/>
            </a:pPr>
            <a:r>
              <a:rPr lang="en-US" sz="2400" b="1" dirty="0">
                <a:solidFill>
                  <a:srgbClr val="12433A"/>
                </a:solidFill>
                <a:latin typeface="Malgun Gothic" pitchFamily="34" charset="0"/>
                <a:ea typeface="Malgun Gothic" pitchFamily="34" charset="-122"/>
                <a:cs typeface="Malgun Gothic" pitchFamily="34" charset="-120"/>
              </a:rPr>
              <a:t>과제 1  외주팀 품질 위험 (2/2)</a:t>
            </a:r>
            <a:endParaRPr lang="en-US" sz="2400" dirty="0"/>
          </a:p>
        </p:txBody>
      </p:sp>
      <p:sp>
        <p:nvSpPr>
          <p:cNvPr id="5" name="핵심 메시지"/>
          <p:cNvSpPr txBox="1"/>
          <p:nvPr/>
        </p:nvSpPr>
        <p:spPr>
          <a:xfrm>
            <a:off x="457200" y="896112"/>
            <a:ext cx="8229600" cy="365760"/>
          </a:xfrm>
          <a:prstGeom prst="rect">
            <a:avLst/>
          </a:prstGeom>
          <a:noFill/>
          <a:ln/>
        </p:spPr>
        <p:txBody>
          <a:bodyPr wrap="square" lIns="0" tIns="0" rIns="0" bIns="0" rtlCol="0" anchor="ctr"/>
          <a:lstStyle/>
          <a:p>
            <a:pPr marL="0" indent="0">
              <a:buNone/>
            </a:pPr>
            <a:r>
              <a:rPr lang="en-US" sz="1400" dirty="0">
                <a:solidFill>
                  <a:srgbClr val="5F6F6B"/>
                </a:solidFill>
                <a:latin typeface="Malgun Gothic" pitchFamily="34" charset="0"/>
                <a:ea typeface="Malgun Gothic" pitchFamily="34" charset="-122"/>
                <a:cs typeface="Malgun Gothic" pitchFamily="34" charset="-120"/>
              </a:rPr>
              <a:t>짧은 검수시간 집중: 10분 미만 비중 외주팀 93.65%, 다른 부서 28.78%</a:t>
            </a:r>
            <a:endParaRPr lang="en-US" sz="1400" dirty="0"/>
          </a:p>
        </p:txBody>
      </p:sp>
      <p:pic>
        <p:nvPicPr>
          <p:cNvPr id="6" name="부서별 검수시간 분포 상자그림" descr="부서별 검수시간 분포 상자그림"/>
          <p:cNvPicPr>
            <a:picLocks noChangeAspect="1"/>
          </p:cNvPicPr>
          <p:nvPr/>
        </p:nvPicPr>
        <p:blipFill>
          <a:blip r:embed="rId3"/>
          <a:stretch>
            <a:fillRect/>
          </a:stretch>
        </p:blipFill>
        <p:spPr>
          <a:xfrm>
            <a:off x="720135" y="1325880"/>
            <a:ext cx="7703730" cy="3470148"/>
          </a:xfrm>
          <a:prstGeom prst="rect">
            <a:avLst/>
          </a:prstGeom>
        </p:spPr>
      </p:pic>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F6F6B"/>
                </a:solidFill>
                <a:latin typeface="Malgun Gothic"/>
                <a:ea typeface="Malgun Gothic"/>
                <a:cs typeface="Malgun Gothic"/>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번호 원"/>
          <p:cNvSpPr/>
          <p:nvPr/>
        </p:nvSpPr>
        <p:spPr>
          <a:xfrm>
            <a:off x="457200" y="347472"/>
            <a:ext cx="457200" cy="457200"/>
          </a:xfrm>
          <a:prstGeom prst="ellipse">
            <a:avLst/>
          </a:prstGeom>
          <a:solidFill>
            <a:srgbClr val="1B7566"/>
          </a:solidFill>
          <a:ln w="12700">
            <a:solidFill>
              <a:srgbClr val="1B7566"/>
            </a:solidFill>
            <a:prstDash val="solid"/>
          </a:ln>
        </p:spPr>
        <p:txBody>
          <a:bodyPr/>
          <a:lstStyle/>
          <a:p>
            <a:endParaRPr lang="ko-KR" altLang="en-US"/>
          </a:p>
        </p:txBody>
      </p:sp>
      <p:sp>
        <p:nvSpPr>
          <p:cNvPr id="3" name="번호"/>
          <p:cNvSpPr txBox="1"/>
          <p:nvPr/>
        </p:nvSpPr>
        <p:spPr>
          <a:xfrm>
            <a:off x="457200" y="34747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8</a:t>
            </a:r>
            <a:endParaRPr lang="en-US" sz="1400" dirty="0"/>
          </a:p>
        </p:txBody>
      </p:sp>
      <p:sp>
        <p:nvSpPr>
          <p:cNvPr id="4" name="제목"/>
          <p:cNvSpPr txBox="1"/>
          <p:nvPr/>
        </p:nvSpPr>
        <p:spPr>
          <a:xfrm>
            <a:off x="1051560" y="274320"/>
            <a:ext cx="7635240" cy="594360"/>
          </a:xfrm>
          <a:prstGeom prst="rect">
            <a:avLst/>
          </a:prstGeom>
          <a:noFill/>
          <a:ln/>
        </p:spPr>
        <p:txBody>
          <a:bodyPr wrap="square" lIns="0" tIns="0" rIns="0" bIns="0" rtlCol="0" anchor="ctr"/>
          <a:lstStyle/>
          <a:p>
            <a:pPr marL="0" indent="0">
              <a:buNone/>
            </a:pPr>
            <a:r>
              <a:rPr lang="en-US" sz="2400" b="1" dirty="0">
                <a:solidFill>
                  <a:srgbClr val="12433A"/>
                </a:solidFill>
                <a:latin typeface="Malgun Gothic" pitchFamily="34" charset="0"/>
                <a:ea typeface="Malgun Gothic" pitchFamily="34" charset="-122"/>
                <a:cs typeface="Malgun Gothic" pitchFamily="34" charset="-120"/>
              </a:rPr>
              <a:t>과제 2  스니커즈팀 재검수 부담 (1/2)</a:t>
            </a:r>
            <a:endParaRPr lang="en-US" sz="2400" dirty="0"/>
          </a:p>
        </p:txBody>
      </p:sp>
      <p:sp>
        <p:nvSpPr>
          <p:cNvPr id="5" name="핵심 메시지"/>
          <p:cNvSpPr txBox="1"/>
          <p:nvPr/>
        </p:nvSpPr>
        <p:spPr>
          <a:xfrm>
            <a:off x="457200" y="896112"/>
            <a:ext cx="8229600" cy="365760"/>
          </a:xfrm>
          <a:prstGeom prst="rect">
            <a:avLst/>
          </a:prstGeom>
          <a:noFill/>
          <a:ln/>
        </p:spPr>
        <p:txBody>
          <a:bodyPr wrap="square" lIns="0" tIns="0" rIns="0" bIns="0" rtlCol="0" anchor="ctr"/>
          <a:lstStyle/>
          <a:p>
            <a:pPr marL="0" indent="0">
              <a:buNone/>
            </a:pPr>
            <a:r>
              <a:rPr lang="en-US" sz="1400" dirty="0">
                <a:solidFill>
                  <a:srgbClr val="5F6F6B"/>
                </a:solidFill>
                <a:latin typeface="Malgun Gothic" pitchFamily="34" charset="0"/>
                <a:ea typeface="Malgun Gothic" pitchFamily="34" charset="-122"/>
                <a:cs typeface="Malgun Gothic" pitchFamily="34" charset="-120"/>
              </a:rPr>
              <a:t>1팀 4,804건 중 3,753건(78.12%), 2팀 3,733건 중 2,903건(77.77%)</a:t>
            </a:r>
            <a:endParaRPr lang="en-US" sz="1400" dirty="0"/>
          </a:p>
        </p:txBody>
      </p:sp>
      <p:pic>
        <p:nvPicPr>
          <p:cNvPr id="6" name="재검수 부서별 위험 그래프" descr="재검수 부서별 위험 그래프"/>
          <p:cNvPicPr>
            <a:picLocks noChangeAspect="1"/>
          </p:cNvPicPr>
          <p:nvPr/>
        </p:nvPicPr>
        <p:blipFill>
          <a:blip r:embed="rId3"/>
          <a:stretch>
            <a:fillRect/>
          </a:stretch>
        </p:blipFill>
        <p:spPr>
          <a:xfrm>
            <a:off x="803971" y="1325879"/>
            <a:ext cx="7536058" cy="3349359"/>
          </a:xfrm>
          <a:prstGeom prst="rect">
            <a:avLst/>
          </a:prstGeom>
        </p:spPr>
      </p:pic>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F6F6B"/>
                </a:solidFill>
                <a:latin typeface="Malgun Gothic"/>
                <a:ea typeface="Malgun Gothic"/>
                <a:cs typeface="Malgun Gothic"/>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번호 원"/>
          <p:cNvSpPr/>
          <p:nvPr/>
        </p:nvSpPr>
        <p:spPr>
          <a:xfrm>
            <a:off x="457200" y="347472"/>
            <a:ext cx="457200" cy="457200"/>
          </a:xfrm>
          <a:prstGeom prst="ellipse">
            <a:avLst/>
          </a:prstGeom>
          <a:solidFill>
            <a:srgbClr val="1B7566"/>
          </a:solidFill>
          <a:ln w="12700">
            <a:solidFill>
              <a:srgbClr val="1B7566"/>
            </a:solidFill>
            <a:prstDash val="solid"/>
          </a:ln>
        </p:spPr>
        <p:txBody>
          <a:bodyPr/>
          <a:lstStyle/>
          <a:p>
            <a:endParaRPr lang="ko-KR" altLang="en-US"/>
          </a:p>
        </p:txBody>
      </p:sp>
      <p:sp>
        <p:nvSpPr>
          <p:cNvPr id="3" name="번호"/>
          <p:cNvSpPr txBox="1"/>
          <p:nvPr/>
        </p:nvSpPr>
        <p:spPr>
          <a:xfrm>
            <a:off x="457200" y="34747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8</a:t>
            </a:r>
            <a:endParaRPr lang="en-US" sz="1400" dirty="0"/>
          </a:p>
        </p:txBody>
      </p:sp>
      <p:sp>
        <p:nvSpPr>
          <p:cNvPr id="4" name="제목"/>
          <p:cNvSpPr txBox="1"/>
          <p:nvPr/>
        </p:nvSpPr>
        <p:spPr>
          <a:xfrm>
            <a:off x="1051560" y="274320"/>
            <a:ext cx="7635240" cy="594360"/>
          </a:xfrm>
          <a:prstGeom prst="rect">
            <a:avLst/>
          </a:prstGeom>
          <a:noFill/>
          <a:ln/>
        </p:spPr>
        <p:txBody>
          <a:bodyPr wrap="square" lIns="0" tIns="0" rIns="0" bIns="0" rtlCol="0" anchor="ctr"/>
          <a:lstStyle/>
          <a:p>
            <a:pPr marL="0" indent="0">
              <a:buNone/>
            </a:pPr>
            <a:r>
              <a:rPr lang="en-US" sz="2400" b="1" dirty="0">
                <a:solidFill>
                  <a:srgbClr val="12433A"/>
                </a:solidFill>
                <a:latin typeface="Malgun Gothic" pitchFamily="34" charset="0"/>
                <a:ea typeface="Malgun Gothic" pitchFamily="34" charset="-122"/>
                <a:cs typeface="Malgun Gothic" pitchFamily="34" charset="-120"/>
              </a:rPr>
              <a:t>과제 2  스니커즈팀 재검수 부담 (2/2)</a:t>
            </a:r>
            <a:endParaRPr lang="en-US" sz="2400" dirty="0"/>
          </a:p>
        </p:txBody>
      </p:sp>
      <p:sp>
        <p:nvSpPr>
          <p:cNvPr id="5" name="핵심 메시지"/>
          <p:cNvSpPr txBox="1"/>
          <p:nvPr/>
        </p:nvSpPr>
        <p:spPr>
          <a:xfrm>
            <a:off x="457200" y="896112"/>
            <a:ext cx="8229600" cy="365760"/>
          </a:xfrm>
          <a:prstGeom prst="rect">
            <a:avLst/>
          </a:prstGeom>
          <a:noFill/>
          <a:ln/>
        </p:spPr>
        <p:txBody>
          <a:bodyPr wrap="square" lIns="0" tIns="0" rIns="0" bIns="0" rtlCol="0" anchor="ctr"/>
          <a:lstStyle/>
          <a:p>
            <a:pPr marL="0" indent="0">
              <a:buNone/>
            </a:pPr>
            <a:r>
              <a:rPr lang="en-US" sz="1400" dirty="0">
                <a:solidFill>
                  <a:srgbClr val="5F6F6B"/>
                </a:solidFill>
                <a:latin typeface="Malgun Gothic" pitchFamily="34" charset="0"/>
                <a:ea typeface="Malgun Gothic" pitchFamily="34" charset="-122"/>
                <a:cs typeface="Malgun Gothic" pitchFamily="34" charset="-120"/>
              </a:rPr>
              <a:t>다른 부서도 약 78%로 유사 — 건수 큼 ≠ 검수 능력이 더 낮음</a:t>
            </a:r>
            <a:endParaRPr lang="en-US" sz="1400" dirty="0"/>
          </a:p>
        </p:txBody>
      </p:sp>
      <p:pic>
        <p:nvPicPr>
          <p:cNvPr id="6" name="부서별 1차 2차 비중 그래프" descr="부서별 1차 2차 비중 그래프"/>
          <p:cNvPicPr>
            <a:picLocks noChangeAspect="1"/>
          </p:cNvPicPr>
          <p:nvPr/>
        </p:nvPicPr>
        <p:blipFill>
          <a:blip r:embed="rId3"/>
          <a:stretch>
            <a:fillRect/>
          </a:stretch>
        </p:blipFill>
        <p:spPr>
          <a:xfrm>
            <a:off x="1097280" y="1325880"/>
            <a:ext cx="6949440" cy="2969846"/>
          </a:xfrm>
          <a:prstGeom prst="rect">
            <a:avLst/>
          </a:prstGeom>
        </p:spPr>
      </p:pic>
      <p:sp>
        <p:nvSpPr>
          <p:cNvPr id="7" name="Shape 4"/>
          <p:cNvSpPr/>
          <p:nvPr/>
        </p:nvSpPr>
        <p:spPr>
          <a:xfrm>
            <a:off x="6035040" y="4553712"/>
            <a:ext cx="164592" cy="118872"/>
          </a:xfrm>
          <a:prstGeom prst="rect">
            <a:avLst/>
          </a:prstGeom>
          <a:solidFill>
            <a:srgbClr val="B5D3C5"/>
          </a:solidFill>
          <a:ln w="12700">
            <a:solidFill>
              <a:srgbClr val="B5D3C5"/>
            </a:solidFill>
            <a:prstDash val="solid"/>
          </a:ln>
        </p:spPr>
        <p:txBody>
          <a:bodyPr/>
          <a:lstStyle/>
          <a:p>
            <a:endParaRPr lang="ko-KR" altLang="en-US"/>
          </a:p>
        </p:txBody>
      </p:sp>
      <p:sp>
        <p:nvSpPr>
          <p:cNvPr id="8" name="Text 5"/>
          <p:cNvSpPr txBox="1"/>
          <p:nvPr/>
        </p:nvSpPr>
        <p:spPr>
          <a:xfrm>
            <a:off x="6245352" y="4498848"/>
            <a:ext cx="457200" cy="228600"/>
          </a:xfrm>
          <a:prstGeom prst="rect">
            <a:avLst/>
          </a:prstGeom>
          <a:noFill/>
          <a:ln/>
        </p:spPr>
        <p:txBody>
          <a:bodyPr wrap="square" lIns="0" tIns="0" rIns="0" bIns="0" rtlCol="0" anchor="ctr"/>
          <a:lstStyle/>
          <a:p>
            <a:pPr marL="0" indent="0">
              <a:buNone/>
            </a:pPr>
            <a:r>
              <a:rPr lang="en-US" sz="1000" dirty="0">
                <a:solidFill>
                  <a:srgbClr val="1F2D2A"/>
                </a:solidFill>
                <a:latin typeface="Malgun Gothic" pitchFamily="34" charset="0"/>
                <a:ea typeface="Malgun Gothic" pitchFamily="34" charset="-122"/>
                <a:cs typeface="Malgun Gothic" pitchFamily="34" charset="-120"/>
              </a:rPr>
              <a:t>1차</a:t>
            </a:r>
            <a:endParaRPr lang="en-US" sz="1000" dirty="0"/>
          </a:p>
        </p:txBody>
      </p:sp>
      <p:sp>
        <p:nvSpPr>
          <p:cNvPr id="9" name="Shape 6"/>
          <p:cNvSpPr/>
          <p:nvPr/>
        </p:nvSpPr>
        <p:spPr>
          <a:xfrm>
            <a:off x="6766560" y="4553712"/>
            <a:ext cx="164592" cy="118872"/>
          </a:xfrm>
          <a:prstGeom prst="rect">
            <a:avLst/>
          </a:prstGeom>
          <a:solidFill>
            <a:srgbClr val="1B7566"/>
          </a:solidFill>
          <a:ln w="12700">
            <a:solidFill>
              <a:srgbClr val="1B7566"/>
            </a:solidFill>
            <a:prstDash val="solid"/>
          </a:ln>
        </p:spPr>
        <p:txBody>
          <a:bodyPr/>
          <a:lstStyle/>
          <a:p>
            <a:endParaRPr lang="ko-KR" altLang="en-US"/>
          </a:p>
        </p:txBody>
      </p:sp>
      <p:sp>
        <p:nvSpPr>
          <p:cNvPr id="10" name="Text 7"/>
          <p:cNvSpPr txBox="1"/>
          <p:nvPr/>
        </p:nvSpPr>
        <p:spPr>
          <a:xfrm>
            <a:off x="6976872" y="4498848"/>
            <a:ext cx="457200" cy="228600"/>
          </a:xfrm>
          <a:prstGeom prst="rect">
            <a:avLst/>
          </a:prstGeom>
          <a:noFill/>
          <a:ln/>
        </p:spPr>
        <p:txBody>
          <a:bodyPr wrap="square" lIns="0" tIns="0" rIns="0" bIns="0" rtlCol="0" anchor="ctr"/>
          <a:lstStyle/>
          <a:p>
            <a:pPr marL="0" indent="0">
              <a:buNone/>
            </a:pPr>
            <a:r>
              <a:rPr lang="en-US" sz="1000" dirty="0">
                <a:solidFill>
                  <a:srgbClr val="1F2D2A"/>
                </a:solidFill>
                <a:latin typeface="Malgun Gothic" pitchFamily="34" charset="0"/>
                <a:ea typeface="Malgun Gothic" pitchFamily="34" charset="-122"/>
                <a:cs typeface="Malgun Gothic" pitchFamily="34" charset="-120"/>
              </a:rPr>
              <a:t>2차</a:t>
            </a:r>
            <a:endParaRPr lang="en-US" sz="10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F6F6B"/>
                </a:solidFill>
                <a:latin typeface="Malgun Gothic"/>
                <a:ea typeface="Malgun Gothic"/>
                <a:cs typeface="Malgun Gothic"/>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번호 원"/>
          <p:cNvSpPr/>
          <p:nvPr/>
        </p:nvSpPr>
        <p:spPr>
          <a:xfrm>
            <a:off x="457200" y="347472"/>
            <a:ext cx="457200" cy="457200"/>
          </a:xfrm>
          <a:prstGeom prst="ellipse">
            <a:avLst/>
          </a:prstGeom>
          <a:solidFill>
            <a:srgbClr val="1B7566"/>
          </a:solidFill>
          <a:ln w="12700">
            <a:solidFill>
              <a:srgbClr val="1B7566"/>
            </a:solidFill>
            <a:prstDash val="solid"/>
          </a:ln>
        </p:spPr>
        <p:txBody>
          <a:bodyPr/>
          <a:lstStyle/>
          <a:p>
            <a:endParaRPr lang="ko-KR" altLang="en-US"/>
          </a:p>
        </p:txBody>
      </p:sp>
      <p:sp>
        <p:nvSpPr>
          <p:cNvPr id="3" name="번호"/>
          <p:cNvSpPr txBox="1"/>
          <p:nvPr/>
        </p:nvSpPr>
        <p:spPr>
          <a:xfrm>
            <a:off x="457200" y="34747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9</a:t>
            </a:r>
            <a:endParaRPr lang="en-US" sz="1400" dirty="0"/>
          </a:p>
        </p:txBody>
      </p:sp>
      <p:sp>
        <p:nvSpPr>
          <p:cNvPr id="4" name="제목"/>
          <p:cNvSpPr txBox="1"/>
          <p:nvPr/>
        </p:nvSpPr>
        <p:spPr>
          <a:xfrm>
            <a:off x="1051560" y="274320"/>
            <a:ext cx="7635240" cy="594360"/>
          </a:xfrm>
          <a:prstGeom prst="rect">
            <a:avLst/>
          </a:prstGeom>
          <a:noFill/>
          <a:ln/>
        </p:spPr>
        <p:txBody>
          <a:bodyPr wrap="square" lIns="0" tIns="0" rIns="0" bIns="0" rtlCol="0" anchor="ctr"/>
          <a:lstStyle/>
          <a:p>
            <a:pPr marL="0" indent="0">
              <a:buNone/>
            </a:pPr>
            <a:r>
              <a:rPr lang="en-US" sz="2400" b="1" dirty="0">
                <a:solidFill>
                  <a:srgbClr val="12433A"/>
                </a:solidFill>
                <a:latin typeface="Malgun Gothic" pitchFamily="34" charset="0"/>
                <a:ea typeface="Malgun Gothic" pitchFamily="34" charset="-122"/>
                <a:cs typeface="Malgun Gothic" pitchFamily="34" charset="-120"/>
              </a:rPr>
              <a:t>과제 3  품목 전문화</a:t>
            </a:r>
            <a:endParaRPr lang="en-US" sz="2400" dirty="0"/>
          </a:p>
        </p:txBody>
      </p:sp>
      <p:sp>
        <p:nvSpPr>
          <p:cNvPr id="5" name="핵심 메시지"/>
          <p:cNvSpPr txBox="1"/>
          <p:nvPr/>
        </p:nvSpPr>
        <p:spPr>
          <a:xfrm>
            <a:off x="457200" y="896112"/>
            <a:ext cx="8229600" cy="365760"/>
          </a:xfrm>
          <a:prstGeom prst="rect">
            <a:avLst/>
          </a:prstGeom>
          <a:noFill/>
          <a:ln/>
        </p:spPr>
        <p:txBody>
          <a:bodyPr wrap="square" lIns="0" tIns="0" rIns="0" bIns="0" rtlCol="0" anchor="ctr"/>
          <a:lstStyle/>
          <a:p>
            <a:pPr marL="0" indent="0">
              <a:buNone/>
            </a:pPr>
            <a:r>
              <a:rPr lang="en-US" sz="1400" dirty="0">
                <a:solidFill>
                  <a:srgbClr val="5F6F6B"/>
                </a:solidFill>
                <a:latin typeface="Malgun Gothic" pitchFamily="34" charset="0"/>
                <a:ea typeface="Malgun Gothic" pitchFamily="34" charset="-122"/>
                <a:cs typeface="Malgun Gothic" pitchFamily="34" charset="-120"/>
              </a:rPr>
              <a:t>팀별 상품 구성은 유사해 품목 역량 중심 배정을 검토할 수 있다</a:t>
            </a:r>
            <a:endParaRPr lang="en-US" sz="1400" dirty="0"/>
          </a:p>
        </p:txBody>
      </p:sp>
      <p:pic>
        <p:nvPicPr>
          <p:cNvPr id="6" name="팀별 검수 상품 구성 그래프" descr="팀별 검수 상품 구성 그래프"/>
          <p:cNvPicPr>
            <a:picLocks noChangeAspect="1"/>
          </p:cNvPicPr>
          <p:nvPr/>
        </p:nvPicPr>
        <p:blipFill>
          <a:blip r:embed="rId3"/>
          <a:stretch>
            <a:fillRect/>
          </a:stretch>
        </p:blipFill>
        <p:spPr>
          <a:xfrm>
            <a:off x="234543" y="1325879"/>
            <a:ext cx="6627881" cy="3201875"/>
          </a:xfrm>
          <a:prstGeom prst="rect">
            <a:avLst/>
          </a:prstGeom>
        </p:spPr>
      </p:pic>
      <p:sp>
        <p:nvSpPr>
          <p:cNvPr id="8" name="수치 카드"/>
          <p:cNvSpPr/>
          <p:nvPr/>
        </p:nvSpPr>
        <p:spPr>
          <a:xfrm>
            <a:off x="7086600" y="1371600"/>
            <a:ext cx="1600200" cy="731520"/>
          </a:xfrm>
          <a:prstGeom prst="roundRect">
            <a:avLst>
              <a:gd name="adj" fmla="val 10000"/>
            </a:avLst>
          </a:prstGeom>
          <a:solidFill>
            <a:srgbClr val="E8F2EE"/>
          </a:solidFill>
          <a:ln w="12700">
            <a:solidFill>
              <a:srgbClr val="E8F2EE"/>
            </a:solidFill>
            <a:prstDash val="solid"/>
          </a:ln>
        </p:spPr>
        <p:txBody>
          <a:bodyPr/>
          <a:lstStyle/>
          <a:p>
            <a:endParaRPr lang="ko-KR" altLang="en-US"/>
          </a:p>
        </p:txBody>
      </p:sp>
      <p:sp>
        <p:nvSpPr>
          <p:cNvPr id="9" name="수치"/>
          <p:cNvSpPr txBox="1"/>
          <p:nvPr/>
        </p:nvSpPr>
        <p:spPr>
          <a:xfrm>
            <a:off x="7178040" y="1408176"/>
            <a:ext cx="1417320" cy="384048"/>
          </a:xfrm>
          <a:prstGeom prst="rect">
            <a:avLst/>
          </a:prstGeom>
          <a:noFill/>
          <a:ln/>
        </p:spPr>
        <p:txBody>
          <a:bodyPr wrap="square" lIns="0" tIns="0" rIns="0" bIns="0" rtlCol="0" anchor="ctr"/>
          <a:lstStyle/>
          <a:p>
            <a:pPr marL="0" indent="0">
              <a:buNone/>
            </a:pPr>
            <a:r>
              <a:rPr lang="en-US" sz="2000" b="1" dirty="0">
                <a:solidFill>
                  <a:srgbClr val="1B7566"/>
                </a:solidFill>
                <a:latin typeface="Malgun Gothic" pitchFamily="34" charset="0"/>
                <a:ea typeface="Malgun Gothic" pitchFamily="34" charset="-122"/>
                <a:cs typeface="Malgun Gothic" pitchFamily="34" charset="-120"/>
              </a:rPr>
              <a:t>8팀 · 19종</a:t>
            </a:r>
            <a:endParaRPr lang="en-US" sz="2000" dirty="0"/>
          </a:p>
        </p:txBody>
      </p:sp>
      <p:sp>
        <p:nvSpPr>
          <p:cNvPr id="10" name="수치 설명"/>
          <p:cNvSpPr txBox="1"/>
          <p:nvPr/>
        </p:nvSpPr>
        <p:spPr>
          <a:xfrm>
            <a:off x="7178040" y="1792224"/>
            <a:ext cx="1417320" cy="274320"/>
          </a:xfrm>
          <a:prstGeom prst="rect">
            <a:avLst/>
          </a:prstGeom>
          <a:noFill/>
          <a:ln/>
        </p:spPr>
        <p:txBody>
          <a:bodyPr wrap="square" lIns="0" tIns="0" rIns="0" bIns="0" rtlCol="0" anchor="t"/>
          <a:lstStyle/>
          <a:p>
            <a:pPr marL="0" indent="0">
              <a:buNone/>
            </a:pPr>
            <a:r>
              <a:rPr lang="en-US" sz="1100" dirty="0">
                <a:solidFill>
                  <a:srgbClr val="1F2D2A"/>
                </a:solidFill>
                <a:latin typeface="Malgun Gothic" pitchFamily="34" charset="0"/>
                <a:ea typeface="Malgun Gothic" pitchFamily="34" charset="-122"/>
                <a:cs typeface="Malgun Gothic" pitchFamily="34" charset="-120"/>
              </a:rPr>
              <a:t>모두 같은 상품을 검수</a:t>
            </a:r>
            <a:endParaRPr lang="en-US" sz="1100" dirty="0"/>
          </a:p>
        </p:txBody>
      </p:sp>
      <p:sp>
        <p:nvSpPr>
          <p:cNvPr id="11" name="본문"/>
          <p:cNvSpPr txBox="1"/>
          <p:nvPr/>
        </p:nvSpPr>
        <p:spPr>
          <a:xfrm>
            <a:off x="7086600" y="2286000"/>
            <a:ext cx="1600200" cy="237744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F2D2A"/>
                </a:solidFill>
                <a:latin typeface="Malgun Gothic" pitchFamily="34" charset="0"/>
                <a:ea typeface="Malgun Gothic" pitchFamily="34" charset="-122"/>
                <a:cs typeface="Malgun Gothic" pitchFamily="34" charset="-120"/>
              </a:rPr>
              <a:t>구성비도 유사</a:t>
            </a:r>
            <a:endParaRPr lang="en-US" sz="1100" dirty="0"/>
          </a:p>
          <a:p>
            <a:pPr marL="342900" indent="-342900">
              <a:spcAft>
                <a:spcPts val="600"/>
              </a:spcAft>
              <a:buSzPct val="100000"/>
              <a:buChar char="•"/>
            </a:pPr>
            <a:r>
              <a:rPr lang="en-US" sz="1100" dirty="0">
                <a:solidFill>
                  <a:srgbClr val="1F2D2A"/>
                </a:solidFill>
                <a:latin typeface="Malgun Gothic" pitchFamily="34" charset="0"/>
                <a:ea typeface="Malgun Gothic" pitchFamily="34" charset="-122"/>
                <a:cs typeface="Malgun Gothic" pitchFamily="34" charset="-120"/>
              </a:rPr>
              <a:t>클레임재검수팀도 일반 검수를 수행</a:t>
            </a:r>
            <a:endParaRPr lang="en-US" sz="1100" dirty="0"/>
          </a:p>
          <a:p>
            <a:pPr marL="342900" indent="-342900">
              <a:spcAft>
                <a:spcPts val="600"/>
              </a:spcAft>
              <a:buSzPct val="100000"/>
              <a:buChar char="•"/>
            </a:pPr>
            <a:r>
              <a:rPr lang="en-US" sz="1100" dirty="0">
                <a:solidFill>
                  <a:srgbClr val="1F2D2A"/>
                </a:solidFill>
                <a:latin typeface="Malgun Gothic" pitchFamily="34" charset="0"/>
                <a:ea typeface="Malgun Gothic" pitchFamily="34" charset="-122"/>
                <a:cs typeface="Malgun Gothic" pitchFamily="34" charset="-120"/>
              </a:rPr>
              <a:t>품목별 역할 분리·독립 재검수 구조가 뚜렷하지 않음</a:t>
            </a:r>
            <a:endParaRPr lang="en-US" sz="11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F6F6B"/>
                </a:solidFill>
                <a:latin typeface="Malgun Gothic"/>
                <a:ea typeface="Malgun Gothic"/>
                <a:cs typeface="Malgun Gothic"/>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번호 원"/>
          <p:cNvSpPr/>
          <p:nvPr/>
        </p:nvSpPr>
        <p:spPr>
          <a:xfrm>
            <a:off x="457200" y="347472"/>
            <a:ext cx="457200" cy="457200"/>
          </a:xfrm>
          <a:prstGeom prst="ellipse">
            <a:avLst/>
          </a:prstGeom>
          <a:solidFill>
            <a:srgbClr val="1B7566"/>
          </a:solidFill>
          <a:ln w="12700">
            <a:solidFill>
              <a:srgbClr val="1B7566"/>
            </a:solidFill>
            <a:prstDash val="solid"/>
          </a:ln>
        </p:spPr>
        <p:txBody>
          <a:bodyPr/>
          <a:lstStyle/>
          <a:p>
            <a:endParaRPr lang="ko-KR" altLang="en-US"/>
          </a:p>
        </p:txBody>
      </p:sp>
      <p:sp>
        <p:nvSpPr>
          <p:cNvPr id="3" name="번호"/>
          <p:cNvSpPr txBox="1"/>
          <p:nvPr/>
        </p:nvSpPr>
        <p:spPr>
          <a:xfrm>
            <a:off x="457200" y="34747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10</a:t>
            </a:r>
            <a:endParaRPr lang="en-US" sz="1400" dirty="0"/>
          </a:p>
        </p:txBody>
      </p:sp>
      <p:sp>
        <p:nvSpPr>
          <p:cNvPr id="4" name="제목"/>
          <p:cNvSpPr txBox="1"/>
          <p:nvPr/>
        </p:nvSpPr>
        <p:spPr>
          <a:xfrm>
            <a:off x="1051560" y="274320"/>
            <a:ext cx="7635240" cy="594360"/>
          </a:xfrm>
          <a:prstGeom prst="rect">
            <a:avLst/>
          </a:prstGeom>
          <a:noFill/>
          <a:ln/>
        </p:spPr>
        <p:txBody>
          <a:bodyPr wrap="square" lIns="0" tIns="0" rIns="0" bIns="0" rtlCol="0" anchor="ctr"/>
          <a:lstStyle/>
          <a:p>
            <a:pPr marL="0" indent="0">
              <a:buNone/>
            </a:pPr>
            <a:r>
              <a:rPr lang="en-US" sz="2400" b="1" dirty="0">
                <a:solidFill>
                  <a:srgbClr val="12433A"/>
                </a:solidFill>
                <a:latin typeface="Malgun Gothic" pitchFamily="34" charset="0"/>
                <a:ea typeface="Malgun Gothic" pitchFamily="34" charset="-122"/>
                <a:cs typeface="Malgun Gothic" pitchFamily="34" charset="-120"/>
              </a:rPr>
              <a:t>세 과제의 개선 방안</a:t>
            </a:r>
            <a:endParaRPr lang="en-US" sz="2400" dirty="0"/>
          </a:p>
        </p:txBody>
      </p:sp>
      <p:sp>
        <p:nvSpPr>
          <p:cNvPr id="5" name="핵심 메시지"/>
          <p:cNvSpPr txBox="1"/>
          <p:nvPr/>
        </p:nvSpPr>
        <p:spPr>
          <a:xfrm>
            <a:off x="457200" y="896112"/>
            <a:ext cx="8229600" cy="365760"/>
          </a:xfrm>
          <a:prstGeom prst="rect">
            <a:avLst/>
          </a:prstGeom>
          <a:noFill/>
          <a:ln/>
        </p:spPr>
        <p:txBody>
          <a:bodyPr wrap="square" lIns="0" tIns="0" rIns="0" bIns="0" rtlCol="0" anchor="ctr"/>
          <a:lstStyle/>
          <a:p>
            <a:pPr marL="0" indent="0">
              <a:buNone/>
            </a:pPr>
            <a:r>
              <a:rPr lang="en-US" sz="1400" dirty="0">
                <a:solidFill>
                  <a:srgbClr val="5F6F6B"/>
                </a:solidFill>
                <a:latin typeface="Malgun Gothic" pitchFamily="34" charset="0"/>
                <a:ea typeface="Malgun Gothic" pitchFamily="34" charset="-122"/>
                <a:cs typeface="Malgun Gothic" pitchFamily="34" charset="-120"/>
              </a:rPr>
              <a:t>점검 절차와 추적 체계, 품목 배정 구조를 함께 개선한다</a:t>
            </a:r>
            <a:endParaRPr lang="en-US" sz="1400" dirty="0"/>
          </a:p>
        </p:txBody>
      </p:sp>
      <p:graphicFrame>
        <p:nvGraphicFramePr>
          <p:cNvPr id="13" name="개선안 비교표"/>
          <p:cNvGraphicFramePr>
            <a:graphicFrameLocks noGrp="1"/>
          </p:cNvGraphicFramePr>
          <p:nvPr>
            <p:extLst>
              <p:ext uri="{D42A27DB-BD31-4B8C-83A1-F6EECF244321}">
                <p14:modId xmlns:p14="http://schemas.microsoft.com/office/powerpoint/2010/main" val="1579011935"/>
              </p:ext>
            </p:extLst>
          </p:nvPr>
        </p:nvGraphicFramePr>
        <p:xfrm>
          <a:off x="457200" y="1417320"/>
          <a:ext cx="8229600" cy="1965960"/>
        </p:xfrm>
        <a:graphic>
          <a:graphicData uri="http://schemas.openxmlformats.org/drawingml/2006/table">
            <a:tbl>
              <a:tblPr/>
              <a:tblGrid>
                <a:gridCol w="2377440">
                  <a:extLst>
                    <a:ext uri="{9D8B030D-6E8A-4147-A177-3AD203B41FA5}">
                      <a16:colId xmlns:a16="http://schemas.microsoft.com/office/drawing/2014/main" val="20000"/>
                    </a:ext>
                  </a:extLst>
                </a:gridCol>
                <a:gridCol w="5852160">
                  <a:extLst>
                    <a:ext uri="{9D8B030D-6E8A-4147-A177-3AD203B41FA5}">
                      <a16:colId xmlns:a16="http://schemas.microsoft.com/office/drawing/2014/main" val="20001"/>
                    </a:ext>
                  </a:extLst>
                </a:gridCol>
              </a:tblGrid>
              <a:tr h="365760">
                <a:tc>
                  <a:txBody>
                    <a:bodyPr/>
                    <a:lstStyle/>
                    <a:p>
                      <a:pPr marL="0" indent="0">
                        <a:buNone/>
                      </a:pPr>
                      <a:r>
                        <a:rPr lang="en-US" sz="1300" b="1" dirty="0">
                          <a:solidFill>
                            <a:srgbClr val="FFFFFF"/>
                          </a:solidFill>
                          <a:latin typeface="Malgun Gothic" pitchFamily="34" charset="0"/>
                          <a:ea typeface="Malgun Gothic" pitchFamily="34" charset="-122"/>
                          <a:cs typeface="Malgun Gothic" pitchFamily="34" charset="-120"/>
                        </a:rPr>
                        <a:t>과제</a:t>
                      </a:r>
                      <a:endParaRPr lang="en-US" sz="1300" dirty="0">
                        <a:latin typeface="Malgun Gothic" charset="0"/>
                        <a:ea typeface="Malgun Gothic" charset="0"/>
                        <a:cs typeface="Malgun Gothic" charset="0"/>
                      </a:endParaRPr>
                    </a:p>
                  </a:txBody>
                  <a:tcPr anchor="ctr">
                    <a:lnL w="9525" cap="flat" cmpd="sng" algn="ctr">
                      <a:solidFill>
                        <a:srgbClr val="D5DFDB"/>
                      </a:solidFill>
                      <a:prstDash val="solid"/>
                      <a:round/>
                      <a:headEnd type="none" w="med" len="med"/>
                      <a:tailEnd type="none" w="med" len="med"/>
                    </a:lnL>
                    <a:lnR w="9525" cap="flat" cmpd="sng" algn="ctr">
                      <a:solidFill>
                        <a:srgbClr val="D5DFDB"/>
                      </a:solidFill>
                      <a:prstDash val="solid"/>
                      <a:round/>
                      <a:headEnd type="none" w="med" len="med"/>
                      <a:tailEnd type="none" w="med" len="med"/>
                    </a:lnR>
                    <a:lnT w="9525" cap="flat" cmpd="sng" algn="ctr">
                      <a:solidFill>
                        <a:srgbClr val="D5DFDB"/>
                      </a:solidFill>
                      <a:prstDash val="solid"/>
                      <a:round/>
                      <a:headEnd type="none" w="med" len="med"/>
                      <a:tailEnd type="none" w="med" len="med"/>
                    </a:lnT>
                    <a:lnB w="9525" cap="flat" cmpd="sng" algn="ctr">
                      <a:solidFill>
                        <a:srgbClr val="D5DFDB"/>
                      </a:solidFill>
                      <a:prstDash val="solid"/>
                      <a:round/>
                      <a:headEnd type="none" w="med" len="med"/>
                      <a:tailEnd type="none" w="med" len="med"/>
                    </a:lnB>
                    <a:solidFill>
                      <a:srgbClr val="12433A"/>
                    </a:solidFill>
                  </a:tcPr>
                </a:tc>
                <a:tc>
                  <a:txBody>
                    <a:bodyPr/>
                    <a:lstStyle/>
                    <a:p>
                      <a:pPr marL="0" indent="0">
                        <a:buNone/>
                      </a:pPr>
                      <a:r>
                        <a:rPr lang="en-US" sz="1300" b="1" dirty="0">
                          <a:solidFill>
                            <a:srgbClr val="FFFFFF"/>
                          </a:solidFill>
                          <a:latin typeface="Malgun Gothic" pitchFamily="34" charset="0"/>
                          <a:ea typeface="Malgun Gothic" pitchFamily="34" charset="-122"/>
                          <a:cs typeface="Malgun Gothic" pitchFamily="34" charset="-120"/>
                        </a:rPr>
                        <a:t>개선 방안 (제안)</a:t>
                      </a:r>
                      <a:endParaRPr lang="en-US" sz="1300" dirty="0">
                        <a:latin typeface="Malgun Gothic" charset="0"/>
                        <a:ea typeface="Malgun Gothic" charset="0"/>
                        <a:cs typeface="Malgun Gothic" charset="0"/>
                      </a:endParaRPr>
                    </a:p>
                  </a:txBody>
                  <a:tcPr anchor="ctr">
                    <a:lnL w="9525" cap="flat" cmpd="sng" algn="ctr">
                      <a:solidFill>
                        <a:srgbClr val="D5DFDB"/>
                      </a:solidFill>
                      <a:prstDash val="solid"/>
                      <a:round/>
                      <a:headEnd type="none" w="med" len="med"/>
                      <a:tailEnd type="none" w="med" len="med"/>
                    </a:lnL>
                    <a:lnR w="9525" cap="flat" cmpd="sng" algn="ctr">
                      <a:solidFill>
                        <a:srgbClr val="D5DFDB"/>
                      </a:solidFill>
                      <a:prstDash val="solid"/>
                      <a:round/>
                      <a:headEnd type="none" w="med" len="med"/>
                      <a:tailEnd type="none" w="med" len="med"/>
                    </a:lnR>
                    <a:lnT w="9525" cap="flat" cmpd="sng" algn="ctr">
                      <a:solidFill>
                        <a:srgbClr val="D5DFDB"/>
                      </a:solidFill>
                      <a:prstDash val="solid"/>
                      <a:round/>
                      <a:headEnd type="none" w="med" len="med"/>
                      <a:tailEnd type="none" w="med" len="med"/>
                    </a:lnT>
                    <a:lnB w="9525" cap="flat" cmpd="sng" algn="ctr">
                      <a:solidFill>
                        <a:srgbClr val="D5DFDB"/>
                      </a:solidFill>
                      <a:prstDash val="solid"/>
                      <a:round/>
                      <a:headEnd type="none" w="med" len="med"/>
                      <a:tailEnd type="none" w="med" len="med"/>
                    </a:lnB>
                    <a:solidFill>
                      <a:srgbClr val="12433A"/>
                    </a:solidFill>
                  </a:tcPr>
                </a:tc>
                <a:extLst>
                  <a:ext uri="{0D108BD9-81ED-4DB2-BD59-A6C34878D82A}">
                    <a16:rowId xmlns:a16="http://schemas.microsoft.com/office/drawing/2014/main" val="10000"/>
                  </a:ext>
                </a:extLst>
              </a:tr>
              <a:tr h="502920">
                <a:tc>
                  <a:txBody>
                    <a:bodyPr/>
                    <a:lstStyle/>
                    <a:p>
                      <a:pPr marL="0" indent="0">
                        <a:buNone/>
                      </a:pPr>
                      <a:r>
                        <a:rPr lang="en-US" sz="1300" b="1" dirty="0">
                          <a:solidFill>
                            <a:srgbClr val="12433A"/>
                          </a:solidFill>
                          <a:latin typeface="Malgun Gothic" pitchFamily="34" charset="0"/>
                          <a:ea typeface="Malgun Gothic" pitchFamily="34" charset="-122"/>
                          <a:cs typeface="Malgun Gothic" pitchFamily="34" charset="-120"/>
                        </a:rPr>
                        <a:t>1  외주팀 품질 위험</a:t>
                      </a:r>
                      <a:endParaRPr lang="en-US" sz="1300" dirty="0">
                        <a:latin typeface="Malgun Gothic" charset="0"/>
                        <a:ea typeface="Malgun Gothic" charset="0"/>
                        <a:cs typeface="Malgun Gothic" charset="0"/>
                      </a:endParaRPr>
                    </a:p>
                  </a:txBody>
                  <a:tcPr anchor="ctr">
                    <a:lnL w="9525" cap="flat" cmpd="sng" algn="ctr">
                      <a:solidFill>
                        <a:srgbClr val="D5DFDB"/>
                      </a:solidFill>
                      <a:prstDash val="solid"/>
                      <a:round/>
                      <a:headEnd type="none" w="med" len="med"/>
                      <a:tailEnd type="none" w="med" len="med"/>
                    </a:lnL>
                    <a:lnR w="9525" cap="flat" cmpd="sng" algn="ctr">
                      <a:solidFill>
                        <a:srgbClr val="D5DFDB"/>
                      </a:solidFill>
                      <a:prstDash val="solid"/>
                      <a:round/>
                      <a:headEnd type="none" w="med" len="med"/>
                      <a:tailEnd type="none" w="med" len="med"/>
                    </a:lnR>
                    <a:lnT w="9525" cap="flat" cmpd="sng" algn="ctr">
                      <a:solidFill>
                        <a:srgbClr val="D5DFDB"/>
                      </a:solidFill>
                      <a:prstDash val="solid"/>
                      <a:round/>
                      <a:headEnd type="none" w="med" len="med"/>
                      <a:tailEnd type="none" w="med" len="med"/>
                    </a:lnT>
                    <a:lnB w="9525" cap="flat" cmpd="sng" algn="ctr">
                      <a:solidFill>
                        <a:srgbClr val="D5DFDB"/>
                      </a:solidFill>
                      <a:prstDash val="solid"/>
                      <a:round/>
                      <a:headEnd type="none" w="med" len="med"/>
                      <a:tailEnd type="none" w="med" len="med"/>
                    </a:lnB>
                    <a:solidFill>
                      <a:srgbClr val="E8F2EE"/>
                    </a:solidFill>
                  </a:tcPr>
                </a:tc>
                <a:tc>
                  <a:txBody>
                    <a:bodyPr/>
                    <a:lstStyle/>
                    <a:p>
                      <a:pPr marL="0" indent="0">
                        <a:buNone/>
                      </a:pPr>
                      <a:r>
                        <a:rPr lang="en-US" sz="1300" dirty="0">
                          <a:solidFill>
                            <a:srgbClr val="1F2D2A"/>
                          </a:solidFill>
                          <a:latin typeface="Malgun Gothic" pitchFamily="34" charset="0"/>
                          <a:ea typeface="Malgun Gothic" pitchFamily="34" charset="-122"/>
                          <a:cs typeface="Malgun Gothic" pitchFamily="34" charset="-120"/>
                        </a:rPr>
                        <a:t>필수 체크리스트 · 위험도별 추가 확인 · 표본 감사</a:t>
                      </a:r>
                      <a:endParaRPr lang="en-US" sz="1300" dirty="0">
                        <a:latin typeface="Malgun Gothic" charset="0"/>
                        <a:ea typeface="Malgun Gothic" charset="0"/>
                        <a:cs typeface="Malgun Gothic" charset="0"/>
                      </a:endParaRPr>
                    </a:p>
                  </a:txBody>
                  <a:tcPr anchor="ctr">
                    <a:lnL w="9525" cap="flat" cmpd="sng" algn="ctr">
                      <a:solidFill>
                        <a:srgbClr val="D5DFDB"/>
                      </a:solidFill>
                      <a:prstDash val="solid"/>
                      <a:round/>
                      <a:headEnd type="none" w="med" len="med"/>
                      <a:tailEnd type="none" w="med" len="med"/>
                    </a:lnL>
                    <a:lnR w="9525" cap="flat" cmpd="sng" algn="ctr">
                      <a:solidFill>
                        <a:srgbClr val="D5DFDB"/>
                      </a:solidFill>
                      <a:prstDash val="solid"/>
                      <a:round/>
                      <a:headEnd type="none" w="med" len="med"/>
                      <a:tailEnd type="none" w="med" len="med"/>
                    </a:lnR>
                    <a:lnT w="9525" cap="flat" cmpd="sng" algn="ctr">
                      <a:solidFill>
                        <a:srgbClr val="D5DFDB"/>
                      </a:solidFill>
                      <a:prstDash val="solid"/>
                      <a:round/>
                      <a:headEnd type="none" w="med" len="med"/>
                      <a:tailEnd type="none" w="med" len="med"/>
                    </a:lnT>
                    <a:lnB w="9525" cap="flat" cmpd="sng" algn="ctr">
                      <a:solidFill>
                        <a:srgbClr val="D5DFDB"/>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300" b="1" dirty="0">
                          <a:solidFill>
                            <a:srgbClr val="12433A"/>
                          </a:solidFill>
                          <a:latin typeface="Malgun Gothic" pitchFamily="34" charset="0"/>
                          <a:ea typeface="Malgun Gothic" pitchFamily="34" charset="-122"/>
                          <a:cs typeface="Malgun Gothic" pitchFamily="34" charset="-120"/>
                        </a:rPr>
                        <a:t>2  재검수 부담</a:t>
                      </a:r>
                      <a:endParaRPr lang="en-US" sz="1300" dirty="0">
                        <a:latin typeface="Malgun Gothic" charset="0"/>
                        <a:ea typeface="Malgun Gothic" charset="0"/>
                        <a:cs typeface="Malgun Gothic" charset="0"/>
                      </a:endParaRPr>
                    </a:p>
                  </a:txBody>
                  <a:tcPr anchor="ctr">
                    <a:lnL w="9525" cap="flat" cmpd="sng" algn="ctr">
                      <a:solidFill>
                        <a:srgbClr val="D5DFDB"/>
                      </a:solidFill>
                      <a:prstDash val="solid"/>
                      <a:round/>
                      <a:headEnd type="none" w="med" len="med"/>
                      <a:tailEnd type="none" w="med" len="med"/>
                    </a:lnL>
                    <a:lnR w="9525" cap="flat" cmpd="sng" algn="ctr">
                      <a:solidFill>
                        <a:srgbClr val="D5DFDB"/>
                      </a:solidFill>
                      <a:prstDash val="solid"/>
                      <a:round/>
                      <a:headEnd type="none" w="med" len="med"/>
                      <a:tailEnd type="none" w="med" len="med"/>
                    </a:lnR>
                    <a:lnT w="9525" cap="flat" cmpd="sng" algn="ctr">
                      <a:solidFill>
                        <a:srgbClr val="D5DFDB"/>
                      </a:solidFill>
                      <a:prstDash val="solid"/>
                      <a:round/>
                      <a:headEnd type="none" w="med" len="med"/>
                      <a:tailEnd type="none" w="med" len="med"/>
                    </a:lnT>
                    <a:lnB w="9525" cap="flat" cmpd="sng" algn="ctr">
                      <a:solidFill>
                        <a:srgbClr val="D5DFDB"/>
                      </a:solidFill>
                      <a:prstDash val="solid"/>
                      <a:round/>
                      <a:headEnd type="none" w="med" len="med"/>
                      <a:tailEnd type="none" w="med" len="med"/>
                    </a:lnB>
                    <a:solidFill>
                      <a:srgbClr val="E8F2EE"/>
                    </a:solidFill>
                  </a:tcPr>
                </a:tc>
                <a:tc>
                  <a:txBody>
                    <a:bodyPr/>
                    <a:lstStyle/>
                    <a:p>
                      <a:pPr marL="0" indent="0">
                        <a:buNone/>
                      </a:pPr>
                      <a:r>
                        <a:rPr lang="en-US" sz="1300" dirty="0">
                          <a:solidFill>
                            <a:srgbClr val="1F2D2A"/>
                          </a:solidFill>
                          <a:latin typeface="Malgun Gothic" pitchFamily="34" charset="0"/>
                          <a:ea typeface="Malgun Gothic" pitchFamily="34" charset="-122"/>
                          <a:cs typeface="Malgun Gothic" pitchFamily="34" charset="-120"/>
                        </a:rPr>
                        <a:t>최초 판정 연결 · 실제 재검수자 분리 기록 · 반복 사유 교육</a:t>
                      </a:r>
                      <a:endParaRPr lang="en-US" sz="1300" dirty="0">
                        <a:latin typeface="Malgun Gothic" charset="0"/>
                        <a:ea typeface="Malgun Gothic" charset="0"/>
                        <a:cs typeface="Malgun Gothic" charset="0"/>
                      </a:endParaRPr>
                    </a:p>
                  </a:txBody>
                  <a:tcPr anchor="ctr">
                    <a:lnL w="9525" cap="flat" cmpd="sng" algn="ctr">
                      <a:solidFill>
                        <a:srgbClr val="D5DFDB"/>
                      </a:solidFill>
                      <a:prstDash val="solid"/>
                      <a:round/>
                      <a:headEnd type="none" w="med" len="med"/>
                      <a:tailEnd type="none" w="med" len="med"/>
                    </a:lnL>
                    <a:lnR w="9525" cap="flat" cmpd="sng" algn="ctr">
                      <a:solidFill>
                        <a:srgbClr val="D5DFDB"/>
                      </a:solidFill>
                      <a:prstDash val="solid"/>
                      <a:round/>
                      <a:headEnd type="none" w="med" len="med"/>
                      <a:tailEnd type="none" w="med" len="med"/>
                    </a:lnR>
                    <a:lnT w="9525" cap="flat" cmpd="sng" algn="ctr">
                      <a:solidFill>
                        <a:srgbClr val="D5DFDB"/>
                      </a:solidFill>
                      <a:prstDash val="solid"/>
                      <a:round/>
                      <a:headEnd type="none" w="med" len="med"/>
                      <a:tailEnd type="none" w="med" len="med"/>
                    </a:lnT>
                    <a:lnB w="9525" cap="flat" cmpd="sng" algn="ctr">
                      <a:solidFill>
                        <a:srgbClr val="D5DFDB"/>
                      </a:solidFill>
                      <a:prstDash val="solid"/>
                      <a:round/>
                      <a:headEnd type="none" w="med" len="med"/>
                      <a:tailEnd type="none" w="med" len="med"/>
                    </a:lnB>
                  </a:tcPr>
                </a:tc>
                <a:extLst>
                  <a:ext uri="{0D108BD9-81ED-4DB2-BD59-A6C34878D82A}">
                    <a16:rowId xmlns:a16="http://schemas.microsoft.com/office/drawing/2014/main" val="10002"/>
                  </a:ext>
                </a:extLst>
              </a:tr>
              <a:tr h="594360">
                <a:tc>
                  <a:txBody>
                    <a:bodyPr/>
                    <a:lstStyle/>
                    <a:p>
                      <a:pPr marL="0" indent="0">
                        <a:buNone/>
                      </a:pPr>
                      <a:r>
                        <a:rPr lang="en-US" sz="1300" b="1" dirty="0">
                          <a:solidFill>
                            <a:srgbClr val="12433A"/>
                          </a:solidFill>
                          <a:latin typeface="Malgun Gothic" pitchFamily="34" charset="0"/>
                          <a:ea typeface="Malgun Gothic" pitchFamily="34" charset="-122"/>
                          <a:cs typeface="Malgun Gothic" pitchFamily="34" charset="-120"/>
                        </a:rPr>
                        <a:t>3  품목 전문화</a:t>
                      </a:r>
                      <a:endParaRPr lang="en-US" sz="1300" dirty="0">
                        <a:latin typeface="Malgun Gothic" charset="0"/>
                        <a:ea typeface="Malgun Gothic" charset="0"/>
                        <a:cs typeface="Malgun Gothic" charset="0"/>
                      </a:endParaRPr>
                    </a:p>
                  </a:txBody>
                  <a:tcPr anchor="ctr">
                    <a:lnL w="9525" cap="flat" cmpd="sng" algn="ctr">
                      <a:solidFill>
                        <a:srgbClr val="D5DFDB"/>
                      </a:solidFill>
                      <a:prstDash val="solid"/>
                      <a:round/>
                      <a:headEnd type="none" w="med" len="med"/>
                      <a:tailEnd type="none" w="med" len="med"/>
                    </a:lnL>
                    <a:lnR w="9525" cap="flat" cmpd="sng" algn="ctr">
                      <a:solidFill>
                        <a:srgbClr val="D5DFDB"/>
                      </a:solidFill>
                      <a:prstDash val="solid"/>
                      <a:round/>
                      <a:headEnd type="none" w="med" len="med"/>
                      <a:tailEnd type="none" w="med" len="med"/>
                    </a:lnR>
                    <a:lnT w="9525" cap="flat" cmpd="sng" algn="ctr">
                      <a:solidFill>
                        <a:srgbClr val="D5DFDB"/>
                      </a:solidFill>
                      <a:prstDash val="solid"/>
                      <a:round/>
                      <a:headEnd type="none" w="med" len="med"/>
                      <a:tailEnd type="none" w="med" len="med"/>
                    </a:lnT>
                    <a:lnB w="9525" cap="flat" cmpd="sng" algn="ctr">
                      <a:solidFill>
                        <a:srgbClr val="D5DFDB"/>
                      </a:solidFill>
                      <a:prstDash val="solid"/>
                      <a:round/>
                      <a:headEnd type="none" w="med" len="med"/>
                      <a:tailEnd type="none" w="med" len="med"/>
                    </a:lnB>
                    <a:solidFill>
                      <a:srgbClr val="E8F2EE"/>
                    </a:solidFill>
                  </a:tcPr>
                </a:tc>
                <a:tc>
                  <a:txBody>
                    <a:bodyPr/>
                    <a:lstStyle/>
                    <a:p>
                      <a:pPr marL="0" indent="0">
                        <a:buNone/>
                      </a:pPr>
                      <a:r>
                        <a:rPr lang="en-US" sz="1300" dirty="0">
                          <a:solidFill>
                            <a:srgbClr val="1F2D2A"/>
                          </a:solidFill>
                          <a:latin typeface="Malgun Gothic" pitchFamily="34" charset="0"/>
                          <a:ea typeface="Malgun Gothic" pitchFamily="34" charset="-122"/>
                          <a:cs typeface="Malgun Gothic" pitchFamily="34" charset="-120"/>
                        </a:rPr>
                        <a:t>신발·의류·가방·시계·전자기기 전문팀 또는 전문 셀 + 독립 클레임 기능</a:t>
                      </a:r>
                      <a:endParaRPr lang="en-US" sz="1300" dirty="0">
                        <a:latin typeface="Malgun Gothic" charset="0"/>
                        <a:ea typeface="Malgun Gothic" charset="0"/>
                        <a:cs typeface="Malgun Gothic" charset="0"/>
                      </a:endParaRPr>
                    </a:p>
                  </a:txBody>
                  <a:tcPr anchor="ctr">
                    <a:lnL w="9525" cap="flat" cmpd="sng" algn="ctr">
                      <a:solidFill>
                        <a:srgbClr val="D5DFDB"/>
                      </a:solidFill>
                      <a:prstDash val="solid"/>
                      <a:round/>
                      <a:headEnd type="none" w="med" len="med"/>
                      <a:tailEnd type="none" w="med" len="med"/>
                    </a:lnL>
                    <a:lnR w="9525" cap="flat" cmpd="sng" algn="ctr">
                      <a:solidFill>
                        <a:srgbClr val="D5DFDB"/>
                      </a:solidFill>
                      <a:prstDash val="solid"/>
                      <a:round/>
                      <a:headEnd type="none" w="med" len="med"/>
                      <a:tailEnd type="none" w="med" len="med"/>
                    </a:lnR>
                    <a:lnT w="9525" cap="flat" cmpd="sng" algn="ctr">
                      <a:solidFill>
                        <a:srgbClr val="D5DFDB"/>
                      </a:solidFill>
                      <a:prstDash val="solid"/>
                      <a:round/>
                      <a:headEnd type="none" w="med" len="med"/>
                      <a:tailEnd type="none" w="med" len="med"/>
                    </a:lnT>
                    <a:lnB w="9525" cap="flat" cmpd="sng" algn="ctr">
                      <a:solidFill>
                        <a:srgbClr val="D5DFD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ext 4"/>
          <p:cNvSpPr txBox="1"/>
          <p:nvPr/>
        </p:nvSpPr>
        <p:spPr>
          <a:xfrm>
            <a:off x="457200" y="3566160"/>
            <a:ext cx="1828800" cy="274320"/>
          </a:xfrm>
          <a:prstGeom prst="rect">
            <a:avLst/>
          </a:prstGeom>
          <a:noFill/>
          <a:ln/>
        </p:spPr>
        <p:txBody>
          <a:bodyPr wrap="square" lIns="0" tIns="0" rIns="0" bIns="0" rtlCol="0" anchor="ctr"/>
          <a:lstStyle/>
          <a:p>
            <a:pPr marL="0" indent="0">
              <a:buNone/>
            </a:pPr>
            <a:r>
              <a:rPr lang="en-US" sz="1200" b="1" dirty="0">
                <a:solidFill>
                  <a:srgbClr val="12433A"/>
                </a:solidFill>
                <a:latin typeface="Malgun Gothic" pitchFamily="34" charset="0"/>
                <a:ea typeface="Malgun Gothic" pitchFamily="34" charset="-122"/>
                <a:cs typeface="Malgun Gothic" pitchFamily="34" charset="-120"/>
              </a:rPr>
              <a:t>실행 순서</a:t>
            </a:r>
            <a:endParaRPr lang="en-US" sz="1200" dirty="0"/>
          </a:p>
        </p:txBody>
      </p:sp>
      <p:sp>
        <p:nvSpPr>
          <p:cNvPr id="8" name="실행 순서 1"/>
          <p:cNvSpPr/>
          <p:nvPr/>
        </p:nvSpPr>
        <p:spPr>
          <a:xfrm>
            <a:off x="457200" y="3886200"/>
            <a:ext cx="2651760" cy="502920"/>
          </a:xfrm>
          <a:prstGeom prst="homePlate">
            <a:avLst/>
          </a:prstGeom>
          <a:solidFill>
            <a:srgbClr val="1B7566"/>
          </a:solidFill>
          <a:ln w="12700">
            <a:solidFill>
              <a:srgbClr val="1B7566"/>
            </a:solidFill>
            <a:prstDash val="solid"/>
          </a:ln>
        </p:spPr>
        <p:txBody>
          <a:bodyPr/>
          <a:lstStyle/>
          <a:p>
            <a:endParaRPr lang="ko-KR" altLang="en-US"/>
          </a:p>
        </p:txBody>
      </p:sp>
      <p:sp>
        <p:nvSpPr>
          <p:cNvPr id="9" name="Text 6"/>
          <p:cNvSpPr txBox="1"/>
          <p:nvPr/>
        </p:nvSpPr>
        <p:spPr>
          <a:xfrm>
            <a:off x="457200" y="3886200"/>
            <a:ext cx="237744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Malgun Gothic" pitchFamily="34" charset="0"/>
                <a:ea typeface="Malgun Gothic" pitchFamily="34" charset="-122"/>
                <a:cs typeface="Malgun Gothic" pitchFamily="34" charset="-120"/>
              </a:rPr>
              <a:t>전문 셀 시범 운영</a:t>
            </a:r>
            <a:endParaRPr lang="en-US" sz="1300" dirty="0"/>
          </a:p>
        </p:txBody>
      </p:sp>
      <p:sp>
        <p:nvSpPr>
          <p:cNvPr id="10" name="실행 순서 2"/>
          <p:cNvSpPr/>
          <p:nvPr/>
        </p:nvSpPr>
        <p:spPr>
          <a:xfrm>
            <a:off x="3291840" y="3886200"/>
            <a:ext cx="2651760" cy="502920"/>
          </a:xfrm>
          <a:prstGeom prst="homePlate">
            <a:avLst/>
          </a:prstGeom>
          <a:solidFill>
            <a:srgbClr val="1B7566"/>
          </a:solidFill>
          <a:ln w="12700">
            <a:solidFill>
              <a:srgbClr val="1B7566"/>
            </a:solidFill>
            <a:prstDash val="solid"/>
          </a:ln>
        </p:spPr>
        <p:txBody>
          <a:bodyPr/>
          <a:lstStyle/>
          <a:p>
            <a:endParaRPr lang="ko-KR" altLang="en-US"/>
          </a:p>
        </p:txBody>
      </p:sp>
      <p:sp>
        <p:nvSpPr>
          <p:cNvPr id="11" name="Text 8"/>
          <p:cNvSpPr txBox="1"/>
          <p:nvPr/>
        </p:nvSpPr>
        <p:spPr>
          <a:xfrm>
            <a:off x="3291840" y="3886200"/>
            <a:ext cx="237744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Malgun Gothic" pitchFamily="34" charset="0"/>
                <a:ea typeface="Malgun Gothic" pitchFamily="34" charset="-122"/>
                <a:cs typeface="Malgun Gothic" pitchFamily="34" charset="-120"/>
              </a:rPr>
              <a:t>품질·대기시간 비교</a:t>
            </a:r>
            <a:endParaRPr lang="en-US" sz="1300" dirty="0"/>
          </a:p>
        </p:txBody>
      </p:sp>
      <p:sp>
        <p:nvSpPr>
          <p:cNvPr id="12" name="실행 순서 3"/>
          <p:cNvSpPr/>
          <p:nvPr/>
        </p:nvSpPr>
        <p:spPr>
          <a:xfrm>
            <a:off x="6126480" y="3886200"/>
            <a:ext cx="2651760" cy="502920"/>
          </a:xfrm>
          <a:prstGeom prst="homePlate">
            <a:avLst/>
          </a:prstGeom>
          <a:solidFill>
            <a:srgbClr val="12433A"/>
          </a:solidFill>
          <a:ln w="12700">
            <a:solidFill>
              <a:srgbClr val="12433A"/>
            </a:solidFill>
            <a:prstDash val="solid"/>
          </a:ln>
        </p:spPr>
        <p:txBody>
          <a:bodyPr/>
          <a:lstStyle/>
          <a:p>
            <a:endParaRPr lang="ko-KR" altLang="en-US"/>
          </a:p>
        </p:txBody>
      </p:sp>
      <p:sp>
        <p:nvSpPr>
          <p:cNvPr id="6" name="Text 10"/>
          <p:cNvSpPr txBox="1"/>
          <p:nvPr/>
        </p:nvSpPr>
        <p:spPr>
          <a:xfrm>
            <a:off x="6126480" y="3886200"/>
            <a:ext cx="237744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Malgun Gothic" pitchFamily="34" charset="0"/>
                <a:ea typeface="Malgun Gothic" pitchFamily="34" charset="-122"/>
                <a:cs typeface="Malgun Gothic" pitchFamily="34" charset="-120"/>
              </a:rPr>
              <a:t>확대</a:t>
            </a:r>
            <a:endParaRPr lang="en-US" sz="13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F6F6B"/>
                </a:solidFill>
                <a:latin typeface="Malgun Gothic"/>
                <a:ea typeface="Malgun Gothic"/>
                <a:cs typeface="Malgun Gothic"/>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번호 원"/>
          <p:cNvSpPr/>
          <p:nvPr/>
        </p:nvSpPr>
        <p:spPr>
          <a:xfrm>
            <a:off x="457200" y="347472"/>
            <a:ext cx="457200" cy="457200"/>
          </a:xfrm>
          <a:prstGeom prst="ellipse">
            <a:avLst/>
          </a:prstGeom>
          <a:solidFill>
            <a:srgbClr val="1B7566"/>
          </a:solidFill>
          <a:ln w="12700">
            <a:solidFill>
              <a:srgbClr val="1B7566"/>
            </a:solidFill>
            <a:prstDash val="solid"/>
          </a:ln>
        </p:spPr>
        <p:txBody>
          <a:bodyPr/>
          <a:lstStyle/>
          <a:p>
            <a:endParaRPr lang="ko-KR" altLang="en-US"/>
          </a:p>
        </p:txBody>
      </p:sp>
      <p:sp>
        <p:nvSpPr>
          <p:cNvPr id="3" name="번호"/>
          <p:cNvSpPr txBox="1"/>
          <p:nvPr/>
        </p:nvSpPr>
        <p:spPr>
          <a:xfrm>
            <a:off x="457200" y="34747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11</a:t>
            </a:r>
            <a:endParaRPr lang="en-US" sz="1400" dirty="0"/>
          </a:p>
        </p:txBody>
      </p:sp>
      <p:sp>
        <p:nvSpPr>
          <p:cNvPr id="4" name="제목"/>
          <p:cNvSpPr txBox="1"/>
          <p:nvPr/>
        </p:nvSpPr>
        <p:spPr>
          <a:xfrm>
            <a:off x="1051560" y="274320"/>
            <a:ext cx="7635240" cy="594360"/>
          </a:xfrm>
          <a:prstGeom prst="rect">
            <a:avLst/>
          </a:prstGeom>
          <a:noFill/>
          <a:ln/>
        </p:spPr>
        <p:txBody>
          <a:bodyPr wrap="square" lIns="0" tIns="0" rIns="0" bIns="0" rtlCol="0" anchor="ctr"/>
          <a:lstStyle/>
          <a:p>
            <a:pPr marL="0" indent="0">
              <a:buNone/>
            </a:pPr>
            <a:r>
              <a:rPr lang="en-US" sz="2400" b="1" dirty="0">
                <a:solidFill>
                  <a:srgbClr val="12433A"/>
                </a:solidFill>
                <a:latin typeface="Malgun Gothic" pitchFamily="34" charset="0"/>
                <a:ea typeface="Malgun Gothic" pitchFamily="34" charset="-122"/>
                <a:cs typeface="Malgun Gothic" pitchFamily="34" charset="-120"/>
              </a:rPr>
              <a:t>Gold 지표와 활용 계획</a:t>
            </a:r>
            <a:endParaRPr lang="en-US" sz="2400" dirty="0"/>
          </a:p>
        </p:txBody>
      </p:sp>
      <p:sp>
        <p:nvSpPr>
          <p:cNvPr id="5" name="핵심 메시지"/>
          <p:cNvSpPr txBox="1"/>
          <p:nvPr/>
        </p:nvSpPr>
        <p:spPr>
          <a:xfrm>
            <a:off x="457200" y="896112"/>
            <a:ext cx="8229600" cy="365760"/>
          </a:xfrm>
          <a:prstGeom prst="rect">
            <a:avLst/>
          </a:prstGeom>
          <a:noFill/>
          <a:ln/>
        </p:spPr>
        <p:txBody>
          <a:bodyPr wrap="square" lIns="0" tIns="0" rIns="0" bIns="0" rtlCol="0" anchor="ctr"/>
          <a:lstStyle/>
          <a:p>
            <a:pPr marL="0" indent="0">
              <a:buNone/>
            </a:pPr>
            <a:r>
              <a:rPr lang="en-US" sz="1400" dirty="0">
                <a:solidFill>
                  <a:srgbClr val="5F6F6B"/>
                </a:solidFill>
                <a:latin typeface="Malgun Gothic" pitchFamily="34" charset="0"/>
                <a:ea typeface="Malgun Gothic" pitchFamily="34" charset="-122"/>
                <a:cs typeface="Malgun Gothic" pitchFamily="34" charset="-120"/>
              </a:rPr>
              <a:t>각 개선 과제를 지속적으로 확인할 집계 모델과 지표를 제안한다</a:t>
            </a:r>
            <a:endParaRPr lang="en-US" sz="1400" dirty="0"/>
          </a:p>
        </p:txBody>
      </p:sp>
      <p:graphicFrame>
        <p:nvGraphicFramePr>
          <p:cNvPr id="14" name="Gold 모델 표"/>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2468880"/>
        </p:xfrm>
        <a:graphic>
          <a:graphicData uri="http://schemas.openxmlformats.org/drawingml/2006/table">
            <a:tbl>
              <a:tblPr/>
              <a:tblGrid>
                <a:gridCol w="201168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365760">
                <a:tc>
                  <a:txBody>
                    <a:bodyPr/>
                    <a:lstStyle/>
                    <a:p>
                      <a:pPr marL="0" indent="0">
                        <a:buNone/>
                      </a:pPr>
                      <a:r>
                        <a:rPr lang="en-US" sz="1300" b="1" dirty="0">
                          <a:solidFill>
                            <a:srgbClr val="FFFFFF"/>
                          </a:solidFill>
                          <a:latin typeface="Malgun Gothic" pitchFamily="34" charset="0"/>
                          <a:ea typeface="Malgun Gothic" pitchFamily="34" charset="-122"/>
                          <a:cs typeface="Malgun Gothic" pitchFamily="34" charset="-120"/>
                        </a:rPr>
                        <a:t>Gold 모델</a:t>
                      </a:r>
                      <a:endParaRPr lang="en-US" sz="1300" dirty="0">
                        <a:latin typeface="Malgun Gothic" charset="0"/>
                        <a:ea typeface="Malgun Gothic" charset="0"/>
                        <a:cs typeface="Malgun Gothic" charset="0"/>
                      </a:endParaRPr>
                    </a:p>
                  </a:txBody>
                  <a:tcPr anchor="ctr">
                    <a:lnL w="9525" cap="flat" cmpd="sng" algn="ctr">
                      <a:solidFill>
                        <a:srgbClr val="D5DFDB"/>
                      </a:solidFill>
                      <a:prstDash val="solid"/>
                      <a:round/>
                      <a:headEnd type="none" w="med" len="med"/>
                      <a:tailEnd type="none" w="med" len="med"/>
                    </a:lnL>
                    <a:lnR w="9525" cap="flat" cmpd="sng" algn="ctr">
                      <a:solidFill>
                        <a:srgbClr val="D5DFDB"/>
                      </a:solidFill>
                      <a:prstDash val="solid"/>
                      <a:round/>
                      <a:headEnd type="none" w="med" len="med"/>
                      <a:tailEnd type="none" w="med" len="med"/>
                    </a:lnR>
                    <a:lnT w="9525" cap="flat" cmpd="sng" algn="ctr">
                      <a:solidFill>
                        <a:srgbClr val="D5DFDB"/>
                      </a:solidFill>
                      <a:prstDash val="solid"/>
                      <a:round/>
                      <a:headEnd type="none" w="med" len="med"/>
                      <a:tailEnd type="none" w="med" len="med"/>
                    </a:lnT>
                    <a:lnB w="9525" cap="flat" cmpd="sng" algn="ctr">
                      <a:solidFill>
                        <a:srgbClr val="D5DFDB"/>
                      </a:solidFill>
                      <a:prstDash val="solid"/>
                      <a:round/>
                      <a:headEnd type="none" w="med" len="med"/>
                      <a:tailEnd type="none" w="med" len="med"/>
                    </a:lnB>
                    <a:solidFill>
                      <a:srgbClr val="12433A"/>
                    </a:solidFill>
                  </a:tcPr>
                </a:tc>
                <a:tc>
                  <a:txBody>
                    <a:bodyPr/>
                    <a:lstStyle/>
                    <a:p>
                      <a:pPr marL="0" indent="0">
                        <a:buNone/>
                      </a:pPr>
                      <a:r>
                        <a:rPr lang="en-US" sz="1300" b="1" dirty="0">
                          <a:solidFill>
                            <a:srgbClr val="FFFFFF"/>
                          </a:solidFill>
                          <a:latin typeface="Malgun Gothic" pitchFamily="34" charset="0"/>
                          <a:ea typeface="Malgun Gothic" pitchFamily="34" charset="-122"/>
                          <a:cs typeface="Malgun Gothic" pitchFamily="34" charset="-120"/>
                        </a:rPr>
                        <a:t>관리 지표</a:t>
                      </a:r>
                      <a:endParaRPr lang="en-US" sz="1300" dirty="0">
                        <a:latin typeface="Malgun Gothic" charset="0"/>
                        <a:ea typeface="Malgun Gothic" charset="0"/>
                        <a:cs typeface="Malgun Gothic" charset="0"/>
                      </a:endParaRPr>
                    </a:p>
                  </a:txBody>
                  <a:tcPr anchor="ctr">
                    <a:lnL w="9525" cap="flat" cmpd="sng" algn="ctr">
                      <a:solidFill>
                        <a:srgbClr val="D5DFDB"/>
                      </a:solidFill>
                      <a:prstDash val="solid"/>
                      <a:round/>
                      <a:headEnd type="none" w="med" len="med"/>
                      <a:tailEnd type="none" w="med" len="med"/>
                    </a:lnL>
                    <a:lnR w="9525" cap="flat" cmpd="sng" algn="ctr">
                      <a:solidFill>
                        <a:srgbClr val="D5DFDB"/>
                      </a:solidFill>
                      <a:prstDash val="solid"/>
                      <a:round/>
                      <a:headEnd type="none" w="med" len="med"/>
                      <a:tailEnd type="none" w="med" len="med"/>
                    </a:lnR>
                    <a:lnT w="9525" cap="flat" cmpd="sng" algn="ctr">
                      <a:solidFill>
                        <a:srgbClr val="D5DFDB"/>
                      </a:solidFill>
                      <a:prstDash val="solid"/>
                      <a:round/>
                      <a:headEnd type="none" w="med" len="med"/>
                      <a:tailEnd type="none" w="med" len="med"/>
                    </a:lnT>
                    <a:lnB w="9525" cap="flat" cmpd="sng" algn="ctr">
                      <a:solidFill>
                        <a:srgbClr val="D5DFDB"/>
                      </a:solidFill>
                      <a:prstDash val="solid"/>
                      <a:round/>
                      <a:headEnd type="none" w="med" len="med"/>
                      <a:tailEnd type="none" w="med" len="med"/>
                    </a:lnB>
                    <a:solidFill>
                      <a:srgbClr val="12433A"/>
                    </a:solidFill>
                  </a:tcPr>
                </a:tc>
                <a:tc>
                  <a:txBody>
                    <a:bodyPr/>
                    <a:lstStyle/>
                    <a:p>
                      <a:pPr marL="0" indent="0">
                        <a:buNone/>
                      </a:pPr>
                      <a:r>
                        <a:rPr lang="en-US" sz="1300" b="1" dirty="0">
                          <a:solidFill>
                            <a:srgbClr val="FFFFFF"/>
                          </a:solidFill>
                          <a:latin typeface="Malgun Gothic" pitchFamily="34" charset="0"/>
                          <a:ea typeface="Malgun Gothic" pitchFamily="34" charset="-122"/>
                          <a:cs typeface="Malgun Gothic" pitchFamily="34" charset="-120"/>
                        </a:rPr>
                        <a:t>필요 데이터 / 상태</a:t>
                      </a:r>
                      <a:endParaRPr lang="en-US" sz="1300" dirty="0">
                        <a:latin typeface="Malgun Gothic" charset="0"/>
                        <a:ea typeface="Malgun Gothic" charset="0"/>
                        <a:cs typeface="Malgun Gothic" charset="0"/>
                      </a:endParaRPr>
                    </a:p>
                  </a:txBody>
                  <a:tcPr anchor="ctr">
                    <a:lnL w="9525" cap="flat" cmpd="sng" algn="ctr">
                      <a:solidFill>
                        <a:srgbClr val="D5DFDB"/>
                      </a:solidFill>
                      <a:prstDash val="solid"/>
                      <a:round/>
                      <a:headEnd type="none" w="med" len="med"/>
                      <a:tailEnd type="none" w="med" len="med"/>
                    </a:lnL>
                    <a:lnR w="9525" cap="flat" cmpd="sng" algn="ctr">
                      <a:solidFill>
                        <a:srgbClr val="D5DFDB"/>
                      </a:solidFill>
                      <a:prstDash val="solid"/>
                      <a:round/>
                      <a:headEnd type="none" w="med" len="med"/>
                      <a:tailEnd type="none" w="med" len="med"/>
                    </a:lnR>
                    <a:lnT w="9525" cap="flat" cmpd="sng" algn="ctr">
                      <a:solidFill>
                        <a:srgbClr val="D5DFDB"/>
                      </a:solidFill>
                      <a:prstDash val="solid"/>
                      <a:round/>
                      <a:headEnd type="none" w="med" len="med"/>
                      <a:tailEnd type="none" w="med" len="med"/>
                    </a:lnT>
                    <a:lnB w="9525" cap="flat" cmpd="sng" algn="ctr">
                      <a:solidFill>
                        <a:srgbClr val="D5DFDB"/>
                      </a:solidFill>
                      <a:prstDash val="solid"/>
                      <a:round/>
                      <a:headEnd type="none" w="med" len="med"/>
                      <a:tailEnd type="none" w="med" len="med"/>
                    </a:lnB>
                    <a:solidFill>
                      <a:srgbClr val="12433A"/>
                    </a:solidFill>
                  </a:tcPr>
                </a:tc>
                <a:extLst>
                  <a:ext uri="{0D108BD9-81ED-4DB2-BD59-A6C34878D82A}">
                    <a16:rowId xmlns:a16="http://schemas.microsoft.com/office/drawing/2014/main" val="10000"/>
                  </a:ext>
                </a:extLst>
              </a:tr>
              <a:tr h="594360">
                <a:tc>
                  <a:txBody>
                    <a:bodyPr/>
                    <a:lstStyle/>
                    <a:p>
                      <a:pPr marL="0" indent="0">
                        <a:buNone/>
                      </a:pPr>
                      <a:r>
                        <a:rPr lang="en-US" sz="1200" b="1" dirty="0">
                          <a:solidFill>
                            <a:srgbClr val="12433A"/>
                          </a:solidFill>
                          <a:latin typeface="Malgun Gothic" pitchFamily="34" charset="0"/>
                          <a:ea typeface="Malgun Gothic" pitchFamily="34" charset="-122"/>
                          <a:cs typeface="Malgun Gothic" pitchFamily="34" charset="-120"/>
                        </a:rPr>
                        <a:t>시간·품질 위험</a:t>
                      </a:r>
                      <a:endParaRPr lang="en-US" sz="1200" dirty="0">
                        <a:latin typeface="Malgun Gothic" charset="0"/>
                        <a:ea typeface="Malgun Gothic" charset="0"/>
                        <a:cs typeface="Malgun Gothic" charset="0"/>
                      </a:endParaRPr>
                    </a:p>
                  </a:txBody>
                  <a:tcPr anchor="ctr">
                    <a:lnL w="9525" cap="flat" cmpd="sng" algn="ctr">
                      <a:solidFill>
                        <a:srgbClr val="D5DFDB"/>
                      </a:solidFill>
                      <a:prstDash val="solid"/>
                      <a:round/>
                      <a:headEnd type="none" w="med" len="med"/>
                      <a:tailEnd type="none" w="med" len="med"/>
                    </a:lnL>
                    <a:lnR w="9525" cap="flat" cmpd="sng" algn="ctr">
                      <a:solidFill>
                        <a:srgbClr val="D5DFDB"/>
                      </a:solidFill>
                      <a:prstDash val="solid"/>
                      <a:round/>
                      <a:headEnd type="none" w="med" len="med"/>
                      <a:tailEnd type="none" w="med" len="med"/>
                    </a:lnR>
                    <a:lnT w="9525" cap="flat" cmpd="sng" algn="ctr">
                      <a:solidFill>
                        <a:srgbClr val="D5DFDB"/>
                      </a:solidFill>
                      <a:prstDash val="solid"/>
                      <a:round/>
                      <a:headEnd type="none" w="med" len="med"/>
                      <a:tailEnd type="none" w="med" len="med"/>
                    </a:lnT>
                    <a:lnB w="9525" cap="flat" cmpd="sng" algn="ctr">
                      <a:solidFill>
                        <a:srgbClr val="D5DFDB"/>
                      </a:solidFill>
                      <a:prstDash val="solid"/>
                      <a:round/>
                      <a:headEnd type="none" w="med" len="med"/>
                      <a:tailEnd type="none" w="med" len="med"/>
                    </a:lnB>
                    <a:solidFill>
                      <a:srgbClr val="E8F2EE"/>
                    </a:solidFill>
                  </a:tcPr>
                </a:tc>
                <a:tc>
                  <a:txBody>
                    <a:bodyPr/>
                    <a:lstStyle/>
                    <a:p>
                      <a:pPr marL="0" indent="0">
                        <a:buNone/>
                      </a:pPr>
                      <a:r>
                        <a:rPr lang="en-US" sz="1200" dirty="0">
                          <a:solidFill>
                            <a:srgbClr val="1F2D2A"/>
                          </a:solidFill>
                          <a:latin typeface="Malgun Gothic" pitchFamily="34" charset="0"/>
                          <a:ea typeface="Malgun Gothic" pitchFamily="34" charset="-122"/>
                          <a:cs typeface="Malgun Gothic" pitchFamily="34" charset="-120"/>
                        </a:rPr>
                        <a:t>시간 분포, 짧은 검수 비중, 오판정·배상 위험</a:t>
                      </a:r>
                      <a:endParaRPr lang="en-US" sz="1200" dirty="0">
                        <a:latin typeface="Malgun Gothic" charset="0"/>
                        <a:ea typeface="Malgun Gothic" charset="0"/>
                        <a:cs typeface="Malgun Gothic" charset="0"/>
                      </a:endParaRPr>
                    </a:p>
                  </a:txBody>
                  <a:tcPr anchor="ctr">
                    <a:lnL w="9525" cap="flat" cmpd="sng" algn="ctr">
                      <a:solidFill>
                        <a:srgbClr val="D5DFDB"/>
                      </a:solidFill>
                      <a:prstDash val="solid"/>
                      <a:round/>
                      <a:headEnd type="none" w="med" len="med"/>
                      <a:tailEnd type="none" w="med" len="med"/>
                    </a:lnL>
                    <a:lnR w="9525" cap="flat" cmpd="sng" algn="ctr">
                      <a:solidFill>
                        <a:srgbClr val="D5DFDB"/>
                      </a:solidFill>
                      <a:prstDash val="solid"/>
                      <a:round/>
                      <a:headEnd type="none" w="med" len="med"/>
                      <a:tailEnd type="none" w="med" len="med"/>
                    </a:lnR>
                    <a:lnT w="9525" cap="flat" cmpd="sng" algn="ctr">
                      <a:solidFill>
                        <a:srgbClr val="D5DFDB"/>
                      </a:solidFill>
                      <a:prstDash val="solid"/>
                      <a:round/>
                      <a:headEnd type="none" w="med" len="med"/>
                      <a:tailEnd type="none" w="med" len="med"/>
                    </a:lnT>
                    <a:lnB w="9525" cap="flat" cmpd="sng" algn="ctr">
                      <a:solidFill>
                        <a:srgbClr val="D5DFDB"/>
                      </a:solidFill>
                      <a:prstDash val="solid"/>
                      <a:round/>
                      <a:headEnd type="none" w="med" len="med"/>
                      <a:tailEnd type="none" w="med" len="med"/>
                    </a:lnB>
                  </a:tcPr>
                </a:tc>
                <a:tc>
                  <a:txBody>
                    <a:bodyPr/>
                    <a:lstStyle/>
                    <a:p>
                      <a:pPr marL="0" indent="0">
                        <a:buNone/>
                      </a:pPr>
                      <a:r>
                        <a:rPr lang="en-US" sz="1200" b="1" dirty="0">
                          <a:solidFill>
                            <a:srgbClr val="1B7566"/>
                          </a:solidFill>
                          <a:latin typeface="Malgun Gothic" pitchFamily="34" charset="0"/>
                          <a:ea typeface="Malgun Gothic" pitchFamily="34" charset="-122"/>
                          <a:cs typeface="Malgun Gothic" pitchFamily="34" charset="-120"/>
                        </a:rPr>
                        <a:t>현재 집계 가능</a:t>
                      </a:r>
                      <a:endParaRPr lang="en-US" sz="1200" dirty="0">
                        <a:latin typeface="Malgun Gothic" charset="0"/>
                        <a:ea typeface="Malgun Gothic" charset="0"/>
                        <a:cs typeface="Malgun Gothic" charset="0"/>
                      </a:endParaRPr>
                    </a:p>
                  </a:txBody>
                  <a:tcPr anchor="ctr">
                    <a:lnL w="9525" cap="flat" cmpd="sng" algn="ctr">
                      <a:solidFill>
                        <a:srgbClr val="D5DFDB"/>
                      </a:solidFill>
                      <a:prstDash val="solid"/>
                      <a:round/>
                      <a:headEnd type="none" w="med" len="med"/>
                      <a:tailEnd type="none" w="med" len="med"/>
                    </a:lnL>
                    <a:lnR w="9525" cap="flat" cmpd="sng" algn="ctr">
                      <a:solidFill>
                        <a:srgbClr val="D5DFDB"/>
                      </a:solidFill>
                      <a:prstDash val="solid"/>
                      <a:round/>
                      <a:headEnd type="none" w="med" len="med"/>
                      <a:tailEnd type="none" w="med" len="med"/>
                    </a:lnR>
                    <a:lnT w="9525" cap="flat" cmpd="sng" algn="ctr">
                      <a:solidFill>
                        <a:srgbClr val="D5DFDB"/>
                      </a:solidFill>
                      <a:prstDash val="solid"/>
                      <a:round/>
                      <a:headEnd type="none" w="med" len="med"/>
                      <a:tailEnd type="none" w="med" len="med"/>
                    </a:lnT>
                    <a:lnB w="9525" cap="flat" cmpd="sng" algn="ctr">
                      <a:solidFill>
                        <a:srgbClr val="D5DFDB"/>
                      </a:solidFill>
                      <a:prstDash val="solid"/>
                      <a:round/>
                      <a:headEnd type="none" w="med" len="med"/>
                      <a:tailEnd type="none" w="med" len="med"/>
                    </a:lnB>
                  </a:tcPr>
                </a:tc>
                <a:extLst>
                  <a:ext uri="{0D108BD9-81ED-4DB2-BD59-A6C34878D82A}">
                    <a16:rowId xmlns:a16="http://schemas.microsoft.com/office/drawing/2014/main" val="10001"/>
                  </a:ext>
                </a:extLst>
              </a:tr>
              <a:tr h="594360">
                <a:tc>
                  <a:txBody>
                    <a:bodyPr/>
                    <a:lstStyle/>
                    <a:p>
                      <a:pPr marL="0" indent="0">
                        <a:buNone/>
                      </a:pPr>
                      <a:r>
                        <a:rPr lang="en-US" sz="1200" b="1" dirty="0">
                          <a:solidFill>
                            <a:srgbClr val="12433A"/>
                          </a:solidFill>
                          <a:latin typeface="Malgun Gothic" pitchFamily="34" charset="0"/>
                          <a:ea typeface="Malgun Gothic" pitchFamily="34" charset="-122"/>
                          <a:cs typeface="Malgun Gothic" pitchFamily="34" charset="-120"/>
                        </a:rPr>
                        <a:t>최초 판정·재검수 변경</a:t>
                      </a:r>
                      <a:endParaRPr lang="en-US" sz="1200" dirty="0">
                        <a:latin typeface="Malgun Gothic" charset="0"/>
                        <a:ea typeface="Malgun Gothic" charset="0"/>
                        <a:cs typeface="Malgun Gothic" charset="0"/>
                      </a:endParaRPr>
                    </a:p>
                  </a:txBody>
                  <a:tcPr anchor="ctr">
                    <a:lnL w="9525" cap="flat" cmpd="sng" algn="ctr">
                      <a:solidFill>
                        <a:srgbClr val="D5DFDB"/>
                      </a:solidFill>
                      <a:prstDash val="solid"/>
                      <a:round/>
                      <a:headEnd type="none" w="med" len="med"/>
                      <a:tailEnd type="none" w="med" len="med"/>
                    </a:lnL>
                    <a:lnR w="9525" cap="flat" cmpd="sng" algn="ctr">
                      <a:solidFill>
                        <a:srgbClr val="D5DFDB"/>
                      </a:solidFill>
                      <a:prstDash val="solid"/>
                      <a:round/>
                      <a:headEnd type="none" w="med" len="med"/>
                      <a:tailEnd type="none" w="med" len="med"/>
                    </a:lnR>
                    <a:lnT w="9525" cap="flat" cmpd="sng" algn="ctr">
                      <a:solidFill>
                        <a:srgbClr val="D5DFDB"/>
                      </a:solidFill>
                      <a:prstDash val="solid"/>
                      <a:round/>
                      <a:headEnd type="none" w="med" len="med"/>
                      <a:tailEnd type="none" w="med" len="med"/>
                    </a:lnT>
                    <a:lnB w="9525" cap="flat" cmpd="sng" algn="ctr">
                      <a:solidFill>
                        <a:srgbClr val="D5DFDB"/>
                      </a:solidFill>
                      <a:prstDash val="solid"/>
                      <a:round/>
                      <a:headEnd type="none" w="med" len="med"/>
                      <a:tailEnd type="none" w="med" len="med"/>
                    </a:lnB>
                    <a:solidFill>
                      <a:srgbClr val="E8F2EE"/>
                    </a:solidFill>
                  </a:tcPr>
                </a:tc>
                <a:tc>
                  <a:txBody>
                    <a:bodyPr/>
                    <a:lstStyle/>
                    <a:p>
                      <a:pPr marL="0" indent="0">
                        <a:buNone/>
                      </a:pPr>
                      <a:r>
                        <a:rPr lang="en-US" sz="1200" dirty="0">
                          <a:solidFill>
                            <a:srgbClr val="1F2D2A"/>
                          </a:solidFill>
                          <a:latin typeface="Malgun Gothic" pitchFamily="34" charset="0"/>
                          <a:ea typeface="Malgun Gothic" pitchFamily="34" charset="-122"/>
                          <a:cs typeface="Malgun Gothic" pitchFamily="34" charset="-120"/>
                        </a:rPr>
                        <a:t>연결된 판정 변경 건수, 연결 PASS 중 전환 비중</a:t>
                      </a:r>
                      <a:endParaRPr lang="en-US" sz="1200" dirty="0">
                        <a:latin typeface="Malgun Gothic" charset="0"/>
                        <a:ea typeface="Malgun Gothic" charset="0"/>
                        <a:cs typeface="Malgun Gothic" charset="0"/>
                      </a:endParaRPr>
                    </a:p>
                  </a:txBody>
                  <a:tcPr anchor="ctr">
                    <a:lnL w="9525" cap="flat" cmpd="sng" algn="ctr">
                      <a:solidFill>
                        <a:srgbClr val="D5DFDB"/>
                      </a:solidFill>
                      <a:prstDash val="solid"/>
                      <a:round/>
                      <a:headEnd type="none" w="med" len="med"/>
                      <a:tailEnd type="none" w="med" len="med"/>
                    </a:lnL>
                    <a:lnR w="9525" cap="flat" cmpd="sng" algn="ctr">
                      <a:solidFill>
                        <a:srgbClr val="D5DFDB"/>
                      </a:solidFill>
                      <a:prstDash val="solid"/>
                      <a:round/>
                      <a:headEnd type="none" w="med" len="med"/>
                      <a:tailEnd type="none" w="med" len="med"/>
                    </a:lnR>
                    <a:lnT w="9525" cap="flat" cmpd="sng" algn="ctr">
                      <a:solidFill>
                        <a:srgbClr val="D5DFDB"/>
                      </a:solidFill>
                      <a:prstDash val="solid"/>
                      <a:round/>
                      <a:headEnd type="none" w="med" len="med"/>
                      <a:tailEnd type="none" w="med" len="med"/>
                    </a:lnT>
                    <a:lnB w="9525" cap="flat" cmpd="sng" algn="ctr">
                      <a:solidFill>
                        <a:srgbClr val="D5DFDB"/>
                      </a:solidFill>
                      <a:prstDash val="solid"/>
                      <a:round/>
                      <a:headEnd type="none" w="med" len="med"/>
                      <a:tailEnd type="none" w="med" len="med"/>
                    </a:lnB>
                  </a:tcPr>
                </a:tc>
                <a:tc>
                  <a:txBody>
                    <a:bodyPr/>
                    <a:lstStyle/>
                    <a:p>
                      <a:pPr marL="0" indent="0">
                        <a:buNone/>
                      </a:pPr>
                      <a:r>
                        <a:rPr lang="en-US" sz="1200" b="1" dirty="0">
                          <a:solidFill>
                            <a:srgbClr val="1B7566"/>
                          </a:solidFill>
                          <a:latin typeface="Malgun Gothic" pitchFamily="34" charset="0"/>
                          <a:ea typeface="Malgun Gothic" pitchFamily="34" charset="-122"/>
                          <a:cs typeface="Malgun Gothic" pitchFamily="34" charset="-120"/>
                        </a:rPr>
                        <a:t>현재 집계 가능</a:t>
                      </a:r>
                      <a:endParaRPr lang="en-US" sz="1200" dirty="0">
                        <a:latin typeface="Malgun Gothic" charset="0"/>
                        <a:ea typeface="Malgun Gothic" charset="0"/>
                        <a:cs typeface="Malgun Gothic" charset="0"/>
                      </a:endParaRPr>
                    </a:p>
                  </a:txBody>
                  <a:tcPr anchor="ctr">
                    <a:lnL w="9525" cap="flat" cmpd="sng" algn="ctr">
                      <a:solidFill>
                        <a:srgbClr val="D5DFDB"/>
                      </a:solidFill>
                      <a:prstDash val="solid"/>
                      <a:round/>
                      <a:headEnd type="none" w="med" len="med"/>
                      <a:tailEnd type="none" w="med" len="med"/>
                    </a:lnL>
                    <a:lnR w="9525" cap="flat" cmpd="sng" algn="ctr">
                      <a:solidFill>
                        <a:srgbClr val="D5DFDB"/>
                      </a:solidFill>
                      <a:prstDash val="solid"/>
                      <a:round/>
                      <a:headEnd type="none" w="med" len="med"/>
                      <a:tailEnd type="none" w="med" len="med"/>
                    </a:lnR>
                    <a:lnT w="9525" cap="flat" cmpd="sng" algn="ctr">
                      <a:solidFill>
                        <a:srgbClr val="D5DFDB"/>
                      </a:solidFill>
                      <a:prstDash val="solid"/>
                      <a:round/>
                      <a:headEnd type="none" w="med" len="med"/>
                      <a:tailEnd type="none" w="med" len="med"/>
                    </a:lnT>
                    <a:lnB w="9525" cap="flat" cmpd="sng" algn="ctr">
                      <a:solidFill>
                        <a:srgbClr val="D5DFDB"/>
                      </a:solidFill>
                      <a:prstDash val="solid"/>
                      <a:round/>
                      <a:headEnd type="none" w="med" len="med"/>
                      <a:tailEnd type="none" w="med" len="med"/>
                    </a:lnB>
                  </a:tcPr>
                </a:tc>
                <a:extLst>
                  <a:ext uri="{0D108BD9-81ED-4DB2-BD59-A6C34878D82A}">
                    <a16:rowId xmlns:a16="http://schemas.microsoft.com/office/drawing/2014/main" val="10002"/>
                  </a:ext>
                </a:extLst>
              </a:tr>
              <a:tr h="914400">
                <a:tc>
                  <a:txBody>
                    <a:bodyPr/>
                    <a:lstStyle/>
                    <a:p>
                      <a:pPr marL="0" indent="0">
                        <a:buNone/>
                      </a:pPr>
                      <a:r>
                        <a:rPr lang="en-US" sz="1200" b="1" dirty="0">
                          <a:solidFill>
                            <a:srgbClr val="12433A"/>
                          </a:solidFill>
                          <a:latin typeface="Malgun Gothic" pitchFamily="34" charset="0"/>
                          <a:ea typeface="Malgun Gothic" pitchFamily="34" charset="-122"/>
                          <a:cs typeface="Malgun Gothic" pitchFamily="34" charset="-120"/>
                        </a:rPr>
                        <a:t>부서별 상품 배정</a:t>
                      </a:r>
                      <a:endParaRPr lang="en-US" sz="1200" dirty="0">
                        <a:latin typeface="Malgun Gothic" charset="0"/>
                        <a:ea typeface="Malgun Gothic" charset="0"/>
                        <a:cs typeface="Malgun Gothic" charset="0"/>
                      </a:endParaRPr>
                    </a:p>
                  </a:txBody>
                  <a:tcPr anchor="ctr">
                    <a:lnL w="9525" cap="flat" cmpd="sng" algn="ctr">
                      <a:solidFill>
                        <a:srgbClr val="D5DFDB"/>
                      </a:solidFill>
                      <a:prstDash val="solid"/>
                      <a:round/>
                      <a:headEnd type="none" w="med" len="med"/>
                      <a:tailEnd type="none" w="med" len="med"/>
                    </a:lnL>
                    <a:lnR w="9525" cap="flat" cmpd="sng" algn="ctr">
                      <a:solidFill>
                        <a:srgbClr val="D5DFDB"/>
                      </a:solidFill>
                      <a:prstDash val="solid"/>
                      <a:round/>
                      <a:headEnd type="none" w="med" len="med"/>
                      <a:tailEnd type="none" w="med" len="med"/>
                    </a:lnR>
                    <a:lnT w="9525" cap="flat" cmpd="sng" algn="ctr">
                      <a:solidFill>
                        <a:srgbClr val="D5DFDB"/>
                      </a:solidFill>
                      <a:prstDash val="solid"/>
                      <a:round/>
                      <a:headEnd type="none" w="med" len="med"/>
                      <a:tailEnd type="none" w="med" len="med"/>
                    </a:lnT>
                    <a:lnB w="9525" cap="flat" cmpd="sng" algn="ctr">
                      <a:solidFill>
                        <a:srgbClr val="D5DFDB"/>
                      </a:solidFill>
                      <a:prstDash val="solid"/>
                      <a:round/>
                      <a:headEnd type="none" w="med" len="med"/>
                      <a:tailEnd type="none" w="med" len="med"/>
                    </a:lnB>
                    <a:solidFill>
                      <a:srgbClr val="E8F2EE"/>
                    </a:solidFill>
                  </a:tcPr>
                </a:tc>
                <a:tc>
                  <a:txBody>
                    <a:bodyPr/>
                    <a:lstStyle/>
                    <a:p>
                      <a:pPr marL="0" indent="0">
                        <a:buNone/>
                      </a:pPr>
                      <a:r>
                        <a:rPr lang="en-US" sz="1200" dirty="0">
                          <a:solidFill>
                            <a:srgbClr val="1F2D2A"/>
                          </a:solidFill>
                          <a:latin typeface="Malgun Gothic" pitchFamily="34" charset="0"/>
                          <a:ea typeface="Malgun Gothic" pitchFamily="34" charset="-122"/>
                          <a:cs typeface="Malgun Gothic" pitchFamily="34" charset="-120"/>
                        </a:rPr>
                        <a:t>상품 구성, 향후 역량 적합 배정·독립 재검수 비율</a:t>
                      </a:r>
                      <a:endParaRPr lang="en-US" sz="1200" dirty="0">
                        <a:latin typeface="Malgun Gothic" charset="0"/>
                        <a:ea typeface="Malgun Gothic" charset="0"/>
                        <a:cs typeface="Malgun Gothic" charset="0"/>
                      </a:endParaRPr>
                    </a:p>
                  </a:txBody>
                  <a:tcPr anchor="ctr">
                    <a:lnL w="9525" cap="flat" cmpd="sng" algn="ctr">
                      <a:solidFill>
                        <a:srgbClr val="D5DFDB"/>
                      </a:solidFill>
                      <a:prstDash val="solid"/>
                      <a:round/>
                      <a:headEnd type="none" w="med" len="med"/>
                      <a:tailEnd type="none" w="med" len="med"/>
                    </a:lnL>
                    <a:lnR w="9525" cap="flat" cmpd="sng" algn="ctr">
                      <a:solidFill>
                        <a:srgbClr val="D5DFDB"/>
                      </a:solidFill>
                      <a:prstDash val="solid"/>
                      <a:round/>
                      <a:headEnd type="none" w="med" len="med"/>
                      <a:tailEnd type="none" w="med" len="med"/>
                    </a:lnR>
                    <a:lnT w="9525" cap="flat" cmpd="sng" algn="ctr">
                      <a:solidFill>
                        <a:srgbClr val="D5DFDB"/>
                      </a:solidFill>
                      <a:prstDash val="solid"/>
                      <a:round/>
                      <a:headEnd type="none" w="med" len="med"/>
                      <a:tailEnd type="none" w="med" len="med"/>
                    </a:lnT>
                    <a:lnB w="9525" cap="flat" cmpd="sng" algn="ctr">
                      <a:solidFill>
                        <a:srgbClr val="D5DFDB"/>
                      </a:solidFill>
                      <a:prstDash val="solid"/>
                      <a:round/>
                      <a:headEnd type="none" w="med" len="med"/>
                      <a:tailEnd type="none" w="med" len="med"/>
                    </a:lnB>
                  </a:tcPr>
                </a:tc>
                <a:tc>
                  <a:txBody>
                    <a:bodyPr/>
                    <a:lstStyle/>
                    <a:p>
                      <a:pPr marL="0" indent="0">
                        <a:buNone/>
                      </a:pPr>
                      <a:r>
                        <a:rPr lang="en-US" sz="1200" b="1" dirty="0">
                          <a:solidFill>
                            <a:srgbClr val="B9814F"/>
                          </a:solidFill>
                          <a:latin typeface="Malgun Gothic" pitchFamily="34" charset="0"/>
                          <a:ea typeface="Malgun Gothic" pitchFamily="34" charset="-122"/>
                          <a:cs typeface="Malgun Gothic" pitchFamily="34" charset="-120"/>
                        </a:rPr>
                        <a:t>상품 구성은 현재 가능 / 역량·근무표·실제 재검수자·당시 소속은 추가 수집 후 산출</a:t>
                      </a:r>
                      <a:endParaRPr lang="en-US" sz="1200" dirty="0">
                        <a:latin typeface="Malgun Gothic" charset="0"/>
                        <a:ea typeface="Malgun Gothic" charset="0"/>
                        <a:cs typeface="Malgun Gothic" charset="0"/>
                      </a:endParaRPr>
                    </a:p>
                  </a:txBody>
                  <a:tcPr anchor="ctr">
                    <a:lnL w="9525" cap="flat" cmpd="sng" algn="ctr">
                      <a:solidFill>
                        <a:srgbClr val="D5DFDB"/>
                      </a:solidFill>
                      <a:prstDash val="solid"/>
                      <a:round/>
                      <a:headEnd type="none" w="med" len="med"/>
                      <a:tailEnd type="none" w="med" len="med"/>
                    </a:lnL>
                    <a:lnR w="9525" cap="flat" cmpd="sng" algn="ctr">
                      <a:solidFill>
                        <a:srgbClr val="D5DFDB"/>
                      </a:solidFill>
                      <a:prstDash val="solid"/>
                      <a:round/>
                      <a:headEnd type="none" w="med" len="med"/>
                      <a:tailEnd type="none" w="med" len="med"/>
                    </a:lnR>
                    <a:lnT w="9525" cap="flat" cmpd="sng" algn="ctr">
                      <a:solidFill>
                        <a:srgbClr val="D5DFDB"/>
                      </a:solidFill>
                      <a:prstDash val="solid"/>
                      <a:round/>
                      <a:headEnd type="none" w="med" len="med"/>
                      <a:tailEnd type="none" w="med" len="med"/>
                    </a:lnT>
                    <a:lnB w="9525" cap="flat" cmpd="sng" algn="ctr">
                      <a:solidFill>
                        <a:srgbClr val="D5DFD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F6F6B"/>
                </a:solidFill>
                <a:latin typeface="Malgun Gothic"/>
                <a:ea typeface="Malgun Gothic"/>
                <a:cs typeface="Malgun Gothic"/>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번호 원"/>
          <p:cNvSpPr/>
          <p:nvPr/>
        </p:nvSpPr>
        <p:spPr>
          <a:xfrm>
            <a:off x="457200" y="347472"/>
            <a:ext cx="457200" cy="457200"/>
          </a:xfrm>
          <a:prstGeom prst="ellipse">
            <a:avLst/>
          </a:prstGeom>
          <a:solidFill>
            <a:srgbClr val="1B7566"/>
          </a:solidFill>
          <a:ln w="12700">
            <a:solidFill>
              <a:srgbClr val="1B7566"/>
            </a:solidFill>
            <a:prstDash val="solid"/>
          </a:ln>
        </p:spPr>
        <p:txBody>
          <a:bodyPr/>
          <a:lstStyle/>
          <a:p>
            <a:endParaRPr lang="ko-KR" altLang="en-US"/>
          </a:p>
        </p:txBody>
      </p:sp>
      <p:sp>
        <p:nvSpPr>
          <p:cNvPr id="3" name="번호"/>
          <p:cNvSpPr txBox="1"/>
          <p:nvPr/>
        </p:nvSpPr>
        <p:spPr>
          <a:xfrm>
            <a:off x="457200" y="34747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12</a:t>
            </a:r>
            <a:endParaRPr lang="en-US" sz="1400" dirty="0"/>
          </a:p>
        </p:txBody>
      </p:sp>
      <p:sp>
        <p:nvSpPr>
          <p:cNvPr id="4" name="제목"/>
          <p:cNvSpPr txBox="1"/>
          <p:nvPr/>
        </p:nvSpPr>
        <p:spPr>
          <a:xfrm>
            <a:off x="1051560" y="274320"/>
            <a:ext cx="7635240" cy="594360"/>
          </a:xfrm>
          <a:prstGeom prst="rect">
            <a:avLst/>
          </a:prstGeom>
          <a:noFill/>
          <a:ln/>
        </p:spPr>
        <p:txBody>
          <a:bodyPr wrap="square" lIns="0" tIns="0" rIns="0" bIns="0" rtlCol="0" anchor="ctr"/>
          <a:lstStyle/>
          <a:p>
            <a:pPr marL="0" indent="0">
              <a:buNone/>
            </a:pPr>
            <a:r>
              <a:rPr lang="en-US" sz="2400" b="1" dirty="0">
                <a:solidFill>
                  <a:srgbClr val="12433A"/>
                </a:solidFill>
                <a:latin typeface="Malgun Gothic" pitchFamily="34" charset="0"/>
                <a:ea typeface="Malgun Gothic" pitchFamily="34" charset="-122"/>
                <a:cs typeface="Malgun Gothic" pitchFamily="34" charset="-120"/>
              </a:rPr>
              <a:t>성과와 한계 및 다음 단계</a:t>
            </a:r>
            <a:endParaRPr lang="en-US" sz="2400" dirty="0"/>
          </a:p>
        </p:txBody>
      </p:sp>
      <p:sp>
        <p:nvSpPr>
          <p:cNvPr id="5" name="핵심 메시지"/>
          <p:cNvSpPr txBox="1"/>
          <p:nvPr/>
        </p:nvSpPr>
        <p:spPr>
          <a:xfrm>
            <a:off x="457200" y="896112"/>
            <a:ext cx="8229600" cy="365760"/>
          </a:xfrm>
          <a:prstGeom prst="rect">
            <a:avLst/>
          </a:prstGeom>
          <a:noFill/>
          <a:ln/>
        </p:spPr>
        <p:txBody>
          <a:bodyPr wrap="square" lIns="0" tIns="0" rIns="0" bIns="0" rtlCol="0" anchor="ctr"/>
          <a:lstStyle/>
          <a:p>
            <a:pPr marL="0" indent="0">
              <a:buNone/>
            </a:pPr>
            <a:r>
              <a:rPr lang="en-US" sz="1400" dirty="0">
                <a:solidFill>
                  <a:srgbClr val="5F6F6B"/>
                </a:solidFill>
                <a:latin typeface="Malgun Gothic" pitchFamily="34" charset="0"/>
                <a:ea typeface="Malgun Gothic" pitchFamily="34" charset="-122"/>
                <a:cs typeface="Malgun Gothic" pitchFamily="34" charset="-120"/>
              </a:rPr>
              <a:t>표준화된 데이터로 운영 개선의 근거와 후속 실행 계획을 마련했다</a:t>
            </a:r>
            <a:endParaRPr lang="en-US" sz="1400" dirty="0"/>
          </a:p>
        </p:txBody>
      </p:sp>
      <p:sp>
        <p:nvSpPr>
          <p:cNvPr id="6" name="열 머리"/>
          <p:cNvSpPr/>
          <p:nvPr/>
        </p:nvSpPr>
        <p:spPr>
          <a:xfrm>
            <a:off x="457200" y="1417320"/>
            <a:ext cx="2560320" cy="457200"/>
          </a:xfrm>
          <a:prstGeom prst="roundRect">
            <a:avLst>
              <a:gd name="adj" fmla="val 16000"/>
            </a:avLst>
          </a:prstGeom>
          <a:solidFill>
            <a:srgbClr val="1B7566"/>
          </a:solidFill>
          <a:ln w="12700">
            <a:solidFill>
              <a:srgbClr val="1B7566"/>
            </a:solidFill>
            <a:prstDash val="solid"/>
          </a:ln>
        </p:spPr>
        <p:txBody>
          <a:bodyPr/>
          <a:lstStyle/>
          <a:p>
            <a:endParaRPr lang="ko-KR" altLang="en-US"/>
          </a:p>
        </p:txBody>
      </p:sp>
      <p:sp>
        <p:nvSpPr>
          <p:cNvPr id="7" name="Text 5"/>
          <p:cNvSpPr txBox="1"/>
          <p:nvPr/>
        </p:nvSpPr>
        <p:spPr>
          <a:xfrm>
            <a:off x="457200" y="1417320"/>
            <a:ext cx="256032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성과</a:t>
            </a:r>
            <a:endParaRPr lang="en-US" sz="1500" dirty="0"/>
          </a:p>
        </p:txBody>
      </p:sp>
      <p:sp>
        <p:nvSpPr>
          <p:cNvPr id="8" name="열 본문 카드"/>
          <p:cNvSpPr/>
          <p:nvPr/>
        </p:nvSpPr>
        <p:spPr>
          <a:xfrm>
            <a:off x="457200" y="1965960"/>
            <a:ext cx="2560320" cy="1554480"/>
          </a:xfrm>
          <a:prstGeom prst="roundRect">
            <a:avLst>
              <a:gd name="adj" fmla="val 4706"/>
            </a:avLst>
          </a:prstGeom>
          <a:solidFill>
            <a:srgbClr val="E8F2EE"/>
          </a:solidFill>
          <a:ln w="12700">
            <a:solidFill>
              <a:srgbClr val="E8F2EE"/>
            </a:solidFill>
            <a:prstDash val="solid"/>
          </a:ln>
        </p:spPr>
        <p:txBody>
          <a:bodyPr/>
          <a:lstStyle/>
          <a:p>
            <a:endParaRPr lang="ko-KR" altLang="en-US"/>
          </a:p>
        </p:txBody>
      </p:sp>
      <p:sp>
        <p:nvSpPr>
          <p:cNvPr id="9" name="본문"/>
          <p:cNvSpPr txBox="1"/>
          <p:nvPr/>
        </p:nvSpPr>
        <p:spPr>
          <a:xfrm>
            <a:off x="640080" y="2103120"/>
            <a:ext cx="2240280" cy="1325880"/>
          </a:xfrm>
          <a:prstGeom prst="rect">
            <a:avLst/>
          </a:prstGeom>
          <a:noFill/>
          <a:ln/>
        </p:spPr>
        <p:txBody>
          <a:bodyPr wrap="square" lIns="0" tIns="0" rIns="0" bIns="0" rtlCol="0" anchor="t"/>
          <a:lstStyle/>
          <a:p>
            <a:pPr marL="342900" indent="-342900">
              <a:lnSpc>
                <a:spcPct val="200000"/>
              </a:lnSpc>
              <a:spcAft>
                <a:spcPts val="600"/>
              </a:spcAft>
              <a:buSzPct val="100000"/>
              <a:buChar char="•"/>
            </a:pPr>
            <a:r>
              <a:rPr lang="en-US" sz="1200" dirty="0">
                <a:solidFill>
                  <a:srgbClr val="1F2D2A"/>
                </a:solidFill>
                <a:latin typeface="Malgun Gothic" pitchFamily="34" charset="0"/>
                <a:ea typeface="Malgun Gothic" pitchFamily="34" charset="-122"/>
                <a:cs typeface="Malgun Gothic" pitchFamily="34" charset="-120"/>
              </a:rPr>
              <a:t>표준화 · 정제</a:t>
            </a:r>
            <a:endParaRPr lang="en-US" sz="1200" dirty="0"/>
          </a:p>
          <a:p>
            <a:pPr marL="342900" indent="-342900">
              <a:lnSpc>
                <a:spcPct val="200000"/>
              </a:lnSpc>
              <a:spcAft>
                <a:spcPts val="600"/>
              </a:spcAft>
              <a:buSzPct val="100000"/>
              <a:buChar char="•"/>
            </a:pPr>
            <a:r>
              <a:rPr lang="en-US" sz="1200" dirty="0">
                <a:solidFill>
                  <a:srgbClr val="1F2D2A"/>
                </a:solidFill>
                <a:latin typeface="Malgun Gothic" pitchFamily="34" charset="0"/>
                <a:ea typeface="Malgun Gothic" pitchFamily="34" charset="-122"/>
                <a:cs typeface="Malgun Gothic" pitchFamily="34" charset="-120"/>
              </a:rPr>
              <a:t>건수 대사 · 품질 점검</a:t>
            </a:r>
            <a:endParaRPr lang="en-US" sz="1200" dirty="0"/>
          </a:p>
          <a:p>
            <a:pPr marL="342900" indent="-342900">
              <a:lnSpc>
                <a:spcPct val="200000"/>
              </a:lnSpc>
              <a:spcAft>
                <a:spcPts val="600"/>
              </a:spcAft>
              <a:buSzPct val="100000"/>
              <a:buChar char="•"/>
            </a:pPr>
            <a:r>
              <a:rPr lang="en-US" sz="1200" dirty="0">
                <a:solidFill>
                  <a:srgbClr val="1F2D2A"/>
                </a:solidFill>
                <a:latin typeface="Malgun Gothic" pitchFamily="34" charset="0"/>
                <a:ea typeface="Malgun Gothic" pitchFamily="34" charset="-122"/>
                <a:cs typeface="Malgun Gothic" pitchFamily="34" charset="-120"/>
              </a:rPr>
              <a:t>운영 분석</a:t>
            </a:r>
            <a:endParaRPr lang="en-US" sz="1200" dirty="0"/>
          </a:p>
        </p:txBody>
      </p:sp>
      <p:sp>
        <p:nvSpPr>
          <p:cNvPr id="10" name="열 머리"/>
          <p:cNvSpPr/>
          <p:nvPr/>
        </p:nvSpPr>
        <p:spPr>
          <a:xfrm>
            <a:off x="3291840" y="1417320"/>
            <a:ext cx="2560320" cy="457200"/>
          </a:xfrm>
          <a:prstGeom prst="roundRect">
            <a:avLst>
              <a:gd name="adj" fmla="val 16000"/>
            </a:avLst>
          </a:prstGeom>
          <a:solidFill>
            <a:srgbClr val="B9814F"/>
          </a:solidFill>
          <a:ln w="12700">
            <a:solidFill>
              <a:srgbClr val="B9814F"/>
            </a:solidFill>
            <a:prstDash val="solid"/>
          </a:ln>
        </p:spPr>
        <p:txBody>
          <a:bodyPr/>
          <a:lstStyle/>
          <a:p>
            <a:endParaRPr lang="ko-KR" altLang="en-US"/>
          </a:p>
        </p:txBody>
      </p:sp>
      <p:sp>
        <p:nvSpPr>
          <p:cNvPr id="11" name="Text 9"/>
          <p:cNvSpPr txBox="1"/>
          <p:nvPr/>
        </p:nvSpPr>
        <p:spPr>
          <a:xfrm>
            <a:off x="3291840" y="1417320"/>
            <a:ext cx="256032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한계</a:t>
            </a:r>
            <a:endParaRPr lang="en-US" sz="1500" dirty="0"/>
          </a:p>
        </p:txBody>
      </p:sp>
      <p:sp>
        <p:nvSpPr>
          <p:cNvPr id="12" name="열 본문 카드"/>
          <p:cNvSpPr/>
          <p:nvPr/>
        </p:nvSpPr>
        <p:spPr>
          <a:xfrm>
            <a:off x="3291840" y="1965960"/>
            <a:ext cx="2560320" cy="1554480"/>
          </a:xfrm>
          <a:prstGeom prst="roundRect">
            <a:avLst>
              <a:gd name="adj" fmla="val 4706"/>
            </a:avLst>
          </a:prstGeom>
          <a:solidFill>
            <a:srgbClr val="E8F2EE"/>
          </a:solidFill>
          <a:ln w="12700">
            <a:solidFill>
              <a:srgbClr val="E8F2EE"/>
            </a:solidFill>
            <a:prstDash val="solid"/>
          </a:ln>
        </p:spPr>
        <p:txBody>
          <a:bodyPr/>
          <a:lstStyle/>
          <a:p>
            <a:endParaRPr lang="ko-KR" altLang="en-US"/>
          </a:p>
        </p:txBody>
      </p:sp>
      <p:sp>
        <p:nvSpPr>
          <p:cNvPr id="13" name="본문"/>
          <p:cNvSpPr txBox="1"/>
          <p:nvPr/>
        </p:nvSpPr>
        <p:spPr>
          <a:xfrm>
            <a:off x="3474720" y="2103120"/>
            <a:ext cx="2240280" cy="1325880"/>
          </a:xfrm>
          <a:prstGeom prst="rect">
            <a:avLst/>
          </a:prstGeom>
          <a:noFill/>
          <a:ln/>
        </p:spPr>
        <p:txBody>
          <a:bodyPr wrap="square" lIns="0" tIns="0" rIns="0" bIns="0" rtlCol="0" anchor="t"/>
          <a:lstStyle/>
          <a:p>
            <a:pPr marL="342900" indent="-342900">
              <a:lnSpc>
                <a:spcPct val="200000"/>
              </a:lnSpc>
              <a:spcAft>
                <a:spcPts val="600"/>
              </a:spcAft>
              <a:buSzPct val="100000"/>
              <a:buChar char="•"/>
            </a:pPr>
            <a:r>
              <a:rPr lang="en-US" sz="1200" dirty="0">
                <a:solidFill>
                  <a:srgbClr val="1F2D2A"/>
                </a:solidFill>
                <a:latin typeface="Malgun Gothic" pitchFamily="34" charset="0"/>
                <a:ea typeface="Malgun Gothic" pitchFamily="34" charset="-122"/>
                <a:cs typeface="Malgun Gothic" pitchFamily="34" charset="-120"/>
              </a:rPr>
              <a:t>일부 규칙 미검증</a:t>
            </a:r>
            <a:endParaRPr lang="en-US" sz="1200" dirty="0"/>
          </a:p>
          <a:p>
            <a:pPr marL="342900" indent="-342900">
              <a:lnSpc>
                <a:spcPct val="200000"/>
              </a:lnSpc>
              <a:spcAft>
                <a:spcPts val="600"/>
              </a:spcAft>
              <a:buSzPct val="100000"/>
              <a:buChar char="•"/>
            </a:pPr>
            <a:r>
              <a:rPr lang="en-US" sz="1200" dirty="0">
                <a:solidFill>
                  <a:srgbClr val="1F2D2A"/>
                </a:solidFill>
                <a:latin typeface="Malgun Gothic" pitchFamily="34" charset="0"/>
                <a:ea typeface="Malgun Gothic" pitchFamily="34" charset="-122"/>
                <a:cs typeface="Malgun Gothic" pitchFamily="34" charset="-120"/>
              </a:rPr>
              <a:t>현재 소속 기준</a:t>
            </a:r>
            <a:endParaRPr lang="en-US" sz="1200" dirty="0"/>
          </a:p>
          <a:p>
            <a:pPr marL="342900" indent="-342900">
              <a:lnSpc>
                <a:spcPct val="200000"/>
              </a:lnSpc>
              <a:spcAft>
                <a:spcPts val="600"/>
              </a:spcAft>
              <a:buSzPct val="100000"/>
              <a:buChar char="•"/>
            </a:pPr>
            <a:r>
              <a:rPr lang="en-US" sz="1200" dirty="0">
                <a:solidFill>
                  <a:srgbClr val="1F2D2A"/>
                </a:solidFill>
                <a:latin typeface="Malgun Gothic" pitchFamily="34" charset="0"/>
                <a:ea typeface="Malgun Gothic" pitchFamily="34" charset="-122"/>
                <a:cs typeface="Malgun Gothic" pitchFamily="34" charset="-120"/>
              </a:rPr>
              <a:t>실제 담당자·확정 정답 부족</a:t>
            </a:r>
            <a:endParaRPr lang="en-US" sz="1200" dirty="0"/>
          </a:p>
        </p:txBody>
      </p:sp>
      <p:sp>
        <p:nvSpPr>
          <p:cNvPr id="14" name="열 머리"/>
          <p:cNvSpPr/>
          <p:nvPr/>
        </p:nvSpPr>
        <p:spPr>
          <a:xfrm>
            <a:off x="6126480" y="1417320"/>
            <a:ext cx="2560320" cy="457200"/>
          </a:xfrm>
          <a:prstGeom prst="roundRect">
            <a:avLst>
              <a:gd name="adj" fmla="val 16000"/>
            </a:avLst>
          </a:prstGeom>
          <a:solidFill>
            <a:srgbClr val="12433A"/>
          </a:solidFill>
          <a:ln w="12700">
            <a:solidFill>
              <a:srgbClr val="12433A"/>
            </a:solidFill>
            <a:prstDash val="solid"/>
          </a:ln>
        </p:spPr>
        <p:txBody>
          <a:bodyPr/>
          <a:lstStyle/>
          <a:p>
            <a:endParaRPr lang="ko-KR" altLang="en-US"/>
          </a:p>
        </p:txBody>
      </p:sp>
      <p:sp>
        <p:nvSpPr>
          <p:cNvPr id="15" name="Text 13"/>
          <p:cNvSpPr txBox="1"/>
          <p:nvPr/>
        </p:nvSpPr>
        <p:spPr>
          <a:xfrm>
            <a:off x="6126480" y="1417320"/>
            <a:ext cx="256032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다음 단계</a:t>
            </a:r>
            <a:endParaRPr lang="en-US" sz="1500" dirty="0"/>
          </a:p>
        </p:txBody>
      </p:sp>
      <p:sp>
        <p:nvSpPr>
          <p:cNvPr id="16" name="열 본문 카드"/>
          <p:cNvSpPr/>
          <p:nvPr/>
        </p:nvSpPr>
        <p:spPr>
          <a:xfrm>
            <a:off x="6126480" y="1965960"/>
            <a:ext cx="2560320" cy="1554480"/>
          </a:xfrm>
          <a:prstGeom prst="roundRect">
            <a:avLst>
              <a:gd name="adj" fmla="val 4706"/>
            </a:avLst>
          </a:prstGeom>
          <a:solidFill>
            <a:srgbClr val="E8F2EE"/>
          </a:solidFill>
          <a:ln w="12700">
            <a:solidFill>
              <a:srgbClr val="E8F2EE"/>
            </a:solidFill>
            <a:prstDash val="solid"/>
          </a:ln>
        </p:spPr>
        <p:txBody>
          <a:bodyPr/>
          <a:lstStyle/>
          <a:p>
            <a:endParaRPr lang="ko-KR" altLang="en-US"/>
          </a:p>
        </p:txBody>
      </p:sp>
      <p:sp>
        <p:nvSpPr>
          <p:cNvPr id="17" name="본문"/>
          <p:cNvSpPr txBox="1"/>
          <p:nvPr/>
        </p:nvSpPr>
        <p:spPr>
          <a:xfrm>
            <a:off x="6309360" y="2103120"/>
            <a:ext cx="2240280" cy="1325880"/>
          </a:xfrm>
          <a:prstGeom prst="rect">
            <a:avLst/>
          </a:prstGeom>
          <a:noFill/>
          <a:ln/>
        </p:spPr>
        <p:txBody>
          <a:bodyPr wrap="square" lIns="0" tIns="0" rIns="0" bIns="0" rtlCol="0" anchor="t"/>
          <a:lstStyle/>
          <a:p>
            <a:pPr marL="342900" indent="-342900">
              <a:lnSpc>
                <a:spcPct val="200000"/>
              </a:lnSpc>
              <a:spcAft>
                <a:spcPts val="600"/>
              </a:spcAft>
              <a:buSzPct val="100000"/>
              <a:buChar char="•"/>
            </a:pPr>
            <a:r>
              <a:rPr lang="en-US" sz="1200" dirty="0">
                <a:solidFill>
                  <a:srgbClr val="1F2D2A"/>
                </a:solidFill>
                <a:latin typeface="Malgun Gothic" pitchFamily="34" charset="0"/>
                <a:ea typeface="Malgun Gothic" pitchFamily="34" charset="-122"/>
                <a:cs typeface="Malgun Gothic" pitchFamily="34" charset="-120"/>
              </a:rPr>
              <a:t>이력·역량·근무 데이터 확보</a:t>
            </a:r>
            <a:endParaRPr lang="en-US" sz="1200" dirty="0"/>
          </a:p>
          <a:p>
            <a:pPr marL="342900" indent="-342900">
              <a:lnSpc>
                <a:spcPct val="200000"/>
              </a:lnSpc>
              <a:spcAft>
                <a:spcPts val="600"/>
              </a:spcAft>
              <a:buSzPct val="100000"/>
              <a:buChar char="•"/>
            </a:pPr>
            <a:r>
              <a:rPr lang="en-US" sz="1200" dirty="0">
                <a:solidFill>
                  <a:srgbClr val="1F2D2A"/>
                </a:solidFill>
                <a:latin typeface="Malgun Gothic" pitchFamily="34" charset="0"/>
                <a:ea typeface="Malgun Gothic" pitchFamily="34" charset="-122"/>
                <a:cs typeface="Malgun Gothic" pitchFamily="34" charset="-120"/>
              </a:rPr>
              <a:t>Gold 확장</a:t>
            </a:r>
            <a:endParaRPr lang="en-US" sz="1200" dirty="0"/>
          </a:p>
          <a:p>
            <a:pPr marL="342900" indent="-342900">
              <a:lnSpc>
                <a:spcPct val="200000"/>
              </a:lnSpc>
              <a:spcAft>
                <a:spcPts val="600"/>
              </a:spcAft>
              <a:buSzPct val="100000"/>
              <a:buChar char="•"/>
            </a:pPr>
            <a:r>
              <a:rPr lang="en-US" sz="1200" dirty="0">
                <a:solidFill>
                  <a:srgbClr val="1F2D2A"/>
                </a:solidFill>
                <a:latin typeface="Malgun Gothic" pitchFamily="34" charset="0"/>
                <a:ea typeface="Malgun Gothic" pitchFamily="34" charset="-122"/>
                <a:cs typeface="Malgun Gothic" pitchFamily="34" charset="-120"/>
              </a:rPr>
              <a:t>개선안 시범 운영</a:t>
            </a:r>
            <a:endParaRPr lang="en-US" sz="1200" dirty="0"/>
          </a:p>
        </p:txBody>
      </p:sp>
      <p:sp>
        <p:nvSpPr>
          <p:cNvPr id="18" name="마지막 한 문장"/>
          <p:cNvSpPr txBox="1"/>
          <p:nvPr/>
        </p:nvSpPr>
        <p:spPr>
          <a:xfrm>
            <a:off x="457200" y="3749040"/>
            <a:ext cx="8229600" cy="731520"/>
          </a:xfrm>
          <a:prstGeom prst="rect">
            <a:avLst/>
          </a:prstGeom>
          <a:noFill/>
          <a:ln/>
        </p:spPr>
        <p:txBody>
          <a:bodyPr wrap="square" lIns="0" tIns="0" rIns="0" bIns="0" rtlCol="0" anchor="ctr"/>
          <a:lstStyle/>
          <a:p>
            <a:pPr marL="0" indent="0" algn="ctr">
              <a:buNone/>
            </a:pPr>
            <a:r>
              <a:rPr lang="en-US" sz="1900" b="1" dirty="0">
                <a:solidFill>
                  <a:srgbClr val="12433A"/>
                </a:solidFill>
                <a:latin typeface="Malgun Gothic" pitchFamily="34" charset="0"/>
                <a:ea typeface="Malgun Gothic" pitchFamily="34" charset="-122"/>
                <a:cs typeface="Malgun Gothic" pitchFamily="34" charset="-120"/>
              </a:rPr>
              <a:t>데이터 품질 개선 → 검증된 분석 → 지표를 통해 실제 개선 효과 확인</a:t>
            </a:r>
            <a:endParaRPr lang="en-US" sz="19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F6F6B"/>
                </a:solidFill>
                <a:latin typeface="Malgun Gothic"/>
                <a:ea typeface="Malgun Gothic"/>
                <a:cs typeface="Malgun Gothic"/>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번호 원"/>
          <p:cNvSpPr/>
          <p:nvPr/>
        </p:nvSpPr>
        <p:spPr>
          <a:xfrm>
            <a:off x="457200" y="347472"/>
            <a:ext cx="457200" cy="457200"/>
          </a:xfrm>
          <a:prstGeom prst="ellipse">
            <a:avLst/>
          </a:prstGeom>
          <a:solidFill>
            <a:srgbClr val="1B7566"/>
          </a:solidFill>
          <a:ln w="12700">
            <a:solidFill>
              <a:srgbClr val="1B7566"/>
            </a:solidFill>
            <a:prstDash val="solid"/>
          </a:ln>
        </p:spPr>
        <p:txBody>
          <a:bodyPr/>
          <a:lstStyle/>
          <a:p>
            <a:endParaRPr lang="ko-KR" altLang="en-US"/>
          </a:p>
        </p:txBody>
      </p:sp>
      <p:sp>
        <p:nvSpPr>
          <p:cNvPr id="3" name="번호"/>
          <p:cNvSpPr txBox="1"/>
          <p:nvPr/>
        </p:nvSpPr>
        <p:spPr>
          <a:xfrm>
            <a:off x="457200" y="34747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13</a:t>
            </a:r>
            <a:endParaRPr lang="en-US" sz="1400" dirty="0"/>
          </a:p>
        </p:txBody>
      </p:sp>
      <p:sp>
        <p:nvSpPr>
          <p:cNvPr id="4" name="제목"/>
          <p:cNvSpPr txBox="1"/>
          <p:nvPr/>
        </p:nvSpPr>
        <p:spPr>
          <a:xfrm>
            <a:off x="1051560" y="274320"/>
            <a:ext cx="7635240" cy="594360"/>
          </a:xfrm>
          <a:prstGeom prst="rect">
            <a:avLst/>
          </a:prstGeom>
          <a:noFill/>
          <a:ln/>
        </p:spPr>
        <p:txBody>
          <a:bodyPr wrap="square" lIns="0" tIns="0" rIns="0" bIns="0" rtlCol="0" anchor="ctr"/>
          <a:lstStyle/>
          <a:p>
            <a:pPr marL="0" indent="0">
              <a:buNone/>
            </a:pPr>
            <a:r>
              <a:rPr lang="en-US" sz="2400" b="1" dirty="0">
                <a:solidFill>
                  <a:srgbClr val="12433A"/>
                </a:solidFill>
                <a:latin typeface="Malgun Gothic" pitchFamily="34" charset="0"/>
                <a:ea typeface="Malgun Gothic" pitchFamily="34" charset="-122"/>
                <a:cs typeface="Malgun Gothic" pitchFamily="34" charset="-120"/>
              </a:rPr>
              <a:t>사용 기술과 도구</a:t>
            </a:r>
            <a:endParaRPr lang="en-US" sz="2400" dirty="0"/>
          </a:p>
        </p:txBody>
      </p:sp>
      <p:sp>
        <p:nvSpPr>
          <p:cNvPr id="5" name="핵심 메시지"/>
          <p:cNvSpPr txBox="1"/>
          <p:nvPr/>
        </p:nvSpPr>
        <p:spPr>
          <a:xfrm>
            <a:off x="457200" y="896112"/>
            <a:ext cx="8229600" cy="365760"/>
          </a:xfrm>
          <a:prstGeom prst="rect">
            <a:avLst/>
          </a:prstGeom>
          <a:noFill/>
          <a:ln/>
        </p:spPr>
        <p:txBody>
          <a:bodyPr wrap="square" lIns="0" tIns="0" rIns="0" bIns="0" rtlCol="0" anchor="ctr"/>
          <a:lstStyle/>
          <a:p>
            <a:pPr marL="0" indent="0">
              <a:buNone/>
            </a:pPr>
            <a:r>
              <a:rPr lang="en-US" sz="1400" dirty="0">
                <a:solidFill>
                  <a:srgbClr val="5F6F6B"/>
                </a:solidFill>
                <a:latin typeface="Malgun Gothic" pitchFamily="34" charset="0"/>
                <a:ea typeface="Malgun Gothic" pitchFamily="34" charset="-122"/>
                <a:cs typeface="Malgun Gothic" pitchFamily="34" charset="-120"/>
              </a:rPr>
              <a:t>데이터 진단부터 저장·검증·시각화까지 기술별 역할을 보여준다</a:t>
            </a:r>
            <a:endParaRPr lang="en-US" sz="1400" dirty="0"/>
          </a:p>
        </p:txBody>
      </p:sp>
      <p:sp>
        <p:nvSpPr>
          <p:cNvPr id="6" name="카드"/>
          <p:cNvSpPr/>
          <p:nvPr/>
        </p:nvSpPr>
        <p:spPr>
          <a:xfrm>
            <a:off x="457200" y="1463040"/>
            <a:ext cx="2560320" cy="1463040"/>
          </a:xfrm>
          <a:prstGeom prst="roundRect">
            <a:avLst>
              <a:gd name="adj" fmla="val 5000"/>
            </a:avLst>
          </a:prstGeom>
          <a:solidFill>
            <a:srgbClr val="E8F2EE"/>
          </a:solidFill>
          <a:ln w="12700">
            <a:solidFill>
              <a:srgbClr val="E8F2EE"/>
            </a:solidFill>
            <a:prstDash val="solid"/>
          </a:ln>
        </p:spPr>
        <p:txBody>
          <a:bodyPr/>
          <a:lstStyle/>
          <a:p>
            <a:endParaRPr lang="ko-KR" altLang="en-US"/>
          </a:p>
        </p:txBody>
      </p:sp>
      <p:sp>
        <p:nvSpPr>
          <p:cNvPr id="7" name="카드 텍스트"/>
          <p:cNvSpPr txBox="1"/>
          <p:nvPr/>
        </p:nvSpPr>
        <p:spPr>
          <a:xfrm>
            <a:off x="594360" y="1463040"/>
            <a:ext cx="2286000" cy="1463040"/>
          </a:xfrm>
          <a:prstGeom prst="rect">
            <a:avLst/>
          </a:prstGeom>
          <a:noFill/>
          <a:ln/>
        </p:spPr>
        <p:txBody>
          <a:bodyPr wrap="square" lIns="0" tIns="0" rIns="0" bIns="0" rtlCol="0" anchor="ctr"/>
          <a:lstStyle/>
          <a:p>
            <a:pPr marL="0" indent="0" algn="l">
              <a:spcAft>
                <a:spcPts val="300"/>
              </a:spcAft>
              <a:buNone/>
            </a:pPr>
            <a:r>
              <a:rPr lang="en-US" sz="1500" b="1" dirty="0">
                <a:solidFill>
                  <a:srgbClr val="12433A"/>
                </a:solidFill>
                <a:latin typeface="Malgun Gothic" pitchFamily="34" charset="0"/>
                <a:ea typeface="Malgun Gothic" pitchFamily="34" charset="-122"/>
                <a:cs typeface="Malgun Gothic" pitchFamily="34" charset="-120"/>
              </a:rPr>
              <a:t>Python · pandas</a:t>
            </a:r>
            <a:endParaRPr lang="en-US" sz="1500" dirty="0"/>
          </a:p>
          <a:p>
            <a:pPr marL="0" indent="0" algn="l">
              <a:spcAft>
                <a:spcPts val="300"/>
              </a:spcAft>
              <a:buNone/>
            </a:pPr>
            <a:r>
              <a:rPr lang="en-US" sz="1200" dirty="0">
                <a:solidFill>
                  <a:srgbClr val="1F2D2A"/>
                </a:solidFill>
                <a:latin typeface="Malgun Gothic" pitchFamily="34" charset="0"/>
                <a:ea typeface="Malgun Gothic" pitchFamily="34" charset="-122"/>
                <a:cs typeface="Malgun Gothic" pitchFamily="34" charset="-120"/>
              </a:rPr>
              <a:t>CSV 프로파일링, 표준화 처리와 분석 집계</a:t>
            </a:r>
            <a:endParaRPr lang="en-US" sz="1500" dirty="0"/>
          </a:p>
        </p:txBody>
      </p:sp>
      <p:sp>
        <p:nvSpPr>
          <p:cNvPr id="8" name="카드"/>
          <p:cNvSpPr/>
          <p:nvPr/>
        </p:nvSpPr>
        <p:spPr>
          <a:xfrm>
            <a:off x="3291840" y="1463040"/>
            <a:ext cx="2560320" cy="1463040"/>
          </a:xfrm>
          <a:prstGeom prst="roundRect">
            <a:avLst>
              <a:gd name="adj" fmla="val 5000"/>
            </a:avLst>
          </a:prstGeom>
          <a:solidFill>
            <a:srgbClr val="E8F2EE"/>
          </a:solidFill>
          <a:ln w="12700">
            <a:solidFill>
              <a:srgbClr val="E8F2EE"/>
            </a:solidFill>
            <a:prstDash val="solid"/>
          </a:ln>
        </p:spPr>
        <p:txBody>
          <a:bodyPr/>
          <a:lstStyle/>
          <a:p>
            <a:endParaRPr lang="ko-KR" altLang="en-US"/>
          </a:p>
        </p:txBody>
      </p:sp>
      <p:sp>
        <p:nvSpPr>
          <p:cNvPr id="9" name="카드 텍스트"/>
          <p:cNvSpPr txBox="1"/>
          <p:nvPr/>
        </p:nvSpPr>
        <p:spPr>
          <a:xfrm>
            <a:off x="3429000" y="1463040"/>
            <a:ext cx="2286000" cy="1463040"/>
          </a:xfrm>
          <a:prstGeom prst="rect">
            <a:avLst/>
          </a:prstGeom>
          <a:noFill/>
          <a:ln/>
        </p:spPr>
        <p:txBody>
          <a:bodyPr wrap="square" lIns="0" tIns="0" rIns="0" bIns="0" rtlCol="0" anchor="ctr"/>
          <a:lstStyle/>
          <a:p>
            <a:pPr marL="0" indent="0" algn="l">
              <a:spcAft>
                <a:spcPts val="300"/>
              </a:spcAft>
              <a:buNone/>
            </a:pPr>
            <a:r>
              <a:rPr lang="en-US" sz="1500" b="1" dirty="0">
                <a:solidFill>
                  <a:srgbClr val="12433A"/>
                </a:solidFill>
                <a:latin typeface="Malgun Gothic" pitchFamily="34" charset="0"/>
                <a:ea typeface="Malgun Gothic" pitchFamily="34" charset="-122"/>
                <a:cs typeface="Malgun Gothic" pitchFamily="34" charset="-120"/>
              </a:rPr>
              <a:t>MySQL · SQL</a:t>
            </a:r>
            <a:endParaRPr lang="en-US" sz="1500" dirty="0"/>
          </a:p>
          <a:p>
            <a:pPr marL="0" indent="0" algn="l">
              <a:spcAft>
                <a:spcPts val="300"/>
              </a:spcAft>
              <a:buNone/>
            </a:pPr>
            <a:r>
              <a:rPr lang="en-US" sz="1200" dirty="0">
                <a:solidFill>
                  <a:srgbClr val="1F2D2A"/>
                </a:solidFill>
                <a:latin typeface="Malgun Gothic" pitchFamily="34" charset="0"/>
                <a:ea typeface="Malgun Gothic" pitchFamily="34" charset="-122"/>
                <a:cs typeface="Malgun Gothic" pitchFamily="34" charset="-120"/>
              </a:rPr>
              <a:t>레이어별 테이블 구현, 정제·적재, 무결성·건수 검증</a:t>
            </a:r>
            <a:endParaRPr lang="en-US" sz="1500" dirty="0"/>
          </a:p>
        </p:txBody>
      </p:sp>
      <p:sp>
        <p:nvSpPr>
          <p:cNvPr id="10" name="카드"/>
          <p:cNvSpPr/>
          <p:nvPr/>
        </p:nvSpPr>
        <p:spPr>
          <a:xfrm>
            <a:off x="6126480" y="1463040"/>
            <a:ext cx="2560320" cy="1463040"/>
          </a:xfrm>
          <a:prstGeom prst="roundRect">
            <a:avLst>
              <a:gd name="adj" fmla="val 5000"/>
            </a:avLst>
          </a:prstGeom>
          <a:solidFill>
            <a:srgbClr val="E8F2EE"/>
          </a:solidFill>
          <a:ln w="12700">
            <a:solidFill>
              <a:srgbClr val="E8F2EE"/>
            </a:solidFill>
            <a:prstDash val="solid"/>
          </a:ln>
        </p:spPr>
        <p:txBody>
          <a:bodyPr/>
          <a:lstStyle/>
          <a:p>
            <a:endParaRPr lang="ko-KR" altLang="en-US"/>
          </a:p>
        </p:txBody>
      </p:sp>
      <p:sp>
        <p:nvSpPr>
          <p:cNvPr id="11" name="카드 텍스트"/>
          <p:cNvSpPr txBox="1"/>
          <p:nvPr/>
        </p:nvSpPr>
        <p:spPr>
          <a:xfrm>
            <a:off x="6263640" y="1463040"/>
            <a:ext cx="2286000" cy="1463040"/>
          </a:xfrm>
          <a:prstGeom prst="rect">
            <a:avLst/>
          </a:prstGeom>
          <a:noFill/>
          <a:ln/>
        </p:spPr>
        <p:txBody>
          <a:bodyPr wrap="square" lIns="0" tIns="0" rIns="0" bIns="0" rtlCol="0" anchor="ctr"/>
          <a:lstStyle/>
          <a:p>
            <a:pPr marL="0" indent="0" algn="l">
              <a:spcAft>
                <a:spcPts val="300"/>
              </a:spcAft>
              <a:buNone/>
            </a:pPr>
            <a:r>
              <a:rPr lang="en-US" sz="1500" b="1" dirty="0">
                <a:solidFill>
                  <a:srgbClr val="12433A"/>
                </a:solidFill>
                <a:latin typeface="Malgun Gothic" pitchFamily="34" charset="0"/>
                <a:ea typeface="Malgun Gothic" pitchFamily="34" charset="-122"/>
                <a:cs typeface="Malgun Gothic" pitchFamily="34" charset="-120"/>
              </a:rPr>
              <a:t>Matplotlib · Seaborn</a:t>
            </a:r>
            <a:endParaRPr lang="en-US" sz="1500" dirty="0"/>
          </a:p>
          <a:p>
            <a:pPr marL="0" indent="0" algn="l">
              <a:spcAft>
                <a:spcPts val="300"/>
              </a:spcAft>
              <a:buNone/>
            </a:pPr>
            <a:r>
              <a:rPr lang="en-US" sz="1200" dirty="0">
                <a:solidFill>
                  <a:srgbClr val="1F2D2A"/>
                </a:solidFill>
                <a:latin typeface="Malgun Gothic" pitchFamily="34" charset="0"/>
                <a:ea typeface="Malgun Gothic" pitchFamily="34" charset="-122"/>
                <a:cs typeface="Malgun Gothic" pitchFamily="34" charset="-120"/>
              </a:rPr>
              <a:t>막대그래프, 히트맵, 검수시간 분포 시각화</a:t>
            </a:r>
            <a:endParaRPr lang="en-US" sz="15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F6F6B"/>
                </a:solidFill>
                <a:latin typeface="Malgun Gothic"/>
                <a:ea typeface="Malgun Gothic"/>
                <a:cs typeface="Malgun Gothic"/>
              </a:defRPr>
            </a:lvl1pPr>
          </a:lstStyle>
          <a:p>
            <a:pPr algn="r"/>
            <a:fld id="{F7021451-1387-4CA6-816F-3879F97B5CBC}" type="slidenum">
              <a:rPr lang="en-US" b="0"/>
              <a:t>15</a:t>
            </a:fld>
            <a:endParaRPr lang="en-US"/>
          </a:p>
        </p:txBody>
      </p:sp>
      <p:pic>
        <p:nvPicPr>
          <p:cNvPr id="21" name="그림 20">
            <a:extLst>
              <a:ext uri="{FF2B5EF4-FFF2-40B4-BE49-F238E27FC236}">
                <a16:creationId xmlns:a16="http://schemas.microsoft.com/office/drawing/2014/main" id="{5770A41B-DB42-BB9A-5B72-FC275ACB63F1}"/>
              </a:ext>
            </a:extLst>
          </p:cNvPr>
          <p:cNvPicPr>
            <a:picLocks noChangeAspect="1"/>
          </p:cNvPicPr>
          <p:nvPr/>
        </p:nvPicPr>
        <p:blipFill>
          <a:blip r:embed="rId3"/>
          <a:srcRect l="2500" r="59500" b="13039"/>
          <a:stretch>
            <a:fillRect/>
          </a:stretch>
        </p:blipFill>
        <p:spPr>
          <a:xfrm>
            <a:off x="6126481" y="3050146"/>
            <a:ext cx="2560319" cy="1733126"/>
          </a:xfrm>
          <a:prstGeom prst="rect">
            <a:avLst/>
          </a:prstGeom>
        </p:spPr>
      </p:pic>
      <p:pic>
        <p:nvPicPr>
          <p:cNvPr id="23" name="그림 22">
            <a:extLst>
              <a:ext uri="{FF2B5EF4-FFF2-40B4-BE49-F238E27FC236}">
                <a16:creationId xmlns:a16="http://schemas.microsoft.com/office/drawing/2014/main" id="{E6B73A3B-9D87-65C8-4574-93B384866C09}"/>
              </a:ext>
            </a:extLst>
          </p:cNvPr>
          <p:cNvPicPr>
            <a:picLocks noChangeAspect="1"/>
          </p:cNvPicPr>
          <p:nvPr/>
        </p:nvPicPr>
        <p:blipFill>
          <a:blip r:embed="rId4"/>
          <a:srcRect l="2583" r="60666" b="12824"/>
          <a:stretch>
            <a:fillRect/>
          </a:stretch>
        </p:blipFill>
        <p:spPr>
          <a:xfrm>
            <a:off x="457200" y="3050146"/>
            <a:ext cx="2560320" cy="1733126"/>
          </a:xfrm>
          <a:prstGeom prst="rect">
            <a:avLst/>
          </a:prstGeom>
        </p:spPr>
      </p:pic>
      <p:pic>
        <p:nvPicPr>
          <p:cNvPr id="26" name="그림 25">
            <a:extLst>
              <a:ext uri="{FF2B5EF4-FFF2-40B4-BE49-F238E27FC236}">
                <a16:creationId xmlns:a16="http://schemas.microsoft.com/office/drawing/2014/main" id="{F83A9CDE-AF28-0C85-6F73-04EABBAB81A2}"/>
              </a:ext>
            </a:extLst>
          </p:cNvPr>
          <p:cNvPicPr>
            <a:picLocks noChangeAspect="1"/>
          </p:cNvPicPr>
          <p:nvPr/>
        </p:nvPicPr>
        <p:blipFill>
          <a:blip r:embed="rId5"/>
          <a:srcRect l="2500" r="43583" b="10022"/>
          <a:stretch>
            <a:fillRect/>
          </a:stretch>
        </p:blipFill>
        <p:spPr>
          <a:xfrm>
            <a:off x="3291840" y="3050146"/>
            <a:ext cx="2560319" cy="173312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Q&amp;amp;A"/>
          <p:cNvSpPr txBox="1"/>
          <p:nvPr/>
        </p:nvSpPr>
        <p:spPr>
          <a:xfrm>
            <a:off x="640080" y="1885950"/>
            <a:ext cx="7863840" cy="1371600"/>
          </a:xfrm>
          <a:prstGeom prst="rect">
            <a:avLst/>
          </a:prstGeom>
          <a:noFill/>
          <a:ln/>
        </p:spPr>
        <p:txBody>
          <a:bodyPr wrap="square" lIns="0" tIns="0" rIns="0" bIns="0"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Q&amp;A</a:t>
            </a:r>
            <a:endParaRPr lang="en-US" sz="8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번호 원"/>
          <p:cNvSpPr/>
          <p:nvPr/>
        </p:nvSpPr>
        <p:spPr>
          <a:xfrm>
            <a:off x="457200" y="347472"/>
            <a:ext cx="457200" cy="457200"/>
          </a:xfrm>
          <a:prstGeom prst="ellipse">
            <a:avLst/>
          </a:prstGeom>
          <a:solidFill>
            <a:srgbClr val="1B7566"/>
          </a:solidFill>
          <a:ln w="12700">
            <a:solidFill>
              <a:srgbClr val="1B7566"/>
            </a:solidFill>
            <a:prstDash val="solid"/>
          </a:ln>
        </p:spPr>
        <p:txBody>
          <a:bodyPr/>
          <a:lstStyle/>
          <a:p>
            <a:endParaRPr lang="ko-KR" altLang="en-US"/>
          </a:p>
        </p:txBody>
      </p:sp>
      <p:sp>
        <p:nvSpPr>
          <p:cNvPr id="3" name="번호"/>
          <p:cNvSpPr txBox="1"/>
          <p:nvPr/>
        </p:nvSpPr>
        <p:spPr>
          <a:xfrm>
            <a:off x="457200" y="34747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A1</a:t>
            </a:r>
            <a:endParaRPr lang="en-US" sz="1400" dirty="0"/>
          </a:p>
        </p:txBody>
      </p:sp>
      <p:sp>
        <p:nvSpPr>
          <p:cNvPr id="4" name="제목"/>
          <p:cNvSpPr txBox="1"/>
          <p:nvPr/>
        </p:nvSpPr>
        <p:spPr>
          <a:xfrm>
            <a:off x="1051560" y="274320"/>
            <a:ext cx="7635240" cy="594360"/>
          </a:xfrm>
          <a:prstGeom prst="rect">
            <a:avLst/>
          </a:prstGeom>
          <a:noFill/>
          <a:ln/>
        </p:spPr>
        <p:txBody>
          <a:bodyPr wrap="square" lIns="0" tIns="0" rIns="0" bIns="0" rtlCol="0" anchor="ctr"/>
          <a:lstStyle/>
          <a:p>
            <a:pPr marL="0" indent="0">
              <a:buNone/>
            </a:pPr>
            <a:r>
              <a:rPr lang="en-US" sz="2400" b="1" dirty="0">
                <a:solidFill>
                  <a:srgbClr val="12433A"/>
                </a:solidFill>
                <a:latin typeface="Malgun Gothic" pitchFamily="34" charset="0"/>
                <a:ea typeface="Malgun Gothic" pitchFamily="34" charset="-122"/>
                <a:cs typeface="Malgun Gothic" pitchFamily="34" charset="-120"/>
              </a:rPr>
              <a:t>부록 1  상품별 오판정률</a:t>
            </a:r>
            <a:endParaRPr lang="en-US" sz="2400" dirty="0"/>
          </a:p>
        </p:txBody>
      </p:sp>
      <p:sp>
        <p:nvSpPr>
          <p:cNvPr id="5" name="핵심 메시지"/>
          <p:cNvSpPr txBox="1"/>
          <p:nvPr/>
        </p:nvSpPr>
        <p:spPr>
          <a:xfrm>
            <a:off x="457200" y="896112"/>
            <a:ext cx="8229600" cy="365760"/>
          </a:xfrm>
          <a:prstGeom prst="rect">
            <a:avLst/>
          </a:prstGeom>
          <a:noFill/>
          <a:ln/>
        </p:spPr>
        <p:txBody>
          <a:bodyPr wrap="square" lIns="0" tIns="0" rIns="0" bIns="0" rtlCol="0" anchor="ctr"/>
          <a:lstStyle/>
          <a:p>
            <a:pPr marL="0" indent="0">
              <a:buNone/>
            </a:pPr>
            <a:r>
              <a:rPr lang="en-US" sz="1400" dirty="0">
                <a:solidFill>
                  <a:srgbClr val="5F6F6B"/>
                </a:solidFill>
                <a:latin typeface="Malgun Gothic" pitchFamily="34" charset="0"/>
                <a:ea typeface="Malgun Gothic" pitchFamily="34" charset="-122"/>
                <a:cs typeface="Malgun Gothic" pitchFamily="34" charset="-120"/>
              </a:rPr>
              <a:t>가로축: 부서 / 세로축: 상품 / 색: 오판정률(%)</a:t>
            </a:r>
            <a:endParaRPr lang="en-US" sz="1400" dirty="0"/>
          </a:p>
        </p:txBody>
      </p:sp>
      <p:pic>
        <p:nvPicPr>
          <p:cNvPr id="6" name="부록 1  상품별 오판정률 그래프" descr="부록 1  상품별 오판정률 그래프"/>
          <p:cNvPicPr>
            <a:picLocks noChangeAspect="1"/>
          </p:cNvPicPr>
          <p:nvPr/>
        </p:nvPicPr>
        <p:blipFill>
          <a:blip r:embed="rId3"/>
          <a:stretch>
            <a:fillRect/>
          </a:stretch>
        </p:blipFill>
        <p:spPr>
          <a:xfrm>
            <a:off x="1554480" y="1325880"/>
            <a:ext cx="6035040" cy="2806995"/>
          </a:xfrm>
          <a:prstGeom prst="rect">
            <a:avLst/>
          </a:prstGeom>
        </p:spPr>
      </p:pic>
      <p:sp>
        <p:nvSpPr>
          <p:cNvPr id="7" name="그래프 기준"/>
          <p:cNvSpPr txBox="1"/>
          <p:nvPr/>
        </p:nvSpPr>
        <p:spPr>
          <a:xfrm>
            <a:off x="457200" y="4572000"/>
            <a:ext cx="8229600" cy="274320"/>
          </a:xfrm>
          <a:prstGeom prst="rect">
            <a:avLst/>
          </a:prstGeom>
          <a:noFill/>
          <a:ln/>
        </p:spPr>
        <p:txBody>
          <a:bodyPr wrap="square" lIns="0" tIns="0" rIns="0" bIns="0" rtlCol="0" anchor="t"/>
          <a:lstStyle/>
          <a:p>
            <a:pPr marL="0" indent="0">
              <a:buNone/>
            </a:pPr>
            <a:r>
              <a:rPr lang="en-US" sz="1000" dirty="0">
                <a:solidFill>
                  <a:srgbClr val="5F6F6B"/>
                </a:solidFill>
                <a:latin typeface="Malgun Gothic" pitchFamily="34" charset="0"/>
                <a:ea typeface="Malgun Gothic" pitchFamily="34" charset="-122"/>
                <a:cs typeface="Malgun Gothic" pitchFamily="34" charset="-120"/>
              </a:rPr>
              <a:t>외주야간검수팀 열이 대부분의 상품에서 높게 나타난다. 일반 검수, 2022.01~2026.08 최초 개정본 최종 상태 기준. 과제 1(7번)의 보조 근거.</a:t>
            </a:r>
            <a:endParaRPr lang="en-US" sz="10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F6F6B"/>
                </a:solidFill>
                <a:latin typeface="Malgun Gothic"/>
                <a:ea typeface="Malgun Gothic"/>
                <a:cs typeface="Malgun Gothic"/>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번호 원"/>
          <p:cNvSpPr/>
          <p:nvPr/>
        </p:nvSpPr>
        <p:spPr>
          <a:xfrm>
            <a:off x="457200" y="347472"/>
            <a:ext cx="457200" cy="457200"/>
          </a:xfrm>
          <a:prstGeom prst="ellipse">
            <a:avLst/>
          </a:prstGeom>
          <a:solidFill>
            <a:srgbClr val="1B7566"/>
          </a:solidFill>
          <a:ln w="12700">
            <a:solidFill>
              <a:srgbClr val="1B7566"/>
            </a:solidFill>
            <a:prstDash val="solid"/>
          </a:ln>
        </p:spPr>
        <p:txBody>
          <a:bodyPr/>
          <a:lstStyle/>
          <a:p>
            <a:endParaRPr lang="ko-KR" altLang="en-US"/>
          </a:p>
        </p:txBody>
      </p:sp>
      <p:sp>
        <p:nvSpPr>
          <p:cNvPr id="3" name="번호"/>
          <p:cNvSpPr txBox="1"/>
          <p:nvPr/>
        </p:nvSpPr>
        <p:spPr>
          <a:xfrm>
            <a:off x="457200" y="34747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A2</a:t>
            </a:r>
            <a:endParaRPr lang="en-US" sz="1400" dirty="0"/>
          </a:p>
        </p:txBody>
      </p:sp>
      <p:sp>
        <p:nvSpPr>
          <p:cNvPr id="4" name="제목"/>
          <p:cNvSpPr txBox="1"/>
          <p:nvPr/>
        </p:nvSpPr>
        <p:spPr>
          <a:xfrm>
            <a:off x="1051560" y="274320"/>
            <a:ext cx="7635240" cy="594360"/>
          </a:xfrm>
          <a:prstGeom prst="rect">
            <a:avLst/>
          </a:prstGeom>
          <a:noFill/>
          <a:ln/>
        </p:spPr>
        <p:txBody>
          <a:bodyPr wrap="square" lIns="0" tIns="0" rIns="0" bIns="0" rtlCol="0" anchor="ctr"/>
          <a:lstStyle/>
          <a:p>
            <a:pPr marL="0" indent="0">
              <a:buNone/>
            </a:pPr>
            <a:r>
              <a:rPr lang="en-US" sz="2400" b="1" dirty="0">
                <a:solidFill>
                  <a:srgbClr val="12433A"/>
                </a:solidFill>
                <a:latin typeface="Malgun Gothic" pitchFamily="34" charset="0"/>
                <a:ea typeface="Malgun Gothic" pitchFamily="34" charset="-122"/>
                <a:cs typeface="Malgun Gothic" pitchFamily="34" charset="-120"/>
              </a:rPr>
              <a:t>부록 2  팀별 인원과 직급</a:t>
            </a:r>
            <a:endParaRPr lang="en-US" sz="2400" dirty="0"/>
          </a:p>
        </p:txBody>
      </p:sp>
      <p:sp>
        <p:nvSpPr>
          <p:cNvPr id="5" name="핵심 메시지"/>
          <p:cNvSpPr txBox="1"/>
          <p:nvPr/>
        </p:nvSpPr>
        <p:spPr>
          <a:xfrm>
            <a:off x="457200" y="896112"/>
            <a:ext cx="8229600" cy="365760"/>
          </a:xfrm>
          <a:prstGeom prst="rect">
            <a:avLst/>
          </a:prstGeom>
          <a:noFill/>
          <a:ln/>
        </p:spPr>
        <p:txBody>
          <a:bodyPr wrap="square" lIns="0" tIns="0" rIns="0" bIns="0" rtlCol="0" anchor="ctr"/>
          <a:lstStyle/>
          <a:p>
            <a:pPr marL="0" indent="0">
              <a:buNone/>
            </a:pPr>
            <a:r>
              <a:rPr lang="en-US" sz="1400" dirty="0">
                <a:solidFill>
                  <a:srgbClr val="5F6F6B"/>
                </a:solidFill>
                <a:latin typeface="Malgun Gothic" pitchFamily="34" charset="0"/>
                <a:ea typeface="Malgun Gothic" pitchFamily="34" charset="-122"/>
                <a:cs typeface="Malgun Gothic" pitchFamily="34" charset="-120"/>
              </a:rPr>
              <a:t>가로축: 인원(명) / 세로축: 부서 / 색: 직급</a:t>
            </a:r>
            <a:endParaRPr lang="en-US" sz="1400" dirty="0"/>
          </a:p>
        </p:txBody>
      </p:sp>
      <p:pic>
        <p:nvPicPr>
          <p:cNvPr id="6" name="부록 2  팀별 인원과 직급 그래프" descr="부록 2  팀별 인원과 직급 그래프"/>
          <p:cNvPicPr>
            <a:picLocks noChangeAspect="1"/>
          </p:cNvPicPr>
          <p:nvPr/>
        </p:nvPicPr>
        <p:blipFill>
          <a:blip r:embed="rId3"/>
          <a:stretch>
            <a:fillRect/>
          </a:stretch>
        </p:blipFill>
        <p:spPr>
          <a:xfrm>
            <a:off x="1554480" y="1325880"/>
            <a:ext cx="6035040" cy="2718486"/>
          </a:xfrm>
          <a:prstGeom prst="rect">
            <a:avLst/>
          </a:prstGeom>
        </p:spPr>
      </p:pic>
      <p:sp>
        <p:nvSpPr>
          <p:cNvPr id="7" name="그래프 기준"/>
          <p:cNvSpPr txBox="1"/>
          <p:nvPr/>
        </p:nvSpPr>
        <p:spPr>
          <a:xfrm>
            <a:off x="457200" y="4572000"/>
            <a:ext cx="8229600" cy="274320"/>
          </a:xfrm>
          <a:prstGeom prst="rect">
            <a:avLst/>
          </a:prstGeom>
          <a:noFill/>
          <a:ln/>
        </p:spPr>
        <p:txBody>
          <a:bodyPr wrap="square" lIns="0" tIns="0" rIns="0" bIns="0" rtlCol="0" anchor="t"/>
          <a:lstStyle/>
          <a:p>
            <a:pPr marL="0" indent="0">
              <a:buNone/>
            </a:pPr>
            <a:r>
              <a:rPr lang="en-US" sz="1000" dirty="0">
                <a:solidFill>
                  <a:srgbClr val="5F6F6B"/>
                </a:solidFill>
                <a:latin typeface="Malgun Gothic" pitchFamily="34" charset="0"/>
                <a:ea typeface="Malgun Gothic" pitchFamily="34" charset="-122"/>
                <a:cs typeface="Malgun Gothic" pitchFamily="34" charset="-120"/>
              </a:rPr>
              <a:t>등록 인원 기준이며 실근무 인원이 아니다. 부서·직급은 현재 마스터 기준. 과제 2(8번)의 보조 근거.</a:t>
            </a:r>
            <a:endParaRPr lang="en-US" sz="10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F6F6B"/>
                </a:solidFill>
                <a:latin typeface="Malgun Gothic"/>
                <a:ea typeface="Malgun Gothic"/>
                <a:cs typeface="Malgun Gothic"/>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번호 원"/>
          <p:cNvSpPr/>
          <p:nvPr/>
        </p:nvSpPr>
        <p:spPr>
          <a:xfrm>
            <a:off x="457200" y="347472"/>
            <a:ext cx="457200" cy="457200"/>
          </a:xfrm>
          <a:prstGeom prst="ellipse">
            <a:avLst/>
          </a:prstGeom>
          <a:solidFill>
            <a:srgbClr val="1B7566"/>
          </a:solidFill>
          <a:ln w="12700">
            <a:solidFill>
              <a:srgbClr val="1B7566"/>
            </a:solidFill>
            <a:prstDash val="solid"/>
          </a:ln>
        </p:spPr>
        <p:txBody>
          <a:bodyPr/>
          <a:lstStyle/>
          <a:p>
            <a:endParaRPr lang="ko-KR" altLang="en-US"/>
          </a:p>
        </p:txBody>
      </p:sp>
      <p:sp>
        <p:nvSpPr>
          <p:cNvPr id="3" name="번호"/>
          <p:cNvSpPr txBox="1"/>
          <p:nvPr/>
        </p:nvSpPr>
        <p:spPr>
          <a:xfrm>
            <a:off x="457200" y="34747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A3</a:t>
            </a:r>
            <a:endParaRPr lang="en-US" sz="1400" dirty="0"/>
          </a:p>
        </p:txBody>
      </p:sp>
      <p:sp>
        <p:nvSpPr>
          <p:cNvPr id="4" name="제목"/>
          <p:cNvSpPr txBox="1"/>
          <p:nvPr/>
        </p:nvSpPr>
        <p:spPr>
          <a:xfrm>
            <a:off x="1051560" y="274320"/>
            <a:ext cx="7635240" cy="594360"/>
          </a:xfrm>
          <a:prstGeom prst="rect">
            <a:avLst/>
          </a:prstGeom>
          <a:noFill/>
          <a:ln/>
        </p:spPr>
        <p:txBody>
          <a:bodyPr wrap="square" lIns="0" tIns="0" rIns="0" bIns="0" rtlCol="0" anchor="ctr"/>
          <a:lstStyle/>
          <a:p>
            <a:pPr marL="0" indent="0">
              <a:buNone/>
            </a:pPr>
            <a:r>
              <a:rPr lang="en-US" sz="2400" b="1" dirty="0">
                <a:solidFill>
                  <a:srgbClr val="12433A"/>
                </a:solidFill>
                <a:latin typeface="Malgun Gothic" pitchFamily="34" charset="0"/>
                <a:ea typeface="Malgun Gothic" pitchFamily="34" charset="-122"/>
                <a:cs typeface="Malgun Gothic" pitchFamily="34" charset="-120"/>
              </a:rPr>
              <a:t>부록 3  팀별 직급 구성비</a:t>
            </a:r>
            <a:endParaRPr lang="en-US" sz="2400" dirty="0"/>
          </a:p>
        </p:txBody>
      </p:sp>
      <p:sp>
        <p:nvSpPr>
          <p:cNvPr id="5" name="핵심 메시지"/>
          <p:cNvSpPr txBox="1"/>
          <p:nvPr/>
        </p:nvSpPr>
        <p:spPr>
          <a:xfrm>
            <a:off x="457200" y="896112"/>
            <a:ext cx="8229600" cy="365760"/>
          </a:xfrm>
          <a:prstGeom prst="rect">
            <a:avLst/>
          </a:prstGeom>
          <a:noFill/>
          <a:ln/>
        </p:spPr>
        <p:txBody>
          <a:bodyPr wrap="square" lIns="0" tIns="0" rIns="0" bIns="0" rtlCol="0" anchor="ctr"/>
          <a:lstStyle/>
          <a:p>
            <a:pPr marL="0" indent="0">
              <a:buNone/>
            </a:pPr>
            <a:r>
              <a:rPr lang="en-US" sz="1400" dirty="0">
                <a:solidFill>
                  <a:srgbClr val="5F6F6B"/>
                </a:solidFill>
                <a:latin typeface="Malgun Gothic" pitchFamily="34" charset="0"/>
                <a:ea typeface="Malgun Gothic" pitchFamily="34" charset="-122"/>
                <a:cs typeface="Malgun Gothic" pitchFamily="34" charset="-120"/>
              </a:rPr>
              <a:t>가로축: 구성비(%) / 세로축: 부서 / 색: 직급</a:t>
            </a:r>
            <a:endParaRPr lang="en-US" sz="1400" dirty="0"/>
          </a:p>
        </p:txBody>
      </p:sp>
      <p:pic>
        <p:nvPicPr>
          <p:cNvPr id="6" name="부록 3  팀별 직급 구성비 그래프" descr="부록 3  팀별 직급 구성비 그래프"/>
          <p:cNvPicPr>
            <a:picLocks noChangeAspect="1"/>
          </p:cNvPicPr>
          <p:nvPr/>
        </p:nvPicPr>
        <p:blipFill>
          <a:blip r:embed="rId3"/>
          <a:stretch>
            <a:fillRect/>
          </a:stretch>
        </p:blipFill>
        <p:spPr>
          <a:xfrm>
            <a:off x="1554480" y="1325880"/>
            <a:ext cx="6035040" cy="2706296"/>
          </a:xfrm>
          <a:prstGeom prst="rect">
            <a:avLst/>
          </a:prstGeom>
        </p:spPr>
      </p:pic>
      <p:sp>
        <p:nvSpPr>
          <p:cNvPr id="7" name="그래프 기준"/>
          <p:cNvSpPr txBox="1"/>
          <p:nvPr/>
        </p:nvSpPr>
        <p:spPr>
          <a:xfrm>
            <a:off x="457200" y="4572000"/>
            <a:ext cx="8229600" cy="274320"/>
          </a:xfrm>
          <a:prstGeom prst="rect">
            <a:avLst/>
          </a:prstGeom>
          <a:noFill/>
          <a:ln/>
        </p:spPr>
        <p:txBody>
          <a:bodyPr wrap="square" lIns="0" tIns="0" rIns="0" bIns="0" rtlCol="0" anchor="t"/>
          <a:lstStyle/>
          <a:p>
            <a:pPr marL="0" indent="0">
              <a:buNone/>
            </a:pPr>
            <a:r>
              <a:rPr lang="en-US" sz="1000" dirty="0">
                <a:solidFill>
                  <a:srgbClr val="5F6F6B"/>
                </a:solidFill>
                <a:latin typeface="Malgun Gothic" pitchFamily="34" charset="0"/>
                <a:ea typeface="Malgun Gothic" pitchFamily="34" charset="-122"/>
                <a:cs typeface="Malgun Gothic" pitchFamily="34" charset="-120"/>
              </a:rPr>
              <a:t>부서·직급은 현재 마스터 기준이며 검수 당시 이력과 다를 수 있다.</a:t>
            </a:r>
            <a:endParaRPr lang="en-US" sz="10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F6F6B"/>
                </a:solidFill>
                <a:latin typeface="Malgun Gothic"/>
                <a:ea typeface="Malgun Gothic"/>
                <a:cs typeface="Malgun Gothic"/>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번호 원"/>
          <p:cNvSpPr/>
          <p:nvPr/>
        </p:nvSpPr>
        <p:spPr>
          <a:xfrm>
            <a:off x="457200" y="347472"/>
            <a:ext cx="457200" cy="457200"/>
          </a:xfrm>
          <a:prstGeom prst="ellipse">
            <a:avLst/>
          </a:prstGeom>
          <a:solidFill>
            <a:srgbClr val="1B7566"/>
          </a:solidFill>
          <a:ln w="12700">
            <a:solidFill>
              <a:srgbClr val="1B7566"/>
            </a:solidFill>
            <a:prstDash val="solid"/>
          </a:ln>
        </p:spPr>
        <p:txBody>
          <a:bodyPr/>
          <a:lstStyle/>
          <a:p>
            <a:endParaRPr lang="ko-KR" altLang="en-US"/>
          </a:p>
        </p:txBody>
      </p:sp>
      <p:sp>
        <p:nvSpPr>
          <p:cNvPr id="3" name="번호"/>
          <p:cNvSpPr txBox="1"/>
          <p:nvPr/>
        </p:nvSpPr>
        <p:spPr>
          <a:xfrm>
            <a:off x="457200" y="34747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A4</a:t>
            </a:r>
            <a:endParaRPr lang="en-US" sz="1400" dirty="0"/>
          </a:p>
        </p:txBody>
      </p:sp>
      <p:sp>
        <p:nvSpPr>
          <p:cNvPr id="4" name="제목"/>
          <p:cNvSpPr txBox="1"/>
          <p:nvPr/>
        </p:nvSpPr>
        <p:spPr>
          <a:xfrm>
            <a:off x="1051560" y="274320"/>
            <a:ext cx="7635240" cy="594360"/>
          </a:xfrm>
          <a:prstGeom prst="rect">
            <a:avLst/>
          </a:prstGeom>
          <a:noFill/>
          <a:ln/>
        </p:spPr>
        <p:txBody>
          <a:bodyPr wrap="square" lIns="0" tIns="0" rIns="0" bIns="0" rtlCol="0" anchor="ctr"/>
          <a:lstStyle/>
          <a:p>
            <a:pPr marL="0" indent="0">
              <a:buNone/>
            </a:pPr>
            <a:r>
              <a:rPr lang="en-US" sz="2400" b="1" dirty="0">
                <a:solidFill>
                  <a:srgbClr val="12433A"/>
                </a:solidFill>
                <a:latin typeface="Malgun Gothic" pitchFamily="34" charset="0"/>
                <a:ea typeface="Malgun Gothic" pitchFamily="34" charset="-122"/>
                <a:cs typeface="Malgun Gothic" pitchFamily="34" charset="-120"/>
              </a:rPr>
              <a:t>부록 4  상품별 검수 대상 건수</a:t>
            </a:r>
            <a:endParaRPr lang="en-US" sz="2400" dirty="0"/>
          </a:p>
        </p:txBody>
      </p:sp>
      <p:sp>
        <p:nvSpPr>
          <p:cNvPr id="5" name="핵심 메시지"/>
          <p:cNvSpPr txBox="1"/>
          <p:nvPr/>
        </p:nvSpPr>
        <p:spPr>
          <a:xfrm>
            <a:off x="457200" y="896112"/>
            <a:ext cx="8229600" cy="365760"/>
          </a:xfrm>
          <a:prstGeom prst="rect">
            <a:avLst/>
          </a:prstGeom>
          <a:noFill/>
          <a:ln/>
        </p:spPr>
        <p:txBody>
          <a:bodyPr wrap="square" lIns="0" tIns="0" rIns="0" bIns="0" rtlCol="0" anchor="ctr"/>
          <a:lstStyle/>
          <a:p>
            <a:pPr marL="0" indent="0">
              <a:buNone/>
            </a:pPr>
            <a:r>
              <a:rPr lang="en-US" sz="1400" dirty="0">
                <a:solidFill>
                  <a:srgbClr val="5F6F6B"/>
                </a:solidFill>
                <a:latin typeface="Malgun Gothic" pitchFamily="34" charset="0"/>
                <a:ea typeface="Malgun Gothic" pitchFamily="34" charset="-122"/>
                <a:cs typeface="Malgun Gothic" pitchFamily="34" charset="-120"/>
              </a:rPr>
              <a:t>가로축: 부서 / 세로축: 상품 / 색: 검수 대상 건수</a:t>
            </a:r>
            <a:endParaRPr lang="en-US" sz="1400" dirty="0"/>
          </a:p>
        </p:txBody>
      </p:sp>
      <p:pic>
        <p:nvPicPr>
          <p:cNvPr id="6" name="부록 4  상품별 검수 대상 건수 그래프" descr="부록 4  상품별 검수 대상 건수 그래프"/>
          <p:cNvPicPr>
            <a:picLocks noChangeAspect="1"/>
          </p:cNvPicPr>
          <p:nvPr/>
        </p:nvPicPr>
        <p:blipFill>
          <a:blip r:embed="rId3"/>
          <a:stretch>
            <a:fillRect/>
          </a:stretch>
        </p:blipFill>
        <p:spPr>
          <a:xfrm>
            <a:off x="1554480" y="1325880"/>
            <a:ext cx="6035040" cy="2768367"/>
          </a:xfrm>
          <a:prstGeom prst="rect">
            <a:avLst/>
          </a:prstGeom>
        </p:spPr>
      </p:pic>
      <p:sp>
        <p:nvSpPr>
          <p:cNvPr id="7" name="그래프 기준"/>
          <p:cNvSpPr txBox="1"/>
          <p:nvPr/>
        </p:nvSpPr>
        <p:spPr>
          <a:xfrm>
            <a:off x="457200" y="4572000"/>
            <a:ext cx="8229600" cy="274320"/>
          </a:xfrm>
          <a:prstGeom prst="rect">
            <a:avLst/>
          </a:prstGeom>
          <a:noFill/>
          <a:ln/>
        </p:spPr>
        <p:txBody>
          <a:bodyPr wrap="square" lIns="0" tIns="0" rIns="0" bIns="0" rtlCol="0" anchor="t"/>
          <a:lstStyle/>
          <a:p>
            <a:pPr marL="0" indent="0">
              <a:buNone/>
            </a:pPr>
            <a:r>
              <a:rPr lang="en-US" sz="1000" dirty="0">
                <a:solidFill>
                  <a:srgbClr val="5F6F6B"/>
                </a:solidFill>
                <a:latin typeface="Malgun Gothic" pitchFamily="34" charset="0"/>
                <a:ea typeface="Malgun Gothic" pitchFamily="34" charset="-122"/>
                <a:cs typeface="Malgun Gothic" pitchFamily="34" charset="-120"/>
              </a:rPr>
              <a:t>부서는 현재 소속 기준. 과제 3(9번)의 보조 근거.</a:t>
            </a:r>
            <a:endParaRPr lang="en-US" sz="10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F6F6B"/>
                </a:solidFill>
                <a:latin typeface="Malgun Gothic"/>
                <a:ea typeface="Malgun Gothic"/>
                <a:cs typeface="Malgun Gothic"/>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번호 원"/>
          <p:cNvSpPr/>
          <p:nvPr/>
        </p:nvSpPr>
        <p:spPr>
          <a:xfrm>
            <a:off x="457200" y="347472"/>
            <a:ext cx="457200" cy="457200"/>
          </a:xfrm>
          <a:prstGeom prst="ellipse">
            <a:avLst/>
          </a:prstGeom>
          <a:solidFill>
            <a:srgbClr val="1B7566"/>
          </a:solidFill>
          <a:ln w="12700">
            <a:solidFill>
              <a:srgbClr val="1B7566"/>
            </a:solidFill>
            <a:prstDash val="solid"/>
          </a:ln>
        </p:spPr>
        <p:txBody>
          <a:bodyPr/>
          <a:lstStyle/>
          <a:p>
            <a:endParaRPr lang="ko-KR" altLang="en-US"/>
          </a:p>
        </p:txBody>
      </p:sp>
      <p:sp>
        <p:nvSpPr>
          <p:cNvPr id="3" name="번호"/>
          <p:cNvSpPr txBox="1"/>
          <p:nvPr/>
        </p:nvSpPr>
        <p:spPr>
          <a:xfrm>
            <a:off x="457200" y="34747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A5</a:t>
            </a:r>
            <a:endParaRPr lang="en-US" sz="1400" dirty="0"/>
          </a:p>
        </p:txBody>
      </p:sp>
      <p:sp>
        <p:nvSpPr>
          <p:cNvPr id="4" name="제목"/>
          <p:cNvSpPr txBox="1"/>
          <p:nvPr/>
        </p:nvSpPr>
        <p:spPr>
          <a:xfrm>
            <a:off x="1051560" y="274320"/>
            <a:ext cx="7635240" cy="594360"/>
          </a:xfrm>
          <a:prstGeom prst="rect">
            <a:avLst/>
          </a:prstGeom>
          <a:noFill/>
          <a:ln/>
        </p:spPr>
        <p:txBody>
          <a:bodyPr wrap="square" lIns="0" tIns="0" rIns="0" bIns="0" rtlCol="0" anchor="ctr"/>
          <a:lstStyle/>
          <a:p>
            <a:pPr marL="0" indent="0">
              <a:buNone/>
            </a:pPr>
            <a:r>
              <a:rPr lang="en-US" sz="2400" b="1" dirty="0">
                <a:solidFill>
                  <a:srgbClr val="12433A"/>
                </a:solidFill>
                <a:latin typeface="Malgun Gothic" pitchFamily="34" charset="0"/>
                <a:ea typeface="Malgun Gothic" pitchFamily="34" charset="-122"/>
                <a:cs typeface="Malgun Gothic" pitchFamily="34" charset="-120"/>
              </a:rPr>
              <a:t>부록 5  상품 구성비</a:t>
            </a:r>
            <a:endParaRPr lang="en-US" sz="2400" dirty="0"/>
          </a:p>
        </p:txBody>
      </p:sp>
      <p:sp>
        <p:nvSpPr>
          <p:cNvPr id="5" name="핵심 메시지"/>
          <p:cNvSpPr txBox="1"/>
          <p:nvPr/>
        </p:nvSpPr>
        <p:spPr>
          <a:xfrm>
            <a:off x="457200" y="896112"/>
            <a:ext cx="8229600" cy="365760"/>
          </a:xfrm>
          <a:prstGeom prst="rect">
            <a:avLst/>
          </a:prstGeom>
          <a:noFill/>
          <a:ln/>
        </p:spPr>
        <p:txBody>
          <a:bodyPr wrap="square" lIns="0" tIns="0" rIns="0" bIns="0" rtlCol="0" anchor="ctr"/>
          <a:lstStyle/>
          <a:p>
            <a:pPr marL="0" indent="0">
              <a:buNone/>
            </a:pPr>
            <a:r>
              <a:rPr lang="en-US" sz="1400" dirty="0">
                <a:solidFill>
                  <a:srgbClr val="5F6F6B"/>
                </a:solidFill>
                <a:latin typeface="Malgun Gothic" pitchFamily="34" charset="0"/>
                <a:ea typeface="Malgun Gothic" pitchFamily="34" charset="-122"/>
                <a:cs typeface="Malgun Gothic" pitchFamily="34" charset="-120"/>
              </a:rPr>
              <a:t>가로축: 부서 / 세로축: 상품 / 색: 팀 내 상품 비중(%)</a:t>
            </a:r>
            <a:endParaRPr lang="en-US" sz="1400" dirty="0"/>
          </a:p>
        </p:txBody>
      </p:sp>
      <p:pic>
        <p:nvPicPr>
          <p:cNvPr id="6" name="부록 5  상품 구성비 그래프" descr="부록 5  상품 구성비 그래프"/>
          <p:cNvPicPr>
            <a:picLocks noChangeAspect="1"/>
          </p:cNvPicPr>
          <p:nvPr/>
        </p:nvPicPr>
        <p:blipFill>
          <a:blip r:embed="rId3"/>
          <a:stretch>
            <a:fillRect/>
          </a:stretch>
        </p:blipFill>
        <p:spPr>
          <a:xfrm>
            <a:off x="1554480" y="1325880"/>
            <a:ext cx="6035040" cy="2820112"/>
          </a:xfrm>
          <a:prstGeom prst="rect">
            <a:avLst/>
          </a:prstGeom>
        </p:spPr>
      </p:pic>
      <p:sp>
        <p:nvSpPr>
          <p:cNvPr id="7" name="그래프 기준"/>
          <p:cNvSpPr txBox="1"/>
          <p:nvPr/>
        </p:nvSpPr>
        <p:spPr>
          <a:xfrm>
            <a:off x="457200" y="4572000"/>
            <a:ext cx="8229600" cy="274320"/>
          </a:xfrm>
          <a:prstGeom prst="rect">
            <a:avLst/>
          </a:prstGeom>
          <a:noFill/>
          <a:ln/>
        </p:spPr>
        <p:txBody>
          <a:bodyPr wrap="square" lIns="0" tIns="0" rIns="0" bIns="0" rtlCol="0" anchor="t"/>
          <a:lstStyle/>
          <a:p>
            <a:pPr marL="0" indent="0">
              <a:buNone/>
            </a:pPr>
            <a:r>
              <a:rPr lang="en-US" sz="1000" dirty="0">
                <a:solidFill>
                  <a:srgbClr val="5F6F6B"/>
                </a:solidFill>
                <a:latin typeface="Malgun Gothic" pitchFamily="34" charset="0"/>
                <a:ea typeface="Malgun Gothic" pitchFamily="34" charset="-122"/>
                <a:cs typeface="Malgun Gothic" pitchFamily="34" charset="-120"/>
              </a:rPr>
              <a:t>부서는 현재 소속 기준. 8개 팀 모두 같은 19종을 검수하나 이것만으로 개인 전문성 부족을 확정하지 않는다.</a:t>
            </a:r>
            <a:endParaRPr lang="en-US" sz="10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F6F6B"/>
                </a:solidFill>
                <a:latin typeface="Malgun Gothic"/>
                <a:ea typeface="Malgun Gothic"/>
                <a:cs typeface="Malgun Gothic"/>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DEEBE-591E-9259-6B79-6870F7867DD1}"/>
            </a:ext>
          </a:extLst>
        </p:cNvPr>
        <p:cNvGrpSpPr/>
        <p:nvPr/>
      </p:nvGrpSpPr>
      <p:grpSpPr>
        <a:xfrm>
          <a:off x="0" y="0"/>
          <a:ext cx="0" cy="0"/>
          <a:chOff x="0" y="0"/>
          <a:chExt cx="0" cy="0"/>
        </a:xfrm>
      </p:grpSpPr>
      <p:sp>
        <p:nvSpPr>
          <p:cNvPr id="2" name="번호 원">
            <a:extLst>
              <a:ext uri="{FF2B5EF4-FFF2-40B4-BE49-F238E27FC236}">
                <a16:creationId xmlns:a16="http://schemas.microsoft.com/office/drawing/2014/main" id="{7CA5926B-84E6-5029-3CC9-16483F8470FA}"/>
              </a:ext>
            </a:extLst>
          </p:cNvPr>
          <p:cNvSpPr/>
          <p:nvPr/>
        </p:nvSpPr>
        <p:spPr>
          <a:xfrm>
            <a:off x="457200" y="347472"/>
            <a:ext cx="457200" cy="457200"/>
          </a:xfrm>
          <a:prstGeom prst="ellipse">
            <a:avLst/>
          </a:prstGeom>
          <a:solidFill>
            <a:srgbClr val="1B7566"/>
          </a:solidFill>
          <a:ln w="12700">
            <a:solidFill>
              <a:srgbClr val="1B7566"/>
            </a:solidFill>
            <a:prstDash val="solid"/>
          </a:ln>
        </p:spPr>
        <p:txBody>
          <a:bodyPr/>
          <a:lstStyle/>
          <a:p>
            <a:endParaRPr lang="ko-KR" altLang="en-US"/>
          </a:p>
        </p:txBody>
      </p:sp>
      <p:sp>
        <p:nvSpPr>
          <p:cNvPr id="3" name="번호">
            <a:extLst>
              <a:ext uri="{FF2B5EF4-FFF2-40B4-BE49-F238E27FC236}">
                <a16:creationId xmlns:a16="http://schemas.microsoft.com/office/drawing/2014/main" id="{4277AE46-3CBE-9A62-1F0E-08B231E36C4C}"/>
              </a:ext>
            </a:extLst>
          </p:cNvPr>
          <p:cNvSpPr txBox="1"/>
          <p:nvPr/>
        </p:nvSpPr>
        <p:spPr>
          <a:xfrm>
            <a:off x="457200" y="34747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A5</a:t>
            </a:r>
            <a:endParaRPr lang="en-US" sz="1400" dirty="0"/>
          </a:p>
        </p:txBody>
      </p:sp>
      <p:sp>
        <p:nvSpPr>
          <p:cNvPr id="4" name="제목">
            <a:extLst>
              <a:ext uri="{FF2B5EF4-FFF2-40B4-BE49-F238E27FC236}">
                <a16:creationId xmlns:a16="http://schemas.microsoft.com/office/drawing/2014/main" id="{F757C3BC-9340-B88E-6399-1F4B909F0DE0}"/>
              </a:ext>
            </a:extLst>
          </p:cNvPr>
          <p:cNvSpPr txBox="1"/>
          <p:nvPr/>
        </p:nvSpPr>
        <p:spPr>
          <a:xfrm>
            <a:off x="1051560" y="274320"/>
            <a:ext cx="7635240" cy="594360"/>
          </a:xfrm>
          <a:prstGeom prst="rect">
            <a:avLst/>
          </a:prstGeom>
          <a:noFill/>
          <a:ln/>
        </p:spPr>
        <p:txBody>
          <a:bodyPr wrap="square" lIns="0" tIns="0" rIns="0" bIns="0" rtlCol="0" anchor="ctr"/>
          <a:lstStyle/>
          <a:p>
            <a:pPr marL="0" indent="0">
              <a:buNone/>
            </a:pPr>
            <a:r>
              <a:rPr lang="en-US" sz="2400" b="1" dirty="0" err="1">
                <a:solidFill>
                  <a:srgbClr val="12433A"/>
                </a:solidFill>
                <a:latin typeface="Malgun Gothic" pitchFamily="34" charset="0"/>
                <a:ea typeface="Malgun Gothic" pitchFamily="34" charset="-122"/>
                <a:cs typeface="Malgun Gothic" pitchFamily="34" charset="-120"/>
              </a:rPr>
              <a:t>부록</a:t>
            </a:r>
            <a:r>
              <a:rPr lang="en-US" sz="2400" b="1" dirty="0">
                <a:solidFill>
                  <a:srgbClr val="12433A"/>
                </a:solidFill>
                <a:latin typeface="Malgun Gothic" pitchFamily="34" charset="0"/>
                <a:ea typeface="Malgun Gothic" pitchFamily="34" charset="-122"/>
                <a:cs typeface="Malgun Gothic" pitchFamily="34" charset="-120"/>
              </a:rPr>
              <a:t> 6  </a:t>
            </a:r>
            <a:r>
              <a:rPr lang="ko-KR" altLang="en-US" sz="2400" b="1" dirty="0">
                <a:solidFill>
                  <a:srgbClr val="12433A"/>
                </a:solidFill>
                <a:latin typeface="Malgun Gothic" pitchFamily="34" charset="0"/>
                <a:ea typeface="Malgun Gothic" pitchFamily="34" charset="-122"/>
                <a:cs typeface="Malgun Gothic" pitchFamily="34" charset="-120"/>
              </a:rPr>
              <a:t>기술 요약</a:t>
            </a:r>
            <a:endParaRPr lang="en-US" sz="2400" dirty="0"/>
          </a:p>
        </p:txBody>
      </p:sp>
      <p:sp>
        <p:nvSpPr>
          <p:cNvPr id="25" name="Slide Number Placeholder 0">
            <a:extLst>
              <a:ext uri="{FF2B5EF4-FFF2-40B4-BE49-F238E27FC236}">
                <a16:creationId xmlns:a16="http://schemas.microsoft.com/office/drawing/2014/main" id="{A5F86E22-BBA6-5A7F-95E7-565384F59ED0}"/>
              </a:ext>
            </a:extLst>
          </p:cNvPr>
          <p:cNvSpPr>
            <a:spLocks noGrp="1"/>
          </p:cNvSpPr>
          <p:nvPr>
            <p:ph type="sldNum" sz="quarter" idx="4294967295"/>
          </p:nvPr>
        </p:nvSpPr>
        <p:spPr>
          <a:xfrm>
            <a:off x="8229600" y="484632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5F6F6B"/>
                </a:solidFill>
                <a:latin typeface="Malgun Gothic"/>
                <a:ea typeface="Malgun Gothic"/>
                <a:cs typeface="Malgun Gothic"/>
              </a:defRPr>
            </a:lvl1pPr>
          </a:lstStyle>
          <a:p>
            <a:pPr algn="r"/>
            <a:fld id="{F7021451-1387-4CA6-816F-3879F97B5CBC}" type="slidenum">
              <a:rPr lang="en-US" b="0"/>
              <a:t>22</a:t>
            </a:fld>
            <a:endParaRPr lang="en-US"/>
          </a:p>
        </p:txBody>
      </p:sp>
      <p:pic>
        <p:nvPicPr>
          <p:cNvPr id="9" name="그림 8">
            <a:extLst>
              <a:ext uri="{FF2B5EF4-FFF2-40B4-BE49-F238E27FC236}">
                <a16:creationId xmlns:a16="http://schemas.microsoft.com/office/drawing/2014/main" id="{4155C8B0-8A73-EB33-9534-361733EE0328}"/>
              </a:ext>
            </a:extLst>
          </p:cNvPr>
          <p:cNvPicPr>
            <a:picLocks noChangeAspect="1"/>
          </p:cNvPicPr>
          <p:nvPr/>
        </p:nvPicPr>
        <p:blipFill>
          <a:blip r:embed="rId3"/>
          <a:srcRect t="15506" b="12581"/>
          <a:stretch>
            <a:fillRect/>
          </a:stretch>
        </p:blipFill>
        <p:spPr>
          <a:xfrm>
            <a:off x="624884" y="929978"/>
            <a:ext cx="7894232" cy="3625089"/>
          </a:xfrm>
          <a:prstGeom prst="rect">
            <a:avLst/>
          </a:prstGeom>
        </p:spPr>
      </p:pic>
    </p:spTree>
    <p:extLst>
      <p:ext uri="{BB962C8B-B14F-4D97-AF65-F5344CB8AC3E}">
        <p14:creationId xmlns:p14="http://schemas.microsoft.com/office/powerpoint/2010/main" val="6286128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134</TotalTime>
  <Words>2301</Words>
  <Application>Microsoft Office PowerPoint</Application>
  <PresentationFormat>화면 슬라이드 쇼(16:9)</PresentationFormat>
  <Paragraphs>246</Paragraphs>
  <Slides>22</Slides>
  <Notes>22</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22</vt:i4>
      </vt:variant>
    </vt:vector>
  </HeadingPairs>
  <TitlesOfParts>
    <vt:vector size="25" baseType="lpstr">
      <vt:lpstr>Malgun Gothic</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레거시 검수 데이터 표준화와 운영 개선 분석</dc:title>
  <dc:subject>PptxGenJS Presentation</dc:subject>
  <dc:creator/>
  <cp:lastModifiedBy>성원 유</cp:lastModifiedBy>
  <cp:revision>5</cp:revision>
  <dcterms:created xsi:type="dcterms:W3CDTF">2026-10-15T08:17:10Z</dcterms:created>
  <dcterms:modified xsi:type="dcterms:W3CDTF">2026-10-16T02:26:52Z</dcterms:modified>
</cp:coreProperties>
</file>